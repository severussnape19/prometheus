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Times New Roman Bold" charset="1" panose="02020803070505020304"/>
      <p:regular r:id="rId30"/>
    </p:embeddedFont>
    <p:embeddedFont>
      <p:font typeface="Times New Roman" charset="1" panose="02020603050405020304"/>
      <p:regular r:id="rId31"/>
    </p:embeddedFont>
    <p:embeddedFont>
      <p:font typeface="Courier New" charset="1" panose="02070309020205020404"/>
      <p:regular r:id="rId32"/>
    </p:embeddedFont>
    <p:embeddedFont>
      <p:font typeface="Calibri (MS)" charset="1" panose="020F0502020204030204"/>
      <p:regular r:id="rId34"/>
    </p:embeddedFont>
    <p:embeddedFont>
      <p:font typeface="Courier New Bold" charset="1" panose="02070609020205020404"/>
      <p:regular r:id="rId36"/>
    </p:embeddedFont>
    <p:embeddedFont>
      <p:font typeface="Cambria Bold" charset="1" panose="02040803050406030204"/>
      <p:regular r:id="rId37"/>
    </p:embeddedFont>
    <p:embeddedFont>
      <p:font typeface="Arial Bold" charset="1" panose="020B0704020202020204"/>
      <p:regular r:id="rId38"/>
    </p:embeddedFont>
    <p:embeddedFont>
      <p:font typeface="Arial" charset="1" panose="020B0604020202020204"/>
      <p:regular r:id="rId39"/>
    </p:embeddedFont>
    <p:embeddedFont>
      <p:font typeface="Calibri (MS) Italics" charset="1" panose="020F05020202040A0204"/>
      <p:regular r:id="rId40"/>
    </p:embeddedFont>
    <p:embeddedFont>
      <p:font typeface="Times New Roman Italics" charset="1" panose="02020503050405090304"/>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notesMasters/notesMaster1.xml" Type="http://schemas.openxmlformats.org/officeDocument/2006/relationships/notesMaster"/><Relationship Id="rId28" Target="theme/theme2.xml" Type="http://schemas.openxmlformats.org/officeDocument/2006/relationships/theme"/><Relationship Id="rId29" Target="notesSlides/notesSlide1.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notesSlides/notesSlide2.xml" Type="http://schemas.openxmlformats.org/officeDocument/2006/relationships/notesSlide"/><Relationship Id="rId34" Target="fonts/font34.fntdata" Type="http://schemas.openxmlformats.org/officeDocument/2006/relationships/font"/><Relationship Id="rId35" Target="notesSlides/notesSlide3.xml" Type="http://schemas.openxmlformats.org/officeDocument/2006/relationships/notesSlide"/><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notesSlides/notesSlide4.xml" Type="http://schemas.openxmlformats.org/officeDocument/2006/relationships/notesSlide"/><Relationship Id="rId42" Target="fonts/font42.fntdata" Type="http://schemas.openxmlformats.org/officeDocument/2006/relationships/font"/><Relationship Id="rId43" Target="notesSlides/notesSlide5.xml" Type="http://schemas.openxmlformats.org/officeDocument/2006/relationships/notesSlide"/><Relationship Id="rId44" Target="notesSlides/notesSlide6.xml" Type="http://schemas.openxmlformats.org/officeDocument/2006/relationships/notesSlide"/><Relationship Id="rId45" Target="notesSlides/notesSlide7.xml" Type="http://schemas.openxmlformats.org/officeDocument/2006/relationships/notesSlide"/><Relationship Id="rId46" Target="notesSlides/notesSlide8.xml" Type="http://schemas.openxmlformats.org/officeDocument/2006/relationships/notesSlide"/><Relationship Id="rId47" Target="notesSlides/notesSlide9.xml" Type="http://schemas.openxmlformats.org/officeDocument/2006/relationships/notesSlide"/><Relationship Id="rId48" Target="notesSlides/notesSlide10.xml" Type="http://schemas.openxmlformats.org/officeDocument/2006/relationships/notesSlide"/><Relationship Id="rId49" Target="notesSlides/notesSlide11.xml" Type="http://schemas.openxmlformats.org/officeDocument/2006/relationships/notesSlide"/><Relationship Id="rId5" Target="tableStyles.xml" Type="http://schemas.openxmlformats.org/officeDocument/2006/relationships/tableStyles"/><Relationship Id="rId50" Target="notesSlides/notesSlide12.xml" Type="http://schemas.openxmlformats.org/officeDocument/2006/relationships/notesSlide"/><Relationship Id="rId51" Target="notesSlides/notesSlide13.xml" Type="http://schemas.openxmlformats.org/officeDocument/2006/relationships/notesSlide"/><Relationship Id="rId52" Target="notesSlides/notesSlide14.xml" Type="http://schemas.openxmlformats.org/officeDocument/2006/relationships/notesSlide"/><Relationship Id="rId53" Target="notesSlides/notesSlide15.xml" Type="http://schemas.openxmlformats.org/officeDocument/2006/relationships/notesSlide"/><Relationship Id="rId54" Target="notesSlides/notesSlide16.xml" Type="http://schemas.openxmlformats.org/officeDocument/2006/relationships/notesSlide"/><Relationship Id="rId55" Target="notesSlides/notesSlide17.xml" Type="http://schemas.openxmlformats.org/officeDocument/2006/relationships/notesSlide"/><Relationship Id="rId56" Target="notesSlides/notesSlide18.xml" Type="http://schemas.openxmlformats.org/officeDocument/2006/relationships/notesSlide"/><Relationship Id="rId57" Target="notesSlides/notesSlide19.xml" Type="http://schemas.openxmlformats.org/officeDocument/2006/relationships/notesSlide"/><Relationship Id="rId58" Target="notesSlides/notesSlide20.xml" Type="http://schemas.openxmlformats.org/officeDocument/2006/relationships/notesSlide"/><Relationship Id="rId59" Target="notesSlides/notesSlide21.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jpeg" Type="http://schemas.openxmlformats.org/officeDocument/2006/relationships/image"/><Relationship Id="rId4"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6.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7.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8.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 Id="rId4" Target="../media/image9.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 Id="rId4" Target="../media/image10.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 Id="rId4" Target="http://drive.google.com/file/d/1lu6VI--asz2HR2t7W0UV3xY52DIgKV2V/view" TargetMode="External" Type="http://schemas.openxmlformats.org/officeDocument/2006/relationships/hyperlink"/><Relationship Id="rId5" Target="../media/image1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jpeg" Type="http://schemas.openxmlformats.org/officeDocument/2006/relationships/image"/><Relationship Id="rId4" Target="../media/image12.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jpeg" Type="http://schemas.openxmlformats.org/officeDocument/2006/relationships/image"/><Relationship Id="rId4" Target="../media/image9.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jpeg" Type="http://schemas.openxmlformats.org/officeDocument/2006/relationships/image"/><Relationship Id="rId4" Target="../media/image5.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jpeg" Type="http://schemas.openxmlformats.org/officeDocument/2006/relationships/image"/><Relationship Id="rId4" Target="../media/image10.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1097280" y="960120"/>
            <a:ext cx="16047720" cy="548640"/>
            <a:chOff x="0" y="0"/>
            <a:chExt cx="21396960" cy="731520"/>
          </a:xfrm>
        </p:grpSpPr>
        <p:sp>
          <p:nvSpPr>
            <p:cNvPr name="Freeform 3" id="3"/>
            <p:cNvSpPr/>
            <p:nvPr/>
          </p:nvSpPr>
          <p:spPr>
            <a:xfrm flipH="false" flipV="false" rot="0">
              <a:off x="0" y="0"/>
              <a:ext cx="21396961" cy="731520"/>
            </a:xfrm>
            <a:custGeom>
              <a:avLst/>
              <a:gdLst/>
              <a:ahLst/>
              <a:cxnLst/>
              <a:rect r="r" b="b" t="t" l="l"/>
              <a:pathLst>
                <a:path h="731520" w="21396961">
                  <a:moveTo>
                    <a:pt x="0" y="0"/>
                  </a:moveTo>
                  <a:lnTo>
                    <a:pt x="21396961" y="0"/>
                  </a:lnTo>
                  <a:lnTo>
                    <a:pt x="21396961" y="731520"/>
                  </a:lnTo>
                  <a:lnTo>
                    <a:pt x="0" y="731520"/>
                  </a:lnTo>
                  <a:close/>
                </a:path>
              </a:pathLst>
            </a:custGeom>
            <a:blipFill>
              <a:blip r:embed="rId3">
                <a:alphaModFix amt="0"/>
              </a:blip>
              <a:stretch>
                <a:fillRect l="0" t="-519937" r="0" b="-519937"/>
              </a:stretch>
            </a:blipFill>
          </p:spPr>
        </p:sp>
        <p:sp>
          <p:nvSpPr>
            <p:cNvPr name="TextBox 4" id="4"/>
            <p:cNvSpPr txBox="true"/>
            <p:nvPr/>
          </p:nvSpPr>
          <p:spPr>
            <a:xfrm>
              <a:off x="0" y="-19050"/>
              <a:ext cx="21396960" cy="750570"/>
            </a:xfrm>
            <a:prstGeom prst="rect">
              <a:avLst/>
            </a:prstGeom>
          </p:spPr>
          <p:txBody>
            <a:bodyPr anchor="ctr" rtlCol="false" tIns="0" lIns="0" bIns="0" rIns="0"/>
            <a:lstStyle/>
            <a:p>
              <a:pPr algn="ctr">
                <a:lnSpc>
                  <a:spcPts val="3960"/>
                </a:lnSpc>
              </a:pPr>
              <a:r>
                <a:rPr lang="en-US" b="true" sz="3300">
                  <a:solidFill>
                    <a:srgbClr val="FFFFFF"/>
                  </a:solidFill>
                  <a:latin typeface="Times New Roman Bold"/>
                  <a:ea typeface="Times New Roman Bold"/>
                  <a:cs typeface="Times New Roman Bold"/>
                  <a:sym typeface="Times New Roman Bold"/>
                </a:rPr>
                <a:t>DEPARTMENT OF CSE — MVGR COLLEGE OF ENGINEERING (A)</a:t>
              </a:r>
            </a:p>
          </p:txBody>
        </p:sp>
      </p:grpSp>
      <p:grpSp>
        <p:nvGrpSpPr>
          <p:cNvPr name="Group 5" id="5"/>
          <p:cNvGrpSpPr/>
          <p:nvPr/>
        </p:nvGrpSpPr>
        <p:grpSpPr>
          <a:xfrm rot="0">
            <a:off x="1028700" y="1878985"/>
            <a:ext cx="16047720" cy="3129260"/>
            <a:chOff x="0" y="0"/>
            <a:chExt cx="21396960" cy="4172347"/>
          </a:xfrm>
        </p:grpSpPr>
        <p:sp>
          <p:nvSpPr>
            <p:cNvPr name="Freeform 6" id="6"/>
            <p:cNvSpPr/>
            <p:nvPr/>
          </p:nvSpPr>
          <p:spPr>
            <a:xfrm flipH="false" flipV="false" rot="0">
              <a:off x="0" y="0"/>
              <a:ext cx="21396961" cy="4172347"/>
            </a:xfrm>
            <a:custGeom>
              <a:avLst/>
              <a:gdLst/>
              <a:ahLst/>
              <a:cxnLst/>
              <a:rect r="r" b="b" t="t" l="l"/>
              <a:pathLst>
                <a:path h="4172347" w="21396961">
                  <a:moveTo>
                    <a:pt x="0" y="0"/>
                  </a:moveTo>
                  <a:lnTo>
                    <a:pt x="21396961" y="0"/>
                  </a:lnTo>
                  <a:lnTo>
                    <a:pt x="21396961" y="4172347"/>
                  </a:lnTo>
                  <a:lnTo>
                    <a:pt x="0" y="4172347"/>
                  </a:lnTo>
                  <a:close/>
                </a:path>
              </a:pathLst>
            </a:custGeom>
            <a:blipFill>
              <a:blip r:embed="rId3">
                <a:alphaModFix amt="0"/>
              </a:blip>
              <a:stretch>
                <a:fillRect l="0" t="-62667" r="0" b="-37181"/>
              </a:stretch>
            </a:blipFill>
          </p:spPr>
        </p:sp>
        <p:sp>
          <p:nvSpPr>
            <p:cNvPr name="TextBox 7" id="7"/>
            <p:cNvSpPr txBox="true"/>
            <p:nvPr/>
          </p:nvSpPr>
          <p:spPr>
            <a:xfrm>
              <a:off x="0" y="-28575"/>
              <a:ext cx="21396960" cy="4200922"/>
            </a:xfrm>
            <a:prstGeom prst="rect">
              <a:avLst/>
            </a:prstGeom>
          </p:spPr>
          <p:txBody>
            <a:bodyPr anchor="ctr" rtlCol="false" tIns="0" lIns="0" bIns="0" rIns="0"/>
            <a:lstStyle/>
            <a:p>
              <a:pPr algn="l">
                <a:lnSpc>
                  <a:spcPts val="5759"/>
                </a:lnSpc>
              </a:pPr>
              <a:r>
                <a:rPr lang="en-US" b="true" sz="4800">
                  <a:solidFill>
                    <a:srgbClr val="FFC000"/>
                  </a:solidFill>
                  <a:latin typeface="Times New Roman Bold"/>
                  <a:ea typeface="Times New Roman Bold"/>
                  <a:cs typeface="Times New Roman Bold"/>
                  <a:sym typeface="Times New Roman Bold"/>
                </a:rPr>
                <a:t>Financial Literacy Programme</a:t>
              </a:r>
            </a:p>
            <a:p>
              <a:pPr algn="l">
                <a:lnSpc>
                  <a:spcPts val="5759"/>
                </a:lnSpc>
              </a:pPr>
            </a:p>
            <a:p>
              <a:pPr algn="l">
                <a:lnSpc>
                  <a:spcPts val="5759"/>
                </a:lnSpc>
              </a:pPr>
              <a:r>
                <a:rPr lang="en-US" b="true" sz="4800">
                  <a:solidFill>
                    <a:srgbClr val="FFC000"/>
                  </a:solidFill>
                  <a:latin typeface="Times New Roman Bold"/>
                  <a:ea typeface="Times New Roman Bold"/>
                  <a:cs typeface="Times New Roman Bold"/>
                  <a:sym typeface="Times New Roman Bold"/>
                </a:rPr>
                <a:t>For Rural Youth</a:t>
              </a:r>
            </a:p>
            <a:p>
              <a:pPr algn="l">
                <a:lnSpc>
                  <a:spcPts val="5759"/>
                </a:lnSpc>
              </a:pPr>
            </a:p>
          </p:txBody>
        </p:sp>
      </p:grpSp>
      <p:grpSp>
        <p:nvGrpSpPr>
          <p:cNvPr name="Group 8" id="8"/>
          <p:cNvGrpSpPr/>
          <p:nvPr/>
        </p:nvGrpSpPr>
        <p:grpSpPr>
          <a:xfrm rot="0">
            <a:off x="1097280" y="4800600"/>
            <a:ext cx="15087600" cy="822960"/>
            <a:chOff x="0" y="0"/>
            <a:chExt cx="20116800" cy="1097280"/>
          </a:xfrm>
        </p:grpSpPr>
        <p:sp>
          <p:nvSpPr>
            <p:cNvPr name="Freeform 9" id="9"/>
            <p:cNvSpPr/>
            <p:nvPr/>
          </p:nvSpPr>
          <p:spPr>
            <a:xfrm flipH="false" flipV="false" rot="0">
              <a:off x="0" y="0"/>
              <a:ext cx="20116800" cy="1097280"/>
            </a:xfrm>
            <a:custGeom>
              <a:avLst/>
              <a:gdLst/>
              <a:ahLst/>
              <a:cxnLst/>
              <a:rect r="r" b="b" t="t" l="l"/>
              <a:pathLst>
                <a:path h="1097280" w="20116800">
                  <a:moveTo>
                    <a:pt x="0" y="0"/>
                  </a:moveTo>
                  <a:lnTo>
                    <a:pt x="20116800" y="0"/>
                  </a:lnTo>
                  <a:lnTo>
                    <a:pt x="20116800" y="1097280"/>
                  </a:lnTo>
                  <a:lnTo>
                    <a:pt x="0" y="1097280"/>
                  </a:lnTo>
                  <a:close/>
                </a:path>
              </a:pathLst>
            </a:custGeom>
            <a:blipFill>
              <a:blip r:embed="rId3">
                <a:alphaModFix amt="0"/>
              </a:blip>
              <a:stretch>
                <a:fillRect l="0" t="-307225" r="0" b="-307225"/>
              </a:stretch>
            </a:blipFill>
          </p:spPr>
        </p:sp>
        <p:sp>
          <p:nvSpPr>
            <p:cNvPr name="TextBox 10" id="10"/>
            <p:cNvSpPr txBox="true"/>
            <p:nvPr/>
          </p:nvSpPr>
          <p:spPr>
            <a:xfrm>
              <a:off x="0" y="-19050"/>
              <a:ext cx="20116800" cy="1116330"/>
            </a:xfrm>
            <a:prstGeom prst="rect">
              <a:avLst/>
            </a:prstGeom>
          </p:spPr>
          <p:txBody>
            <a:bodyPr anchor="ctr" rtlCol="false" tIns="0" lIns="0" bIns="0" rIns="0"/>
            <a:lstStyle/>
            <a:p>
              <a:pPr algn="l">
                <a:lnSpc>
                  <a:spcPts val="2520"/>
                </a:lnSpc>
              </a:pPr>
              <a:r>
                <a:rPr lang="en-US" sz="2100">
                  <a:solidFill>
                    <a:srgbClr val="CADCFC"/>
                  </a:solidFill>
                  <a:latin typeface="Times New Roman"/>
                  <a:ea typeface="Times New Roman"/>
                  <a:cs typeface="Times New Roman"/>
                  <a:sym typeface="Times New Roman"/>
                </a:rPr>
                <a:t>Community Project Review Presentation · PS090 · Education · BATCH-13D, Section D</a:t>
              </a:r>
            </a:p>
          </p:txBody>
        </p:sp>
      </p:grpSp>
      <p:grpSp>
        <p:nvGrpSpPr>
          <p:cNvPr name="Group 11" id="11"/>
          <p:cNvGrpSpPr/>
          <p:nvPr/>
        </p:nvGrpSpPr>
        <p:grpSpPr>
          <a:xfrm rot="0">
            <a:off x="1097280" y="6446520"/>
            <a:ext cx="3566160" cy="960120"/>
            <a:chOff x="0" y="0"/>
            <a:chExt cx="4754880" cy="1280160"/>
          </a:xfrm>
        </p:grpSpPr>
        <p:sp>
          <p:nvSpPr>
            <p:cNvPr name="Freeform 12" id="12"/>
            <p:cNvSpPr/>
            <p:nvPr/>
          </p:nvSpPr>
          <p:spPr>
            <a:xfrm flipH="false" flipV="false" rot="0">
              <a:off x="0" y="0"/>
              <a:ext cx="4754880" cy="1280160"/>
            </a:xfrm>
            <a:custGeom>
              <a:avLst/>
              <a:gdLst/>
              <a:ahLst/>
              <a:cxnLst/>
              <a:rect r="r" b="b" t="t" l="l"/>
              <a:pathLst>
                <a:path h="1280160" w="4754880">
                  <a:moveTo>
                    <a:pt x="0" y="0"/>
                  </a:moveTo>
                  <a:lnTo>
                    <a:pt x="4754880" y="0"/>
                  </a:lnTo>
                  <a:lnTo>
                    <a:pt x="4754880" y="1280160"/>
                  </a:lnTo>
                  <a:lnTo>
                    <a:pt x="0" y="1280160"/>
                  </a:lnTo>
                  <a:close/>
                </a:path>
              </a:pathLst>
            </a:custGeom>
            <a:blipFill>
              <a:blip r:embed="rId3">
                <a:alphaModFix amt="0"/>
              </a:blip>
              <a:stretch>
                <a:fillRect l="0" t="-22372" r="0" b="-22372"/>
              </a:stretch>
            </a:blipFill>
          </p:spPr>
        </p:sp>
        <p:sp>
          <p:nvSpPr>
            <p:cNvPr name="TextBox 13" id="13"/>
            <p:cNvSpPr txBox="true"/>
            <p:nvPr/>
          </p:nvSpPr>
          <p:spPr>
            <a:xfrm>
              <a:off x="0" y="-28575"/>
              <a:ext cx="4754880" cy="1308735"/>
            </a:xfrm>
            <a:prstGeom prst="rect">
              <a:avLst/>
            </a:prstGeom>
          </p:spPr>
          <p:txBody>
            <a:bodyPr anchor="ctr" rtlCol="false" tIns="0" lIns="0" bIns="0" rIns="0"/>
            <a:lstStyle/>
            <a:p>
              <a:pPr algn="l">
                <a:lnSpc>
                  <a:spcPts val="5400"/>
                </a:lnSpc>
              </a:pPr>
              <a:r>
                <a:rPr lang="en-US" b="true" sz="4500">
                  <a:solidFill>
                    <a:srgbClr val="F0B429"/>
                  </a:solidFill>
                  <a:latin typeface="Times New Roman Bold"/>
                  <a:ea typeface="Times New Roman Bold"/>
                  <a:cs typeface="Times New Roman Bold"/>
                  <a:sym typeface="Times New Roman Bold"/>
                </a:rPr>
                <a:t>2</a:t>
              </a:r>
            </a:p>
          </p:txBody>
        </p:sp>
      </p:grpSp>
      <p:grpSp>
        <p:nvGrpSpPr>
          <p:cNvPr name="Group 14" id="14"/>
          <p:cNvGrpSpPr/>
          <p:nvPr/>
        </p:nvGrpSpPr>
        <p:grpSpPr>
          <a:xfrm rot="0">
            <a:off x="1097280" y="7406640"/>
            <a:ext cx="3566160" cy="548640"/>
            <a:chOff x="0" y="0"/>
            <a:chExt cx="4754880" cy="731520"/>
          </a:xfrm>
        </p:grpSpPr>
        <p:sp>
          <p:nvSpPr>
            <p:cNvPr name="Freeform 15" id="15"/>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3">
                <a:alphaModFix amt="0"/>
              </a:blip>
              <a:stretch>
                <a:fillRect l="0" t="-76652" r="0" b="-76652"/>
              </a:stretch>
            </a:blipFill>
          </p:spPr>
        </p:sp>
        <p:sp>
          <p:nvSpPr>
            <p:cNvPr name="TextBox 16" id="16"/>
            <p:cNvSpPr txBox="true"/>
            <p:nvPr/>
          </p:nvSpPr>
          <p:spPr>
            <a:xfrm>
              <a:off x="0" y="-9525"/>
              <a:ext cx="4754880" cy="741045"/>
            </a:xfrm>
            <a:prstGeom prst="rect">
              <a:avLst/>
            </a:prstGeom>
          </p:spPr>
          <p:txBody>
            <a:bodyPr anchor="ctr" rtlCol="false" tIns="0" lIns="0" bIns="0" rIns="0"/>
            <a:lstStyle/>
            <a:p>
              <a:pPr algn="l">
                <a:lnSpc>
                  <a:spcPts val="1620"/>
                </a:lnSpc>
              </a:pPr>
              <a:r>
                <a:rPr lang="en-US" sz="1350">
                  <a:solidFill>
                    <a:srgbClr val="AAB8CC"/>
                  </a:solidFill>
                  <a:latin typeface="Courier New"/>
                  <a:ea typeface="Courier New"/>
                  <a:cs typeface="Courier New"/>
                  <a:sym typeface="Courier New"/>
                </a:rPr>
                <a:t>REVIEWS</a:t>
              </a:r>
            </a:p>
          </p:txBody>
        </p:sp>
      </p:grpSp>
      <p:grpSp>
        <p:nvGrpSpPr>
          <p:cNvPr name="Group 17" id="17"/>
          <p:cNvGrpSpPr/>
          <p:nvPr/>
        </p:nvGrpSpPr>
        <p:grpSpPr>
          <a:xfrm rot="0">
            <a:off x="5006340" y="6446520"/>
            <a:ext cx="3566160" cy="960120"/>
            <a:chOff x="0" y="0"/>
            <a:chExt cx="4754880" cy="1280160"/>
          </a:xfrm>
        </p:grpSpPr>
        <p:sp>
          <p:nvSpPr>
            <p:cNvPr name="Freeform 18" id="18"/>
            <p:cNvSpPr/>
            <p:nvPr/>
          </p:nvSpPr>
          <p:spPr>
            <a:xfrm flipH="false" flipV="false" rot="0">
              <a:off x="0" y="0"/>
              <a:ext cx="4754880" cy="1280160"/>
            </a:xfrm>
            <a:custGeom>
              <a:avLst/>
              <a:gdLst/>
              <a:ahLst/>
              <a:cxnLst/>
              <a:rect r="r" b="b" t="t" l="l"/>
              <a:pathLst>
                <a:path h="1280160" w="4754880">
                  <a:moveTo>
                    <a:pt x="0" y="0"/>
                  </a:moveTo>
                  <a:lnTo>
                    <a:pt x="4754880" y="0"/>
                  </a:lnTo>
                  <a:lnTo>
                    <a:pt x="4754880" y="1280160"/>
                  </a:lnTo>
                  <a:lnTo>
                    <a:pt x="0" y="1280160"/>
                  </a:lnTo>
                  <a:close/>
                </a:path>
              </a:pathLst>
            </a:custGeom>
            <a:blipFill>
              <a:blip r:embed="rId3">
                <a:alphaModFix amt="0"/>
              </a:blip>
              <a:stretch>
                <a:fillRect l="0" t="-22372" r="0" b="-22372"/>
              </a:stretch>
            </a:blipFill>
          </p:spPr>
        </p:sp>
        <p:sp>
          <p:nvSpPr>
            <p:cNvPr name="TextBox 19" id="19"/>
            <p:cNvSpPr txBox="true"/>
            <p:nvPr/>
          </p:nvSpPr>
          <p:spPr>
            <a:xfrm>
              <a:off x="0" y="-28575"/>
              <a:ext cx="4754880" cy="1308735"/>
            </a:xfrm>
            <a:prstGeom prst="rect">
              <a:avLst/>
            </a:prstGeom>
          </p:spPr>
          <p:txBody>
            <a:bodyPr anchor="ctr" rtlCol="false" tIns="0" lIns="0" bIns="0" rIns="0"/>
            <a:lstStyle/>
            <a:p>
              <a:pPr algn="l">
                <a:lnSpc>
                  <a:spcPts val="5400"/>
                </a:lnSpc>
              </a:pPr>
              <a:r>
                <a:rPr lang="en-US" b="true" sz="4500">
                  <a:solidFill>
                    <a:srgbClr val="F0B429"/>
                  </a:solidFill>
                  <a:latin typeface="Times New Roman Bold"/>
                  <a:ea typeface="Times New Roman Bold"/>
                  <a:cs typeface="Times New Roman Bold"/>
                  <a:sym typeface="Times New Roman Bold"/>
                </a:rPr>
                <a:t>4</a:t>
              </a:r>
            </a:p>
          </p:txBody>
        </p:sp>
      </p:grpSp>
      <p:grpSp>
        <p:nvGrpSpPr>
          <p:cNvPr name="Group 20" id="20"/>
          <p:cNvGrpSpPr/>
          <p:nvPr/>
        </p:nvGrpSpPr>
        <p:grpSpPr>
          <a:xfrm rot="0">
            <a:off x="5006340" y="7406640"/>
            <a:ext cx="3566160" cy="548640"/>
            <a:chOff x="0" y="0"/>
            <a:chExt cx="4754880" cy="731520"/>
          </a:xfrm>
        </p:grpSpPr>
        <p:sp>
          <p:nvSpPr>
            <p:cNvPr name="Freeform 21" id="21"/>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3">
                <a:alphaModFix amt="0"/>
              </a:blip>
              <a:stretch>
                <a:fillRect l="0" t="-76652" r="0" b="-76652"/>
              </a:stretch>
            </a:blipFill>
          </p:spPr>
        </p:sp>
        <p:sp>
          <p:nvSpPr>
            <p:cNvPr name="TextBox 22" id="22"/>
            <p:cNvSpPr txBox="true"/>
            <p:nvPr/>
          </p:nvSpPr>
          <p:spPr>
            <a:xfrm>
              <a:off x="0" y="-9525"/>
              <a:ext cx="4754880" cy="741045"/>
            </a:xfrm>
            <a:prstGeom prst="rect">
              <a:avLst/>
            </a:prstGeom>
          </p:spPr>
          <p:txBody>
            <a:bodyPr anchor="ctr" rtlCol="false" tIns="0" lIns="0" bIns="0" rIns="0"/>
            <a:lstStyle/>
            <a:p>
              <a:pPr algn="l">
                <a:lnSpc>
                  <a:spcPts val="1620"/>
                </a:lnSpc>
              </a:pPr>
              <a:r>
                <a:rPr lang="en-US" sz="1350">
                  <a:solidFill>
                    <a:srgbClr val="AAB8CC"/>
                  </a:solidFill>
                  <a:latin typeface="Courier New"/>
                  <a:ea typeface="Courier New"/>
                  <a:cs typeface="Courier New"/>
                  <a:sym typeface="Courier New"/>
                </a:rPr>
                <a:t>TEAM MEMBERS</a:t>
              </a:r>
            </a:p>
          </p:txBody>
        </p:sp>
      </p:grpSp>
      <p:grpSp>
        <p:nvGrpSpPr>
          <p:cNvPr name="Group 23" id="23"/>
          <p:cNvGrpSpPr/>
          <p:nvPr/>
        </p:nvGrpSpPr>
        <p:grpSpPr>
          <a:xfrm rot="0">
            <a:off x="8915400" y="6446520"/>
            <a:ext cx="3566160" cy="960120"/>
            <a:chOff x="0" y="0"/>
            <a:chExt cx="4754880" cy="1280160"/>
          </a:xfrm>
        </p:grpSpPr>
        <p:sp>
          <p:nvSpPr>
            <p:cNvPr name="Freeform 24" id="24"/>
            <p:cNvSpPr/>
            <p:nvPr/>
          </p:nvSpPr>
          <p:spPr>
            <a:xfrm flipH="false" flipV="false" rot="0">
              <a:off x="0" y="0"/>
              <a:ext cx="4754880" cy="1280160"/>
            </a:xfrm>
            <a:custGeom>
              <a:avLst/>
              <a:gdLst/>
              <a:ahLst/>
              <a:cxnLst/>
              <a:rect r="r" b="b" t="t" l="l"/>
              <a:pathLst>
                <a:path h="1280160" w="4754880">
                  <a:moveTo>
                    <a:pt x="0" y="0"/>
                  </a:moveTo>
                  <a:lnTo>
                    <a:pt x="4754880" y="0"/>
                  </a:lnTo>
                  <a:lnTo>
                    <a:pt x="4754880" y="1280160"/>
                  </a:lnTo>
                  <a:lnTo>
                    <a:pt x="0" y="1280160"/>
                  </a:lnTo>
                  <a:close/>
                </a:path>
              </a:pathLst>
            </a:custGeom>
            <a:blipFill>
              <a:blip r:embed="rId3">
                <a:alphaModFix amt="0"/>
              </a:blip>
              <a:stretch>
                <a:fillRect l="0" t="-22372" r="0" b="-22372"/>
              </a:stretch>
            </a:blipFill>
          </p:spPr>
        </p:sp>
        <p:sp>
          <p:nvSpPr>
            <p:cNvPr name="TextBox 25" id="25"/>
            <p:cNvSpPr txBox="true"/>
            <p:nvPr/>
          </p:nvSpPr>
          <p:spPr>
            <a:xfrm>
              <a:off x="0" y="-28575"/>
              <a:ext cx="4754880" cy="1308735"/>
            </a:xfrm>
            <a:prstGeom prst="rect">
              <a:avLst/>
            </a:prstGeom>
          </p:spPr>
          <p:txBody>
            <a:bodyPr anchor="ctr" rtlCol="false" tIns="0" lIns="0" bIns="0" rIns="0"/>
            <a:lstStyle/>
            <a:p>
              <a:pPr algn="l">
                <a:lnSpc>
                  <a:spcPts val="5400"/>
                </a:lnSpc>
              </a:pPr>
              <a:r>
                <a:rPr lang="en-US" b="true" sz="4500">
                  <a:solidFill>
                    <a:srgbClr val="F0B429"/>
                  </a:solidFill>
                  <a:latin typeface="Times New Roman Bold"/>
                  <a:ea typeface="Times New Roman Bold"/>
                  <a:cs typeface="Times New Roman Bold"/>
                  <a:sym typeface="Times New Roman Bold"/>
                </a:rPr>
                <a:t>50</a:t>
              </a:r>
            </a:p>
          </p:txBody>
        </p:sp>
      </p:grpSp>
      <p:grpSp>
        <p:nvGrpSpPr>
          <p:cNvPr name="Group 26" id="26"/>
          <p:cNvGrpSpPr/>
          <p:nvPr/>
        </p:nvGrpSpPr>
        <p:grpSpPr>
          <a:xfrm rot="0">
            <a:off x="8915400" y="7406640"/>
            <a:ext cx="3566160" cy="548640"/>
            <a:chOff x="0" y="0"/>
            <a:chExt cx="4754880" cy="731520"/>
          </a:xfrm>
        </p:grpSpPr>
        <p:sp>
          <p:nvSpPr>
            <p:cNvPr name="Freeform 27" id="27"/>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3">
                <a:alphaModFix amt="0"/>
              </a:blip>
              <a:stretch>
                <a:fillRect l="0" t="-76652" r="0" b="-76652"/>
              </a:stretch>
            </a:blipFill>
          </p:spPr>
        </p:sp>
        <p:sp>
          <p:nvSpPr>
            <p:cNvPr name="TextBox 28" id="28"/>
            <p:cNvSpPr txBox="true"/>
            <p:nvPr/>
          </p:nvSpPr>
          <p:spPr>
            <a:xfrm>
              <a:off x="0" y="-9525"/>
              <a:ext cx="4754880" cy="741045"/>
            </a:xfrm>
            <a:prstGeom prst="rect">
              <a:avLst/>
            </a:prstGeom>
          </p:spPr>
          <p:txBody>
            <a:bodyPr anchor="ctr" rtlCol="false" tIns="0" lIns="0" bIns="0" rIns="0"/>
            <a:lstStyle/>
            <a:p>
              <a:pPr algn="l">
                <a:lnSpc>
                  <a:spcPts val="1620"/>
                </a:lnSpc>
              </a:pPr>
              <a:r>
                <a:rPr lang="en-US" sz="1350">
                  <a:solidFill>
                    <a:srgbClr val="AAB8CC"/>
                  </a:solidFill>
                  <a:latin typeface="Courier New"/>
                  <a:ea typeface="Courier New"/>
                  <a:cs typeface="Courier New"/>
                  <a:sym typeface="Courier New"/>
                </a:rPr>
                <a:t>TOTAL MARKS</a:t>
              </a:r>
            </a:p>
          </p:txBody>
        </p:sp>
      </p:grpSp>
      <p:grpSp>
        <p:nvGrpSpPr>
          <p:cNvPr name="Group 29" id="29"/>
          <p:cNvGrpSpPr/>
          <p:nvPr/>
        </p:nvGrpSpPr>
        <p:grpSpPr>
          <a:xfrm rot="0">
            <a:off x="12824460" y="6446520"/>
            <a:ext cx="3566160" cy="960120"/>
            <a:chOff x="0" y="0"/>
            <a:chExt cx="4754880" cy="1280160"/>
          </a:xfrm>
        </p:grpSpPr>
        <p:sp>
          <p:nvSpPr>
            <p:cNvPr name="Freeform 30" id="30"/>
            <p:cNvSpPr/>
            <p:nvPr/>
          </p:nvSpPr>
          <p:spPr>
            <a:xfrm flipH="false" flipV="false" rot="0">
              <a:off x="0" y="0"/>
              <a:ext cx="4754880" cy="1280160"/>
            </a:xfrm>
            <a:custGeom>
              <a:avLst/>
              <a:gdLst/>
              <a:ahLst/>
              <a:cxnLst/>
              <a:rect r="r" b="b" t="t" l="l"/>
              <a:pathLst>
                <a:path h="1280160" w="4754880">
                  <a:moveTo>
                    <a:pt x="0" y="0"/>
                  </a:moveTo>
                  <a:lnTo>
                    <a:pt x="4754880" y="0"/>
                  </a:lnTo>
                  <a:lnTo>
                    <a:pt x="4754880" y="1280160"/>
                  </a:lnTo>
                  <a:lnTo>
                    <a:pt x="0" y="1280160"/>
                  </a:lnTo>
                  <a:close/>
                </a:path>
              </a:pathLst>
            </a:custGeom>
            <a:blipFill>
              <a:blip r:embed="rId3">
                <a:alphaModFix amt="0"/>
              </a:blip>
              <a:stretch>
                <a:fillRect l="0" t="-22372" r="0" b="-22372"/>
              </a:stretch>
            </a:blipFill>
          </p:spPr>
        </p:sp>
        <p:sp>
          <p:nvSpPr>
            <p:cNvPr name="TextBox 31" id="31"/>
            <p:cNvSpPr txBox="true"/>
            <p:nvPr/>
          </p:nvSpPr>
          <p:spPr>
            <a:xfrm>
              <a:off x="0" y="-28575"/>
              <a:ext cx="4754880" cy="1308735"/>
            </a:xfrm>
            <a:prstGeom prst="rect">
              <a:avLst/>
            </a:prstGeom>
          </p:spPr>
          <p:txBody>
            <a:bodyPr anchor="ctr" rtlCol="false" tIns="0" lIns="0" bIns="0" rIns="0"/>
            <a:lstStyle/>
            <a:p>
              <a:pPr algn="l">
                <a:lnSpc>
                  <a:spcPts val="5400"/>
                </a:lnSpc>
              </a:pPr>
              <a:r>
                <a:rPr lang="en-US" b="true" sz="4500">
                  <a:solidFill>
                    <a:srgbClr val="F0B429"/>
                  </a:solidFill>
                  <a:latin typeface="Times New Roman Bold"/>
                  <a:ea typeface="Times New Roman Bold"/>
                  <a:cs typeface="Times New Roman Bold"/>
                  <a:sym typeface="Times New Roman Bold"/>
                </a:rPr>
                <a:t>37</a:t>
              </a:r>
            </a:p>
          </p:txBody>
        </p:sp>
      </p:grpSp>
      <p:grpSp>
        <p:nvGrpSpPr>
          <p:cNvPr name="Group 32" id="32"/>
          <p:cNvGrpSpPr/>
          <p:nvPr/>
        </p:nvGrpSpPr>
        <p:grpSpPr>
          <a:xfrm rot="0">
            <a:off x="12824460" y="7406640"/>
            <a:ext cx="3566160" cy="548640"/>
            <a:chOff x="0" y="0"/>
            <a:chExt cx="4754880" cy="731520"/>
          </a:xfrm>
        </p:grpSpPr>
        <p:sp>
          <p:nvSpPr>
            <p:cNvPr name="Freeform 33" id="33"/>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3">
                <a:alphaModFix amt="0"/>
              </a:blip>
              <a:stretch>
                <a:fillRect l="0" t="-76652" r="0" b="-76652"/>
              </a:stretch>
            </a:blipFill>
          </p:spPr>
        </p:sp>
        <p:sp>
          <p:nvSpPr>
            <p:cNvPr name="TextBox 34" id="34"/>
            <p:cNvSpPr txBox="true"/>
            <p:nvPr/>
          </p:nvSpPr>
          <p:spPr>
            <a:xfrm>
              <a:off x="0" y="-9525"/>
              <a:ext cx="4754880" cy="741045"/>
            </a:xfrm>
            <a:prstGeom prst="rect">
              <a:avLst/>
            </a:prstGeom>
          </p:spPr>
          <p:txBody>
            <a:bodyPr anchor="ctr" rtlCol="false" tIns="0" lIns="0" bIns="0" rIns="0"/>
            <a:lstStyle/>
            <a:p>
              <a:pPr algn="l">
                <a:lnSpc>
                  <a:spcPts val="1620"/>
                </a:lnSpc>
              </a:pPr>
              <a:r>
                <a:rPr lang="en-US" sz="1350">
                  <a:solidFill>
                    <a:srgbClr val="AAB8CC"/>
                  </a:solidFill>
                  <a:latin typeface="Courier New"/>
                  <a:ea typeface="Courier New"/>
                  <a:cs typeface="Courier New"/>
                  <a:sym typeface="Courier New"/>
                </a:rPr>
                <a:t>PARTICIPANTS</a:t>
              </a:r>
            </a:p>
          </p:txBody>
        </p:sp>
      </p:grpSp>
      <p:grpSp>
        <p:nvGrpSpPr>
          <p:cNvPr name="Group 35" id="35"/>
          <p:cNvGrpSpPr/>
          <p:nvPr/>
        </p:nvGrpSpPr>
        <p:grpSpPr>
          <a:xfrm rot="0">
            <a:off x="1097280" y="8641080"/>
            <a:ext cx="16047720" cy="548640"/>
            <a:chOff x="0" y="0"/>
            <a:chExt cx="21396960" cy="731520"/>
          </a:xfrm>
        </p:grpSpPr>
        <p:sp>
          <p:nvSpPr>
            <p:cNvPr name="Freeform 36" id="36"/>
            <p:cNvSpPr/>
            <p:nvPr/>
          </p:nvSpPr>
          <p:spPr>
            <a:xfrm flipH="false" flipV="false" rot="0">
              <a:off x="0" y="0"/>
              <a:ext cx="21396961" cy="731520"/>
            </a:xfrm>
            <a:custGeom>
              <a:avLst/>
              <a:gdLst/>
              <a:ahLst/>
              <a:cxnLst/>
              <a:rect r="r" b="b" t="t" l="l"/>
              <a:pathLst>
                <a:path h="731520" w="21396961">
                  <a:moveTo>
                    <a:pt x="0" y="0"/>
                  </a:moveTo>
                  <a:lnTo>
                    <a:pt x="21396961" y="0"/>
                  </a:lnTo>
                  <a:lnTo>
                    <a:pt x="21396961" y="731520"/>
                  </a:lnTo>
                  <a:lnTo>
                    <a:pt x="0" y="731520"/>
                  </a:lnTo>
                  <a:close/>
                </a:path>
              </a:pathLst>
            </a:custGeom>
            <a:blipFill>
              <a:blip r:embed="rId3">
                <a:alphaModFix amt="0"/>
              </a:blip>
              <a:stretch>
                <a:fillRect l="0" t="-519937" r="0" b="-519937"/>
              </a:stretch>
            </a:blipFill>
          </p:spPr>
        </p:sp>
        <p:sp>
          <p:nvSpPr>
            <p:cNvPr name="TextBox 37" id="37"/>
            <p:cNvSpPr txBox="true"/>
            <p:nvPr/>
          </p:nvSpPr>
          <p:spPr>
            <a:xfrm>
              <a:off x="0" y="-19050"/>
              <a:ext cx="21396960" cy="750570"/>
            </a:xfrm>
            <a:prstGeom prst="rect">
              <a:avLst/>
            </a:prstGeom>
          </p:spPr>
          <p:txBody>
            <a:bodyPr anchor="ctr" rtlCol="false" tIns="0" lIns="0" bIns="0" rIns="0"/>
            <a:lstStyle/>
            <a:p>
              <a:pPr algn="l">
                <a:lnSpc>
                  <a:spcPts val="2160"/>
                </a:lnSpc>
              </a:pPr>
              <a:r>
                <a:rPr lang="en-US" sz="1800">
                  <a:solidFill>
                    <a:srgbClr val="CADCFC"/>
                  </a:solidFill>
                  <a:latin typeface="Times New Roman"/>
                  <a:ea typeface="Times New Roman"/>
                  <a:cs typeface="Times New Roman"/>
                  <a:sym typeface="Times New Roman"/>
                </a:rPr>
                <a:t>Project In-charge: Dr. P. Rama Santosh Naidu &amp; Mr. R. Ravi Kumar, Dept. of CSE  ·  Community Partner: Govt. Junior College, Vizianagaram Town</a:t>
              </a:r>
            </a:p>
          </p:txBody>
        </p:sp>
      </p:grpSp>
      <p:grpSp>
        <p:nvGrpSpPr>
          <p:cNvPr name="Group 38" id="38"/>
          <p:cNvGrpSpPr/>
          <p:nvPr/>
        </p:nvGrpSpPr>
        <p:grpSpPr>
          <a:xfrm rot="0">
            <a:off x="1097280" y="9395460"/>
            <a:ext cx="16047720" cy="548640"/>
            <a:chOff x="0" y="0"/>
            <a:chExt cx="21396960" cy="731520"/>
          </a:xfrm>
        </p:grpSpPr>
        <p:sp>
          <p:nvSpPr>
            <p:cNvPr name="Freeform 39" id="39"/>
            <p:cNvSpPr/>
            <p:nvPr/>
          </p:nvSpPr>
          <p:spPr>
            <a:xfrm flipH="false" flipV="false" rot="0">
              <a:off x="0" y="0"/>
              <a:ext cx="21396961" cy="731520"/>
            </a:xfrm>
            <a:custGeom>
              <a:avLst/>
              <a:gdLst/>
              <a:ahLst/>
              <a:cxnLst/>
              <a:rect r="r" b="b" t="t" l="l"/>
              <a:pathLst>
                <a:path h="731520" w="21396961">
                  <a:moveTo>
                    <a:pt x="0" y="0"/>
                  </a:moveTo>
                  <a:lnTo>
                    <a:pt x="21396961" y="0"/>
                  </a:lnTo>
                  <a:lnTo>
                    <a:pt x="21396961" y="731520"/>
                  </a:lnTo>
                  <a:lnTo>
                    <a:pt x="0" y="731520"/>
                  </a:lnTo>
                  <a:close/>
                </a:path>
              </a:pathLst>
            </a:custGeom>
            <a:blipFill>
              <a:blip r:embed="rId3">
                <a:alphaModFix amt="0"/>
              </a:blip>
              <a:stretch>
                <a:fillRect l="0" t="-519937" r="0" b="-519937"/>
              </a:stretch>
            </a:blipFill>
          </p:spPr>
        </p:sp>
        <p:sp>
          <p:nvSpPr>
            <p:cNvPr name="TextBox 40" id="40"/>
            <p:cNvSpPr txBox="true"/>
            <p:nvPr/>
          </p:nvSpPr>
          <p:spPr>
            <a:xfrm>
              <a:off x="0" y="-19050"/>
              <a:ext cx="21396960" cy="750570"/>
            </a:xfrm>
            <a:prstGeom prst="rect">
              <a:avLst/>
            </a:prstGeom>
          </p:spPr>
          <p:txBody>
            <a:bodyPr anchor="ctr" rtlCol="false" tIns="0" lIns="0" bIns="0" rIns="0"/>
            <a:lstStyle/>
            <a:p>
              <a:pPr algn="l">
                <a:lnSpc>
                  <a:spcPts val="1800"/>
                </a:lnSpc>
              </a:pPr>
              <a:r>
                <a:rPr lang="en-US" sz="1500">
                  <a:solidFill>
                    <a:srgbClr val="8896AB"/>
                  </a:solidFill>
                  <a:latin typeface="Times New Roman"/>
                  <a:ea typeface="Times New Roman"/>
                  <a:cs typeface="Times New Roman"/>
                  <a:sym typeface="Times New Roman"/>
                </a:rPr>
                <a:t>2024–2028 Batch · B.Tech CSE · MVGR College of Engineering (A)</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754380"/>
            <a:ext cx="15773400" cy="480060"/>
            <a:chOff x="0" y="0"/>
            <a:chExt cx="21031200" cy="640080"/>
          </a:xfrm>
        </p:grpSpPr>
        <p:sp>
          <p:nvSpPr>
            <p:cNvPr name="Freeform 3" id="3"/>
            <p:cNvSpPr/>
            <p:nvPr/>
          </p:nvSpPr>
          <p:spPr>
            <a:xfrm flipH="false" flipV="false" rot="0">
              <a:off x="0" y="0"/>
              <a:ext cx="21031200" cy="640080"/>
            </a:xfrm>
            <a:custGeom>
              <a:avLst/>
              <a:gdLst/>
              <a:ahLst/>
              <a:cxnLst/>
              <a:rect r="r" b="b" t="t" l="l"/>
              <a:pathLst>
                <a:path h="640080" w="21031200">
                  <a:moveTo>
                    <a:pt x="0" y="0"/>
                  </a:moveTo>
                  <a:lnTo>
                    <a:pt x="21031200" y="0"/>
                  </a:lnTo>
                  <a:lnTo>
                    <a:pt x="21031200" y="640080"/>
                  </a:lnTo>
                  <a:lnTo>
                    <a:pt x="0" y="640080"/>
                  </a:lnTo>
                  <a:close/>
                </a:path>
              </a:pathLst>
            </a:custGeom>
            <a:blipFill>
              <a:blip r:embed="rId3">
                <a:alphaModFix amt="0"/>
              </a:blip>
              <a:stretch>
                <a:fillRect l="0" t="-590222" r="0" b="-590222"/>
              </a:stretch>
            </a:blipFill>
          </p:spPr>
        </p:sp>
        <p:sp>
          <p:nvSpPr>
            <p:cNvPr name="TextBox 4" id="4"/>
            <p:cNvSpPr txBox="true"/>
            <p:nvPr/>
          </p:nvSpPr>
          <p:spPr>
            <a:xfrm>
              <a:off x="0" y="-19050"/>
              <a:ext cx="21031200" cy="659130"/>
            </a:xfrm>
            <a:prstGeom prst="rect">
              <a:avLst/>
            </a:prstGeom>
          </p:spPr>
          <p:txBody>
            <a:bodyPr anchor="ctr" rtlCol="false" tIns="0" lIns="0" bIns="0" rIns="0"/>
            <a:lstStyle/>
            <a:p>
              <a:pPr algn="l">
                <a:lnSpc>
                  <a:spcPts val="2160"/>
                </a:lnSpc>
              </a:pPr>
              <a:r>
                <a:rPr lang="en-US" b="true" sz="1800">
                  <a:solidFill>
                    <a:srgbClr val="0E7490"/>
                  </a:solidFill>
                  <a:latin typeface="Times New Roman Bold"/>
                  <a:ea typeface="Times New Roman Bold"/>
                  <a:cs typeface="Times New Roman Bold"/>
                  <a:sym typeface="Times New Roman Bold"/>
                </a:rPr>
                <a:t>HOW THIS DECK IS ORGANISED</a:t>
              </a:r>
            </a:p>
          </p:txBody>
        </p:sp>
      </p:grpSp>
      <p:grpSp>
        <p:nvGrpSpPr>
          <p:cNvPr name="Group 5" id="5"/>
          <p:cNvGrpSpPr/>
          <p:nvPr/>
        </p:nvGrpSpPr>
        <p:grpSpPr>
          <a:xfrm rot="0">
            <a:off x="960120" y="1234440"/>
            <a:ext cx="15773400" cy="822960"/>
            <a:chOff x="0" y="0"/>
            <a:chExt cx="21031200" cy="1097280"/>
          </a:xfrm>
        </p:grpSpPr>
        <p:sp>
          <p:nvSpPr>
            <p:cNvPr name="Freeform 6" id="6"/>
            <p:cNvSpPr/>
            <p:nvPr/>
          </p:nvSpPr>
          <p:spPr>
            <a:xfrm flipH="false" flipV="false" rot="0">
              <a:off x="0" y="0"/>
              <a:ext cx="21031200" cy="1097280"/>
            </a:xfrm>
            <a:custGeom>
              <a:avLst/>
              <a:gdLst/>
              <a:ahLst/>
              <a:cxnLst/>
              <a:rect r="r" b="b" t="t" l="l"/>
              <a:pathLst>
                <a:path h="1097280" w="21031200">
                  <a:moveTo>
                    <a:pt x="0" y="0"/>
                  </a:moveTo>
                  <a:lnTo>
                    <a:pt x="21031200" y="0"/>
                  </a:lnTo>
                  <a:lnTo>
                    <a:pt x="21031200" y="1097280"/>
                  </a:lnTo>
                  <a:lnTo>
                    <a:pt x="0" y="1097280"/>
                  </a:lnTo>
                  <a:close/>
                </a:path>
              </a:pathLst>
            </a:custGeom>
            <a:blipFill>
              <a:blip r:embed="rId3">
                <a:alphaModFix amt="0"/>
              </a:blip>
              <a:stretch>
                <a:fillRect l="0" t="-323463" r="0" b="-323463"/>
              </a:stretch>
            </a:blipFill>
          </p:spPr>
        </p:sp>
        <p:sp>
          <p:nvSpPr>
            <p:cNvPr name="TextBox 7" id="7"/>
            <p:cNvSpPr txBox="true"/>
            <p:nvPr/>
          </p:nvSpPr>
          <p:spPr>
            <a:xfrm>
              <a:off x="0" y="-28575"/>
              <a:ext cx="21031200" cy="1125855"/>
            </a:xfrm>
            <a:prstGeom prst="rect">
              <a:avLst/>
            </a:prstGeom>
          </p:spPr>
          <p:txBody>
            <a:bodyPr anchor="ctr" rtlCol="false" tIns="0" lIns="0" bIns="0" rIns="0"/>
            <a:lstStyle/>
            <a:p>
              <a:pPr algn="l">
                <a:lnSpc>
                  <a:spcPts val="4500"/>
                </a:lnSpc>
              </a:pPr>
              <a:r>
                <a:rPr lang="en-US" b="true" sz="3750">
                  <a:solidFill>
                    <a:srgbClr val="1E2761"/>
                  </a:solidFill>
                  <a:latin typeface="Times New Roman Bold"/>
                  <a:ea typeface="Times New Roman Bold"/>
                  <a:cs typeface="Times New Roman Bold"/>
                  <a:sym typeface="Times New Roman Bold"/>
                </a:rPr>
                <a:t>One Continuous Presentation, Start to Finish</a:t>
              </a:r>
            </a:p>
          </p:txBody>
        </p:sp>
      </p:grpSp>
      <p:grpSp>
        <p:nvGrpSpPr>
          <p:cNvPr name="Group 8" id="8"/>
          <p:cNvGrpSpPr/>
          <p:nvPr/>
        </p:nvGrpSpPr>
        <p:grpSpPr>
          <a:xfrm rot="0">
            <a:off x="960120" y="2537460"/>
            <a:ext cx="850392" cy="850392"/>
            <a:chOff x="0" y="0"/>
            <a:chExt cx="1133856" cy="1133856"/>
          </a:xfrm>
        </p:grpSpPr>
        <p:sp>
          <p:nvSpPr>
            <p:cNvPr name="Freeform 9" id="9"/>
            <p:cNvSpPr/>
            <p:nvPr/>
          </p:nvSpPr>
          <p:spPr>
            <a:xfrm flipH="false" flipV="false" rot="0">
              <a:off x="0" y="0"/>
              <a:ext cx="1133856" cy="1133856"/>
            </a:xfrm>
            <a:custGeom>
              <a:avLst/>
              <a:gdLst/>
              <a:ahLst/>
              <a:cxnLst/>
              <a:rect r="r" b="b" t="t" l="l"/>
              <a:pathLst>
                <a:path h="1133856" w="1133856">
                  <a:moveTo>
                    <a:pt x="0" y="146304"/>
                  </a:moveTo>
                  <a:cubicBezTo>
                    <a:pt x="0" y="65532"/>
                    <a:pt x="65532" y="0"/>
                    <a:pt x="146304" y="0"/>
                  </a:cubicBezTo>
                  <a:lnTo>
                    <a:pt x="987552" y="0"/>
                  </a:lnTo>
                  <a:cubicBezTo>
                    <a:pt x="1068324" y="0"/>
                    <a:pt x="1133856" y="65532"/>
                    <a:pt x="1133856" y="146304"/>
                  </a:cubicBezTo>
                  <a:lnTo>
                    <a:pt x="1133856" y="987552"/>
                  </a:lnTo>
                  <a:cubicBezTo>
                    <a:pt x="1133856" y="1068324"/>
                    <a:pt x="1068324" y="1133856"/>
                    <a:pt x="987552" y="1133856"/>
                  </a:cubicBezTo>
                  <a:lnTo>
                    <a:pt x="146304" y="1133856"/>
                  </a:lnTo>
                  <a:cubicBezTo>
                    <a:pt x="65532" y="1133856"/>
                    <a:pt x="0" y="1068324"/>
                    <a:pt x="0" y="987552"/>
                  </a:cubicBezTo>
                  <a:close/>
                </a:path>
              </a:pathLst>
            </a:custGeom>
            <a:solidFill>
              <a:srgbClr val="1E2761"/>
            </a:solidFill>
          </p:spPr>
        </p:sp>
      </p:grpSp>
      <p:grpSp>
        <p:nvGrpSpPr>
          <p:cNvPr name="Group 10" id="10"/>
          <p:cNvGrpSpPr/>
          <p:nvPr/>
        </p:nvGrpSpPr>
        <p:grpSpPr>
          <a:xfrm rot="0">
            <a:off x="960120" y="2537460"/>
            <a:ext cx="850392" cy="850392"/>
            <a:chOff x="0" y="0"/>
            <a:chExt cx="1133856" cy="1133856"/>
          </a:xfrm>
        </p:grpSpPr>
        <p:sp>
          <p:nvSpPr>
            <p:cNvPr name="Freeform 11" id="11"/>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3">
                <a:alphaModFix amt="0"/>
              </a:blip>
              <a:stretch>
                <a:fillRect l="-78303" t="0" r="-78303" b="0"/>
              </a:stretch>
            </a:blipFill>
          </p:spPr>
        </p:sp>
        <p:sp>
          <p:nvSpPr>
            <p:cNvPr name="TextBox 12" id="12"/>
            <p:cNvSpPr txBox="true"/>
            <p:nvPr/>
          </p:nvSpPr>
          <p:spPr>
            <a:xfrm>
              <a:off x="0" y="-19050"/>
              <a:ext cx="1133856" cy="1152906"/>
            </a:xfrm>
            <a:prstGeom prst="rect">
              <a:avLst/>
            </a:prstGeom>
          </p:spPr>
          <p:txBody>
            <a:bodyPr anchor="ctr" rtlCol="false" tIns="0" lIns="0" bIns="0" rIns="0"/>
            <a:lstStyle/>
            <a:p>
              <a:pPr algn="ctr">
                <a:lnSpc>
                  <a:spcPts val="2520"/>
                </a:lnSpc>
              </a:pPr>
              <a:r>
                <a:rPr lang="en-US" b="true" sz="2100">
                  <a:solidFill>
                    <a:srgbClr val="FFFFFF"/>
                  </a:solidFill>
                  <a:latin typeface="Times New Roman Bold"/>
                  <a:ea typeface="Times New Roman Bold"/>
                  <a:cs typeface="Times New Roman Bold"/>
                  <a:sym typeface="Times New Roman Bold"/>
                </a:rPr>
                <a:t>01</a:t>
              </a:r>
            </a:p>
          </p:txBody>
        </p:sp>
      </p:grpSp>
      <p:grpSp>
        <p:nvGrpSpPr>
          <p:cNvPr name="Group 13" id="13"/>
          <p:cNvGrpSpPr/>
          <p:nvPr/>
        </p:nvGrpSpPr>
        <p:grpSpPr>
          <a:xfrm rot="0">
            <a:off x="2537460" y="2606040"/>
            <a:ext cx="14401800" cy="548640"/>
            <a:chOff x="0" y="0"/>
            <a:chExt cx="19202400" cy="731520"/>
          </a:xfrm>
        </p:grpSpPr>
        <p:sp>
          <p:nvSpPr>
            <p:cNvPr name="Freeform 14" id="14"/>
            <p:cNvSpPr/>
            <p:nvPr/>
          </p:nvSpPr>
          <p:spPr>
            <a:xfrm flipH="false" flipV="false" rot="0">
              <a:off x="0" y="0"/>
              <a:ext cx="19202400" cy="731520"/>
            </a:xfrm>
            <a:custGeom>
              <a:avLst/>
              <a:gdLst/>
              <a:ahLst/>
              <a:cxnLst/>
              <a:rect r="r" b="b" t="t" l="l"/>
              <a:pathLst>
                <a:path h="731520" w="19202400">
                  <a:moveTo>
                    <a:pt x="0" y="0"/>
                  </a:moveTo>
                  <a:lnTo>
                    <a:pt x="19202400" y="0"/>
                  </a:lnTo>
                  <a:lnTo>
                    <a:pt x="19202400" y="731520"/>
                  </a:lnTo>
                  <a:lnTo>
                    <a:pt x="0" y="731520"/>
                  </a:lnTo>
                  <a:close/>
                </a:path>
              </a:pathLst>
            </a:custGeom>
            <a:blipFill>
              <a:blip r:embed="rId3">
                <a:alphaModFix amt="0"/>
              </a:blip>
              <a:stretch>
                <a:fillRect l="0" t="-461482" r="0" b="-461482"/>
              </a:stretch>
            </a:blipFill>
          </p:spPr>
        </p:sp>
        <p:sp>
          <p:nvSpPr>
            <p:cNvPr name="TextBox 15" id="15"/>
            <p:cNvSpPr txBox="true"/>
            <p:nvPr/>
          </p:nvSpPr>
          <p:spPr>
            <a:xfrm>
              <a:off x="0" y="-9525"/>
              <a:ext cx="19202400" cy="741045"/>
            </a:xfrm>
            <a:prstGeom prst="rect">
              <a:avLst/>
            </a:prstGeom>
          </p:spPr>
          <p:txBody>
            <a:bodyPr anchor="ctr" rtlCol="false" tIns="0" lIns="0" bIns="0" rIns="0"/>
            <a:lstStyle/>
            <a:p>
              <a:pPr algn="l">
                <a:lnSpc>
                  <a:spcPts val="2879"/>
                </a:lnSpc>
              </a:pPr>
              <a:r>
                <a:rPr lang="en-US" b="true" sz="2400">
                  <a:solidFill>
                    <a:srgbClr val="1E2761"/>
                  </a:solidFill>
                  <a:latin typeface="Times New Roman Bold"/>
                  <a:ea typeface="Times New Roman Bold"/>
                  <a:cs typeface="Times New Roman Bold"/>
                  <a:sym typeface="Times New Roman Bold"/>
                </a:rPr>
                <a:t>A single, continuous deck</a:t>
              </a:r>
            </a:p>
          </p:txBody>
        </p:sp>
      </p:grpSp>
      <p:grpSp>
        <p:nvGrpSpPr>
          <p:cNvPr name="Group 16" id="16"/>
          <p:cNvGrpSpPr/>
          <p:nvPr/>
        </p:nvGrpSpPr>
        <p:grpSpPr>
          <a:xfrm rot="0">
            <a:off x="2537460" y="3195828"/>
            <a:ext cx="14401800" cy="1165860"/>
            <a:chOff x="0" y="0"/>
            <a:chExt cx="19202400" cy="1554480"/>
          </a:xfrm>
        </p:grpSpPr>
        <p:sp>
          <p:nvSpPr>
            <p:cNvPr name="Freeform 17" id="17"/>
            <p:cNvSpPr/>
            <p:nvPr/>
          </p:nvSpPr>
          <p:spPr>
            <a:xfrm flipH="false" flipV="false" rot="0">
              <a:off x="0" y="0"/>
              <a:ext cx="19202400" cy="1554480"/>
            </a:xfrm>
            <a:custGeom>
              <a:avLst/>
              <a:gdLst/>
              <a:ahLst/>
              <a:cxnLst/>
              <a:rect r="r" b="b" t="t" l="l"/>
              <a:pathLst>
                <a:path h="1554480" w="19202400">
                  <a:moveTo>
                    <a:pt x="0" y="0"/>
                  </a:moveTo>
                  <a:lnTo>
                    <a:pt x="19202400" y="0"/>
                  </a:lnTo>
                  <a:lnTo>
                    <a:pt x="19202400" y="1554480"/>
                  </a:lnTo>
                  <a:lnTo>
                    <a:pt x="0" y="1554480"/>
                  </a:lnTo>
                  <a:close/>
                </a:path>
              </a:pathLst>
            </a:custGeom>
            <a:blipFill>
              <a:blip r:embed="rId3">
                <a:alphaModFix amt="0"/>
              </a:blip>
              <a:stretch>
                <a:fillRect l="0" t="-190697" r="0" b="-190697"/>
              </a:stretch>
            </a:blipFill>
          </p:spPr>
        </p:sp>
        <p:sp>
          <p:nvSpPr>
            <p:cNvPr name="TextBox 18" id="18"/>
            <p:cNvSpPr txBox="true"/>
            <p:nvPr/>
          </p:nvSpPr>
          <p:spPr>
            <a:xfrm>
              <a:off x="0" y="-123825"/>
              <a:ext cx="19202400" cy="1678305"/>
            </a:xfrm>
            <a:prstGeom prst="rect">
              <a:avLst/>
            </a:prstGeom>
          </p:spPr>
          <p:txBody>
            <a:bodyPr anchor="ctr" rtlCol="false" tIns="0" lIns="0" bIns="0" rIns="0"/>
            <a:lstStyle/>
            <a:p>
              <a:pPr algn="l">
                <a:lnSpc>
                  <a:spcPts val="3375"/>
                </a:lnSpc>
              </a:pPr>
              <a:r>
                <a:rPr lang="en-US" sz="1875">
                  <a:solidFill>
                    <a:srgbClr val="5B6478"/>
                  </a:solidFill>
                  <a:latin typeface="Times New Roman"/>
                  <a:ea typeface="Times New Roman"/>
                  <a:cs typeface="Times New Roman"/>
                  <a:sym typeface="Times New Roman"/>
                </a:rPr>
                <a:t>This presentation flows straight from Review 1 into Review 2 (Final) with no restart in between — our project identity is introduced once, on the Project Cover, and every slide after it builds on that.</a:t>
              </a:r>
            </a:p>
          </p:txBody>
        </p:sp>
      </p:grpSp>
      <p:grpSp>
        <p:nvGrpSpPr>
          <p:cNvPr name="Group 19" id="19"/>
          <p:cNvGrpSpPr/>
          <p:nvPr/>
        </p:nvGrpSpPr>
        <p:grpSpPr>
          <a:xfrm rot="0">
            <a:off x="960120" y="4663440"/>
            <a:ext cx="850392" cy="850392"/>
            <a:chOff x="0" y="0"/>
            <a:chExt cx="1133856" cy="1133856"/>
          </a:xfrm>
        </p:grpSpPr>
        <p:sp>
          <p:nvSpPr>
            <p:cNvPr name="Freeform 20" id="20"/>
            <p:cNvSpPr/>
            <p:nvPr/>
          </p:nvSpPr>
          <p:spPr>
            <a:xfrm flipH="false" flipV="false" rot="0">
              <a:off x="0" y="0"/>
              <a:ext cx="1133856" cy="1133856"/>
            </a:xfrm>
            <a:custGeom>
              <a:avLst/>
              <a:gdLst/>
              <a:ahLst/>
              <a:cxnLst/>
              <a:rect r="r" b="b" t="t" l="l"/>
              <a:pathLst>
                <a:path h="1133856" w="1133856">
                  <a:moveTo>
                    <a:pt x="0" y="146304"/>
                  </a:moveTo>
                  <a:cubicBezTo>
                    <a:pt x="0" y="65532"/>
                    <a:pt x="65532" y="0"/>
                    <a:pt x="146304" y="0"/>
                  </a:cubicBezTo>
                  <a:lnTo>
                    <a:pt x="987552" y="0"/>
                  </a:lnTo>
                  <a:cubicBezTo>
                    <a:pt x="1068324" y="0"/>
                    <a:pt x="1133856" y="65532"/>
                    <a:pt x="1133856" y="146304"/>
                  </a:cubicBezTo>
                  <a:lnTo>
                    <a:pt x="1133856" y="987552"/>
                  </a:lnTo>
                  <a:cubicBezTo>
                    <a:pt x="1133856" y="1068324"/>
                    <a:pt x="1068324" y="1133856"/>
                    <a:pt x="987552" y="1133856"/>
                  </a:cubicBezTo>
                  <a:lnTo>
                    <a:pt x="146304" y="1133856"/>
                  </a:lnTo>
                  <a:cubicBezTo>
                    <a:pt x="65532" y="1133856"/>
                    <a:pt x="0" y="1068324"/>
                    <a:pt x="0" y="987552"/>
                  </a:cubicBezTo>
                  <a:close/>
                </a:path>
              </a:pathLst>
            </a:custGeom>
            <a:solidFill>
              <a:srgbClr val="1E2761"/>
            </a:solidFill>
          </p:spPr>
        </p:sp>
      </p:grpSp>
      <p:grpSp>
        <p:nvGrpSpPr>
          <p:cNvPr name="Group 21" id="21"/>
          <p:cNvGrpSpPr/>
          <p:nvPr/>
        </p:nvGrpSpPr>
        <p:grpSpPr>
          <a:xfrm rot="0">
            <a:off x="960120" y="4663440"/>
            <a:ext cx="850392" cy="850392"/>
            <a:chOff x="0" y="0"/>
            <a:chExt cx="1133856" cy="1133856"/>
          </a:xfrm>
        </p:grpSpPr>
        <p:sp>
          <p:nvSpPr>
            <p:cNvPr name="Freeform 22" id="22"/>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3">
                <a:alphaModFix amt="0"/>
              </a:blip>
              <a:stretch>
                <a:fillRect l="-78303" t="0" r="-78303" b="0"/>
              </a:stretch>
            </a:blipFill>
          </p:spPr>
        </p:sp>
        <p:sp>
          <p:nvSpPr>
            <p:cNvPr name="TextBox 23" id="23"/>
            <p:cNvSpPr txBox="true"/>
            <p:nvPr/>
          </p:nvSpPr>
          <p:spPr>
            <a:xfrm>
              <a:off x="0" y="-19050"/>
              <a:ext cx="1133856" cy="1152906"/>
            </a:xfrm>
            <a:prstGeom prst="rect">
              <a:avLst/>
            </a:prstGeom>
          </p:spPr>
          <p:txBody>
            <a:bodyPr anchor="ctr" rtlCol="false" tIns="0" lIns="0" bIns="0" rIns="0"/>
            <a:lstStyle/>
            <a:p>
              <a:pPr algn="ctr">
                <a:lnSpc>
                  <a:spcPts val="2520"/>
                </a:lnSpc>
              </a:pPr>
              <a:r>
                <a:rPr lang="en-US" b="true" sz="2100">
                  <a:solidFill>
                    <a:srgbClr val="FFFFFF"/>
                  </a:solidFill>
                  <a:latin typeface="Times New Roman Bold"/>
                  <a:ea typeface="Times New Roman Bold"/>
                  <a:cs typeface="Times New Roman Bold"/>
                  <a:sym typeface="Times New Roman Bold"/>
                </a:rPr>
                <a:t>02</a:t>
              </a:r>
            </a:p>
          </p:txBody>
        </p:sp>
      </p:grpSp>
      <p:grpSp>
        <p:nvGrpSpPr>
          <p:cNvPr name="Group 24" id="24"/>
          <p:cNvGrpSpPr/>
          <p:nvPr/>
        </p:nvGrpSpPr>
        <p:grpSpPr>
          <a:xfrm rot="0">
            <a:off x="2537460" y="4732020"/>
            <a:ext cx="14401800" cy="548640"/>
            <a:chOff x="0" y="0"/>
            <a:chExt cx="19202400" cy="731520"/>
          </a:xfrm>
        </p:grpSpPr>
        <p:sp>
          <p:nvSpPr>
            <p:cNvPr name="Freeform 25" id="25"/>
            <p:cNvSpPr/>
            <p:nvPr/>
          </p:nvSpPr>
          <p:spPr>
            <a:xfrm flipH="false" flipV="false" rot="0">
              <a:off x="0" y="0"/>
              <a:ext cx="19202400" cy="731520"/>
            </a:xfrm>
            <a:custGeom>
              <a:avLst/>
              <a:gdLst/>
              <a:ahLst/>
              <a:cxnLst/>
              <a:rect r="r" b="b" t="t" l="l"/>
              <a:pathLst>
                <a:path h="731520" w="19202400">
                  <a:moveTo>
                    <a:pt x="0" y="0"/>
                  </a:moveTo>
                  <a:lnTo>
                    <a:pt x="19202400" y="0"/>
                  </a:lnTo>
                  <a:lnTo>
                    <a:pt x="19202400" y="731520"/>
                  </a:lnTo>
                  <a:lnTo>
                    <a:pt x="0" y="731520"/>
                  </a:lnTo>
                  <a:close/>
                </a:path>
              </a:pathLst>
            </a:custGeom>
            <a:blipFill>
              <a:blip r:embed="rId3">
                <a:alphaModFix amt="0"/>
              </a:blip>
              <a:stretch>
                <a:fillRect l="0" t="-461482" r="0" b="-461482"/>
              </a:stretch>
            </a:blipFill>
          </p:spPr>
        </p:sp>
        <p:sp>
          <p:nvSpPr>
            <p:cNvPr name="TextBox 26" id="26"/>
            <p:cNvSpPr txBox="true"/>
            <p:nvPr/>
          </p:nvSpPr>
          <p:spPr>
            <a:xfrm>
              <a:off x="0" y="-9525"/>
              <a:ext cx="19202400" cy="741045"/>
            </a:xfrm>
            <a:prstGeom prst="rect">
              <a:avLst/>
            </a:prstGeom>
          </p:spPr>
          <p:txBody>
            <a:bodyPr anchor="ctr" rtlCol="false" tIns="0" lIns="0" bIns="0" rIns="0"/>
            <a:lstStyle/>
            <a:p>
              <a:pPr algn="l">
                <a:lnSpc>
                  <a:spcPts val="2879"/>
                </a:lnSpc>
              </a:pPr>
              <a:r>
                <a:rPr lang="en-US" b="true" sz="2400">
                  <a:solidFill>
                    <a:srgbClr val="1E2761"/>
                  </a:solidFill>
                  <a:latin typeface="Times New Roman Bold"/>
                  <a:ea typeface="Times New Roman Bold"/>
                  <a:cs typeface="Times New Roman Bold"/>
                  <a:sym typeface="Times New Roman Bold"/>
                </a:rPr>
                <a:t>Two reviews only</a:t>
              </a:r>
            </a:p>
          </p:txBody>
        </p:sp>
      </p:grpSp>
      <p:grpSp>
        <p:nvGrpSpPr>
          <p:cNvPr name="Group 27" id="27"/>
          <p:cNvGrpSpPr/>
          <p:nvPr/>
        </p:nvGrpSpPr>
        <p:grpSpPr>
          <a:xfrm rot="0">
            <a:off x="2537460" y="5321808"/>
            <a:ext cx="14401800" cy="1165860"/>
            <a:chOff x="0" y="0"/>
            <a:chExt cx="19202400" cy="1554480"/>
          </a:xfrm>
        </p:grpSpPr>
        <p:sp>
          <p:nvSpPr>
            <p:cNvPr name="Freeform 28" id="28"/>
            <p:cNvSpPr/>
            <p:nvPr/>
          </p:nvSpPr>
          <p:spPr>
            <a:xfrm flipH="false" flipV="false" rot="0">
              <a:off x="0" y="0"/>
              <a:ext cx="19202400" cy="1554480"/>
            </a:xfrm>
            <a:custGeom>
              <a:avLst/>
              <a:gdLst/>
              <a:ahLst/>
              <a:cxnLst/>
              <a:rect r="r" b="b" t="t" l="l"/>
              <a:pathLst>
                <a:path h="1554480" w="19202400">
                  <a:moveTo>
                    <a:pt x="0" y="0"/>
                  </a:moveTo>
                  <a:lnTo>
                    <a:pt x="19202400" y="0"/>
                  </a:lnTo>
                  <a:lnTo>
                    <a:pt x="19202400" y="1554480"/>
                  </a:lnTo>
                  <a:lnTo>
                    <a:pt x="0" y="1554480"/>
                  </a:lnTo>
                  <a:close/>
                </a:path>
              </a:pathLst>
            </a:custGeom>
            <a:blipFill>
              <a:blip r:embed="rId3">
                <a:alphaModFix amt="0"/>
              </a:blip>
              <a:stretch>
                <a:fillRect l="0" t="-190697" r="0" b="-190697"/>
              </a:stretch>
            </a:blipFill>
          </p:spPr>
        </p:sp>
        <p:sp>
          <p:nvSpPr>
            <p:cNvPr name="TextBox 29" id="29"/>
            <p:cNvSpPr txBox="true"/>
            <p:nvPr/>
          </p:nvSpPr>
          <p:spPr>
            <a:xfrm>
              <a:off x="0" y="-123825"/>
              <a:ext cx="19202400" cy="1678305"/>
            </a:xfrm>
            <a:prstGeom prst="rect">
              <a:avLst/>
            </a:prstGeom>
          </p:spPr>
          <p:txBody>
            <a:bodyPr anchor="ctr" rtlCol="false" tIns="0" lIns="0" bIns="0" rIns="0"/>
            <a:lstStyle/>
            <a:p>
              <a:pPr algn="l">
                <a:lnSpc>
                  <a:spcPts val="3375"/>
                </a:lnSpc>
              </a:pPr>
              <a:r>
                <a:rPr lang="en-US" sz="1875">
                  <a:solidFill>
                    <a:srgbClr val="5B6478"/>
                  </a:solidFill>
                  <a:latin typeface="Times New Roman"/>
                  <a:ea typeface="Times New Roman"/>
                  <a:cs typeface="Times New Roman"/>
                  <a:sym typeface="Times New Roman"/>
                </a:rPr>
                <a:t>Review 1 (10 marks) — Problem Identification &amp; Planning, already completed. Review 2 (40 marks, Final) — Progress, Execution &amp; Final Evaluation: Report(/20) + Viva(/15) + Cert(/5).</a:t>
              </a:r>
            </a:p>
          </p:txBody>
        </p:sp>
      </p:grpSp>
      <p:grpSp>
        <p:nvGrpSpPr>
          <p:cNvPr name="Group 30" id="30"/>
          <p:cNvGrpSpPr/>
          <p:nvPr/>
        </p:nvGrpSpPr>
        <p:grpSpPr>
          <a:xfrm rot="0">
            <a:off x="960120" y="6789420"/>
            <a:ext cx="850392" cy="850392"/>
            <a:chOff x="0" y="0"/>
            <a:chExt cx="1133856" cy="1133856"/>
          </a:xfrm>
        </p:grpSpPr>
        <p:sp>
          <p:nvSpPr>
            <p:cNvPr name="Freeform 31" id="31"/>
            <p:cNvSpPr/>
            <p:nvPr/>
          </p:nvSpPr>
          <p:spPr>
            <a:xfrm flipH="false" flipV="false" rot="0">
              <a:off x="0" y="0"/>
              <a:ext cx="1133856" cy="1133856"/>
            </a:xfrm>
            <a:custGeom>
              <a:avLst/>
              <a:gdLst/>
              <a:ahLst/>
              <a:cxnLst/>
              <a:rect r="r" b="b" t="t" l="l"/>
              <a:pathLst>
                <a:path h="1133856" w="1133856">
                  <a:moveTo>
                    <a:pt x="0" y="146304"/>
                  </a:moveTo>
                  <a:cubicBezTo>
                    <a:pt x="0" y="65532"/>
                    <a:pt x="65532" y="0"/>
                    <a:pt x="146304" y="0"/>
                  </a:cubicBezTo>
                  <a:lnTo>
                    <a:pt x="987552" y="0"/>
                  </a:lnTo>
                  <a:cubicBezTo>
                    <a:pt x="1068324" y="0"/>
                    <a:pt x="1133856" y="65532"/>
                    <a:pt x="1133856" y="146304"/>
                  </a:cubicBezTo>
                  <a:lnTo>
                    <a:pt x="1133856" y="987552"/>
                  </a:lnTo>
                  <a:cubicBezTo>
                    <a:pt x="1133856" y="1068324"/>
                    <a:pt x="1068324" y="1133856"/>
                    <a:pt x="987552" y="1133856"/>
                  </a:cubicBezTo>
                  <a:lnTo>
                    <a:pt x="146304" y="1133856"/>
                  </a:lnTo>
                  <a:cubicBezTo>
                    <a:pt x="65532" y="1133856"/>
                    <a:pt x="0" y="1068324"/>
                    <a:pt x="0" y="987552"/>
                  </a:cubicBezTo>
                  <a:close/>
                </a:path>
              </a:pathLst>
            </a:custGeom>
            <a:solidFill>
              <a:srgbClr val="1E2761"/>
            </a:solidFill>
          </p:spPr>
        </p:sp>
      </p:grpSp>
      <p:grpSp>
        <p:nvGrpSpPr>
          <p:cNvPr name="Group 32" id="32"/>
          <p:cNvGrpSpPr/>
          <p:nvPr/>
        </p:nvGrpSpPr>
        <p:grpSpPr>
          <a:xfrm rot="0">
            <a:off x="960120" y="6789420"/>
            <a:ext cx="850392" cy="850392"/>
            <a:chOff x="0" y="0"/>
            <a:chExt cx="1133856" cy="1133856"/>
          </a:xfrm>
        </p:grpSpPr>
        <p:sp>
          <p:nvSpPr>
            <p:cNvPr name="Freeform 33" id="33"/>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3">
                <a:alphaModFix amt="0"/>
              </a:blip>
              <a:stretch>
                <a:fillRect l="-78303" t="0" r="-78303" b="0"/>
              </a:stretch>
            </a:blipFill>
          </p:spPr>
        </p:sp>
        <p:sp>
          <p:nvSpPr>
            <p:cNvPr name="TextBox 34" id="34"/>
            <p:cNvSpPr txBox="true"/>
            <p:nvPr/>
          </p:nvSpPr>
          <p:spPr>
            <a:xfrm>
              <a:off x="0" y="-19050"/>
              <a:ext cx="1133856" cy="1152906"/>
            </a:xfrm>
            <a:prstGeom prst="rect">
              <a:avLst/>
            </a:prstGeom>
          </p:spPr>
          <p:txBody>
            <a:bodyPr anchor="ctr" rtlCol="false" tIns="0" lIns="0" bIns="0" rIns="0"/>
            <a:lstStyle/>
            <a:p>
              <a:pPr algn="ctr">
                <a:lnSpc>
                  <a:spcPts val="2520"/>
                </a:lnSpc>
              </a:pPr>
              <a:r>
                <a:rPr lang="en-US" b="true" sz="2100">
                  <a:solidFill>
                    <a:srgbClr val="FFFFFF"/>
                  </a:solidFill>
                  <a:latin typeface="Times New Roman Bold"/>
                  <a:ea typeface="Times New Roman Bold"/>
                  <a:cs typeface="Times New Roman Bold"/>
                  <a:sym typeface="Times New Roman Bold"/>
                </a:rPr>
                <a:t>03</a:t>
              </a:r>
            </a:p>
          </p:txBody>
        </p:sp>
      </p:grpSp>
      <p:grpSp>
        <p:nvGrpSpPr>
          <p:cNvPr name="Group 35" id="35"/>
          <p:cNvGrpSpPr/>
          <p:nvPr/>
        </p:nvGrpSpPr>
        <p:grpSpPr>
          <a:xfrm rot="0">
            <a:off x="2537460" y="6858000"/>
            <a:ext cx="14401800" cy="548640"/>
            <a:chOff x="0" y="0"/>
            <a:chExt cx="19202400" cy="731520"/>
          </a:xfrm>
        </p:grpSpPr>
        <p:sp>
          <p:nvSpPr>
            <p:cNvPr name="Freeform 36" id="36"/>
            <p:cNvSpPr/>
            <p:nvPr/>
          </p:nvSpPr>
          <p:spPr>
            <a:xfrm flipH="false" flipV="false" rot="0">
              <a:off x="0" y="0"/>
              <a:ext cx="19202400" cy="731520"/>
            </a:xfrm>
            <a:custGeom>
              <a:avLst/>
              <a:gdLst/>
              <a:ahLst/>
              <a:cxnLst/>
              <a:rect r="r" b="b" t="t" l="l"/>
              <a:pathLst>
                <a:path h="731520" w="19202400">
                  <a:moveTo>
                    <a:pt x="0" y="0"/>
                  </a:moveTo>
                  <a:lnTo>
                    <a:pt x="19202400" y="0"/>
                  </a:lnTo>
                  <a:lnTo>
                    <a:pt x="19202400" y="731520"/>
                  </a:lnTo>
                  <a:lnTo>
                    <a:pt x="0" y="731520"/>
                  </a:lnTo>
                  <a:close/>
                </a:path>
              </a:pathLst>
            </a:custGeom>
            <a:blipFill>
              <a:blip r:embed="rId3">
                <a:alphaModFix amt="0"/>
              </a:blip>
              <a:stretch>
                <a:fillRect l="0" t="-461482" r="0" b="-461482"/>
              </a:stretch>
            </a:blipFill>
          </p:spPr>
        </p:sp>
        <p:sp>
          <p:nvSpPr>
            <p:cNvPr name="TextBox 37" id="37"/>
            <p:cNvSpPr txBox="true"/>
            <p:nvPr/>
          </p:nvSpPr>
          <p:spPr>
            <a:xfrm>
              <a:off x="0" y="-9525"/>
              <a:ext cx="19202400" cy="741045"/>
            </a:xfrm>
            <a:prstGeom prst="rect">
              <a:avLst/>
            </a:prstGeom>
          </p:spPr>
          <p:txBody>
            <a:bodyPr anchor="ctr" rtlCol="false" tIns="0" lIns="0" bIns="0" rIns="0"/>
            <a:lstStyle/>
            <a:p>
              <a:pPr algn="l">
                <a:lnSpc>
                  <a:spcPts val="2879"/>
                </a:lnSpc>
              </a:pPr>
              <a:r>
                <a:rPr lang="en-US" b="true" sz="2400">
                  <a:solidFill>
                    <a:srgbClr val="1E2761"/>
                  </a:solidFill>
                  <a:latin typeface="Times New Roman Bold"/>
                  <a:ea typeface="Times New Roman Bold"/>
                  <a:cs typeface="Times New Roman Bold"/>
                  <a:sym typeface="Times New Roman Bold"/>
                </a:rPr>
                <a:t>"Cert" covers our proof of work</a:t>
              </a:r>
            </a:p>
          </p:txBody>
        </p:sp>
      </p:grpSp>
      <p:grpSp>
        <p:nvGrpSpPr>
          <p:cNvPr name="Group 38" id="38"/>
          <p:cNvGrpSpPr/>
          <p:nvPr/>
        </p:nvGrpSpPr>
        <p:grpSpPr>
          <a:xfrm rot="0">
            <a:off x="2537460" y="7447788"/>
            <a:ext cx="14401800" cy="1165860"/>
            <a:chOff x="0" y="0"/>
            <a:chExt cx="19202400" cy="1554480"/>
          </a:xfrm>
        </p:grpSpPr>
        <p:sp>
          <p:nvSpPr>
            <p:cNvPr name="Freeform 39" id="39"/>
            <p:cNvSpPr/>
            <p:nvPr/>
          </p:nvSpPr>
          <p:spPr>
            <a:xfrm flipH="false" flipV="false" rot="0">
              <a:off x="0" y="0"/>
              <a:ext cx="19202400" cy="1554480"/>
            </a:xfrm>
            <a:custGeom>
              <a:avLst/>
              <a:gdLst/>
              <a:ahLst/>
              <a:cxnLst/>
              <a:rect r="r" b="b" t="t" l="l"/>
              <a:pathLst>
                <a:path h="1554480" w="19202400">
                  <a:moveTo>
                    <a:pt x="0" y="0"/>
                  </a:moveTo>
                  <a:lnTo>
                    <a:pt x="19202400" y="0"/>
                  </a:lnTo>
                  <a:lnTo>
                    <a:pt x="19202400" y="1554480"/>
                  </a:lnTo>
                  <a:lnTo>
                    <a:pt x="0" y="1554480"/>
                  </a:lnTo>
                  <a:close/>
                </a:path>
              </a:pathLst>
            </a:custGeom>
            <a:blipFill>
              <a:blip r:embed="rId3">
                <a:alphaModFix amt="0"/>
              </a:blip>
              <a:stretch>
                <a:fillRect l="0" t="-190697" r="0" b="-190697"/>
              </a:stretch>
            </a:blipFill>
          </p:spPr>
        </p:sp>
        <p:sp>
          <p:nvSpPr>
            <p:cNvPr name="TextBox 40" id="40"/>
            <p:cNvSpPr txBox="true"/>
            <p:nvPr/>
          </p:nvSpPr>
          <p:spPr>
            <a:xfrm>
              <a:off x="0" y="-123825"/>
              <a:ext cx="19202400" cy="1678305"/>
            </a:xfrm>
            <a:prstGeom prst="rect">
              <a:avLst/>
            </a:prstGeom>
          </p:spPr>
          <p:txBody>
            <a:bodyPr anchor="ctr" rtlCol="false" tIns="0" lIns="0" bIns="0" rIns="0"/>
            <a:lstStyle/>
            <a:p>
              <a:pPr algn="l">
                <a:lnSpc>
                  <a:spcPts val="3375"/>
                </a:lnSpc>
              </a:pPr>
              <a:r>
                <a:rPr lang="en-US" sz="1875">
                  <a:solidFill>
                    <a:srgbClr val="5B6478"/>
                  </a:solidFill>
                  <a:latin typeface="Times New Roman"/>
                  <a:ea typeface="Times New Roman"/>
                  <a:cs typeface="Times New Roman"/>
                  <a:sym typeface="Times New Roman"/>
                </a:rPr>
                <a:t>Our community-partner certificate where issued, and otherwise our survey reports, field photographs and documentation, stand as proof of the work completed.</a:t>
              </a:r>
            </a:p>
          </p:txBody>
        </p:sp>
      </p:grpSp>
      <p:grpSp>
        <p:nvGrpSpPr>
          <p:cNvPr name="Group 41" id="41"/>
          <p:cNvGrpSpPr/>
          <p:nvPr/>
        </p:nvGrpSpPr>
        <p:grpSpPr>
          <a:xfrm rot="0">
            <a:off x="822960" y="9669780"/>
            <a:ext cx="10972800" cy="411480"/>
            <a:chOff x="0" y="0"/>
            <a:chExt cx="14630400" cy="548640"/>
          </a:xfrm>
        </p:grpSpPr>
        <p:sp>
          <p:nvSpPr>
            <p:cNvPr name="Freeform 42" id="42"/>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3" id="43"/>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Financial Literacy Programme · BATCH-13D · MVGR CSE</a:t>
              </a:r>
            </a:p>
          </p:txBody>
        </p:sp>
      </p:grpSp>
      <p:grpSp>
        <p:nvGrpSpPr>
          <p:cNvPr name="Group 44" id="44"/>
          <p:cNvGrpSpPr/>
          <p:nvPr/>
        </p:nvGrpSpPr>
        <p:grpSpPr>
          <a:xfrm rot="0">
            <a:off x="16500348" y="9669780"/>
            <a:ext cx="1371600" cy="411480"/>
            <a:chOff x="0" y="0"/>
            <a:chExt cx="1828800" cy="548640"/>
          </a:xfrm>
        </p:grpSpPr>
        <p:sp>
          <p:nvSpPr>
            <p:cNvPr name="Freeform 45" id="45"/>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46" id="46"/>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2 of 21</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754380"/>
            <a:ext cx="15773400" cy="480146"/>
            <a:chOff x="0" y="0"/>
            <a:chExt cx="21031200" cy="640194"/>
          </a:xfrm>
        </p:grpSpPr>
        <p:sp>
          <p:nvSpPr>
            <p:cNvPr name="Freeform 3" id="3"/>
            <p:cNvSpPr/>
            <p:nvPr/>
          </p:nvSpPr>
          <p:spPr>
            <a:xfrm flipH="false" flipV="false" rot="0">
              <a:off x="0" y="0"/>
              <a:ext cx="21031200" cy="640200"/>
            </a:xfrm>
            <a:custGeom>
              <a:avLst/>
              <a:gdLst/>
              <a:ahLst/>
              <a:cxnLst/>
              <a:rect r="r" b="b" t="t" l="l"/>
              <a:pathLst>
                <a:path h="640200" w="21031200">
                  <a:moveTo>
                    <a:pt x="0" y="0"/>
                  </a:moveTo>
                  <a:lnTo>
                    <a:pt x="21031200" y="0"/>
                  </a:lnTo>
                  <a:lnTo>
                    <a:pt x="21031200" y="640200"/>
                  </a:lnTo>
                  <a:lnTo>
                    <a:pt x="0" y="640200"/>
                  </a:lnTo>
                  <a:close/>
                </a:path>
              </a:pathLst>
            </a:custGeom>
            <a:blipFill>
              <a:blip r:embed="rId3">
                <a:alphaModFix amt="0"/>
              </a:blip>
              <a:stretch>
                <a:fillRect l="0" t="-590103" r="0" b="-590102"/>
              </a:stretch>
            </a:blipFill>
          </p:spPr>
        </p:sp>
        <p:sp>
          <p:nvSpPr>
            <p:cNvPr name="TextBox 4" id="4"/>
            <p:cNvSpPr txBox="true"/>
            <p:nvPr/>
          </p:nvSpPr>
          <p:spPr>
            <a:xfrm>
              <a:off x="0" y="-9525"/>
              <a:ext cx="21031200" cy="649719"/>
            </a:xfrm>
            <a:prstGeom prst="rect">
              <a:avLst/>
            </a:prstGeom>
          </p:spPr>
          <p:txBody>
            <a:bodyPr anchor="ctr" rtlCol="false" tIns="0" lIns="0" bIns="0" rIns="0"/>
            <a:lstStyle/>
            <a:p>
              <a:pPr algn="l">
                <a:lnSpc>
                  <a:spcPts val="2160"/>
                </a:lnSpc>
              </a:pPr>
              <a:r>
                <a:rPr lang="en-US" b="true" sz="1800">
                  <a:solidFill>
                    <a:srgbClr val="0E7490"/>
                  </a:solidFill>
                  <a:latin typeface="Courier New Bold"/>
                  <a:ea typeface="Courier New Bold"/>
                  <a:cs typeface="Courier New Bold"/>
                  <a:sym typeface="Courier New Bold"/>
                </a:rPr>
                <a:t>TABLE OF CONTENTS</a:t>
              </a:r>
            </a:p>
          </p:txBody>
        </p:sp>
      </p:grpSp>
      <p:grpSp>
        <p:nvGrpSpPr>
          <p:cNvPr name="Group 5" id="5"/>
          <p:cNvGrpSpPr/>
          <p:nvPr/>
        </p:nvGrpSpPr>
        <p:grpSpPr>
          <a:xfrm rot="0">
            <a:off x="960120" y="1234440"/>
            <a:ext cx="15773400" cy="823046"/>
            <a:chOff x="0" y="0"/>
            <a:chExt cx="21031200" cy="1097394"/>
          </a:xfrm>
        </p:grpSpPr>
        <p:sp>
          <p:nvSpPr>
            <p:cNvPr name="Freeform 6" id="6"/>
            <p:cNvSpPr/>
            <p:nvPr/>
          </p:nvSpPr>
          <p:spPr>
            <a:xfrm flipH="false" flipV="false" rot="0">
              <a:off x="0" y="0"/>
              <a:ext cx="21031200" cy="1097400"/>
            </a:xfrm>
            <a:custGeom>
              <a:avLst/>
              <a:gdLst/>
              <a:ahLst/>
              <a:cxnLst/>
              <a:rect r="r" b="b" t="t" l="l"/>
              <a:pathLst>
                <a:path h="1097400" w="21031200">
                  <a:moveTo>
                    <a:pt x="0" y="0"/>
                  </a:moveTo>
                  <a:lnTo>
                    <a:pt x="21031200" y="0"/>
                  </a:lnTo>
                  <a:lnTo>
                    <a:pt x="21031200" y="1097400"/>
                  </a:lnTo>
                  <a:lnTo>
                    <a:pt x="0" y="1097400"/>
                  </a:lnTo>
                  <a:close/>
                </a:path>
              </a:pathLst>
            </a:custGeom>
            <a:blipFill>
              <a:blip r:embed="rId3">
                <a:alphaModFix amt="0"/>
              </a:blip>
              <a:stretch>
                <a:fillRect l="0" t="-323422" r="0" b="-323422"/>
              </a:stretch>
            </a:blipFill>
          </p:spPr>
        </p:sp>
        <p:sp>
          <p:nvSpPr>
            <p:cNvPr name="TextBox 7" id="7"/>
            <p:cNvSpPr txBox="true"/>
            <p:nvPr/>
          </p:nvSpPr>
          <p:spPr>
            <a:xfrm>
              <a:off x="0" y="0"/>
              <a:ext cx="21031200" cy="1097394"/>
            </a:xfrm>
            <a:prstGeom prst="rect">
              <a:avLst/>
            </a:prstGeom>
          </p:spPr>
          <p:txBody>
            <a:bodyPr anchor="ctr" rtlCol="false" tIns="0" lIns="0" bIns="0" rIns="0"/>
            <a:lstStyle/>
            <a:p>
              <a:pPr algn="l">
                <a:lnSpc>
                  <a:spcPts val="4680"/>
                </a:lnSpc>
              </a:pPr>
              <a:r>
                <a:rPr lang="en-US" b="true" sz="3900">
                  <a:solidFill>
                    <a:srgbClr val="1E2761"/>
                  </a:solidFill>
                  <a:latin typeface="Cambria Bold"/>
                  <a:ea typeface="Cambria Bold"/>
                  <a:cs typeface="Cambria Bold"/>
                  <a:sym typeface="Cambria Bold"/>
                </a:rPr>
                <a:t>What's Inside This Framework</a:t>
              </a:r>
            </a:p>
          </p:txBody>
        </p:sp>
      </p:grpSp>
      <p:graphicFrame>
        <p:nvGraphicFramePr>
          <p:cNvPr name="Table 8" id="8"/>
          <p:cNvGraphicFramePr>
            <a:graphicFrameLocks noGrp="true"/>
          </p:cNvGraphicFramePr>
          <p:nvPr/>
        </p:nvGraphicFramePr>
        <p:xfrm>
          <a:off x="960120" y="2400300"/>
          <a:ext cx="16287750" cy="2286000"/>
        </p:xfrm>
        <a:graphic>
          <a:graphicData uri="http://schemas.openxmlformats.org/drawingml/2006/table">
            <a:tbl>
              <a:tblPr/>
              <a:tblGrid>
                <a:gridCol w="1111819"/>
                <a:gridCol w="2601738"/>
                <a:gridCol w="6800678"/>
                <a:gridCol w="3008093"/>
                <a:gridCol w="1382710"/>
                <a:gridCol w="1382710"/>
              </a:tblGrid>
              <a:tr h="571500">
                <a:tc>
                  <a:txBody>
                    <a:bodyPr anchor="t" rtlCol="false"/>
                    <a:lstStyle/>
                    <a:p>
                      <a:pPr algn="l">
                        <a:lnSpc>
                          <a:spcPts val="1980"/>
                        </a:lnSpc>
                        <a:defRPr/>
                      </a:pPr>
                      <a:r>
                        <a:rPr lang="en-US" b="true" sz="1650">
                          <a:solidFill>
                            <a:srgbClr val="FFFFFF"/>
                          </a:solidFill>
                          <a:latin typeface="Arial Bold"/>
                          <a:ea typeface="Arial Bold"/>
                          <a:cs typeface="Arial Bold"/>
                          <a:sym typeface="Arial Bold"/>
                        </a:rPr>
                        <a:t>#</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1E2761"/>
                    </a:solidFill>
                  </a:tcPr>
                </a:tc>
                <a:tc>
                  <a:txBody>
                    <a:bodyPr anchor="t" rtlCol="false"/>
                    <a:lstStyle/>
                    <a:p>
                      <a:pPr algn="l">
                        <a:lnSpc>
                          <a:spcPts val="1980"/>
                        </a:lnSpc>
                        <a:defRPr/>
                      </a:pPr>
                      <a:r>
                        <a:rPr lang="en-US" b="true" sz="1650">
                          <a:solidFill>
                            <a:srgbClr val="FFFFFF"/>
                          </a:solidFill>
                          <a:latin typeface="Arial Bold"/>
                          <a:ea typeface="Arial Bold"/>
                          <a:cs typeface="Arial Bold"/>
                          <a:sym typeface="Arial Bold"/>
                        </a:rPr>
                        <a:t>Section</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1E2761"/>
                    </a:solidFill>
                  </a:tcPr>
                </a:tc>
                <a:tc>
                  <a:txBody>
                    <a:bodyPr anchor="t" rtlCol="false"/>
                    <a:lstStyle/>
                    <a:p>
                      <a:pPr algn="l">
                        <a:lnSpc>
                          <a:spcPts val="1980"/>
                        </a:lnSpc>
                        <a:defRPr/>
                      </a:pPr>
                      <a:r>
                        <a:rPr lang="en-US" b="true" sz="1650">
                          <a:solidFill>
                            <a:srgbClr val="FFFFFF"/>
                          </a:solidFill>
                          <a:latin typeface="Arial Bold"/>
                          <a:ea typeface="Arial Bold"/>
                          <a:cs typeface="Arial Bold"/>
                          <a:sym typeface="Arial Bold"/>
                        </a:rPr>
                        <a:t>Title</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1E2761"/>
                    </a:solidFill>
                  </a:tcPr>
                </a:tc>
                <a:tc>
                  <a:txBody>
                    <a:bodyPr anchor="t" rtlCol="false"/>
                    <a:lstStyle/>
                    <a:p>
                      <a:pPr algn="l">
                        <a:lnSpc>
                          <a:spcPts val="1980"/>
                        </a:lnSpc>
                        <a:defRPr/>
                      </a:pPr>
                      <a:r>
                        <a:rPr lang="en-US" b="true" sz="1650">
                          <a:solidFill>
                            <a:srgbClr val="FFFFFF"/>
                          </a:solidFill>
                          <a:latin typeface="Arial Bold"/>
                          <a:ea typeface="Arial Bold"/>
                          <a:cs typeface="Arial Bold"/>
                          <a:sym typeface="Arial Bold"/>
                        </a:rPr>
                        <a:t>When</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1E2761"/>
                    </a:solidFill>
                  </a:tcPr>
                </a:tc>
                <a:tc>
                  <a:txBody>
                    <a:bodyPr anchor="t" rtlCol="false"/>
                    <a:lstStyle/>
                    <a:p>
                      <a:pPr algn="l">
                        <a:lnSpc>
                          <a:spcPts val="1980"/>
                        </a:lnSpc>
                        <a:defRPr/>
                      </a:pPr>
                      <a:r>
                        <a:rPr lang="en-US" b="true" sz="1650">
                          <a:solidFill>
                            <a:srgbClr val="FFFFFF"/>
                          </a:solidFill>
                          <a:latin typeface="Arial Bold"/>
                          <a:ea typeface="Arial Bold"/>
                          <a:cs typeface="Arial Bold"/>
                          <a:sym typeface="Arial Bold"/>
                        </a:rPr>
                        <a:t>Marks</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1E2761"/>
                    </a:solidFill>
                  </a:tcPr>
                </a:tc>
                <a:tc>
                  <a:txBody>
                    <a:bodyPr anchor="t" rtlCol="false"/>
                    <a:lstStyle/>
                    <a:p>
                      <a:pPr algn="l">
                        <a:lnSpc>
                          <a:spcPts val="1980"/>
                        </a:lnSpc>
                        <a:defRPr/>
                      </a:pPr>
                      <a:r>
                        <a:rPr lang="en-US" b="true" sz="1650">
                          <a:solidFill>
                            <a:srgbClr val="FFFFFF"/>
                          </a:solidFill>
                          <a:latin typeface="Arial Bold"/>
                          <a:ea typeface="Arial Bold"/>
                          <a:cs typeface="Arial Bold"/>
                          <a:sym typeface="Arial Bold"/>
                        </a:rPr>
                        <a:t>Slides (guide)</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1E2761"/>
                    </a:solidFill>
                  </a:tcPr>
                </a:tc>
              </a:tr>
              <a:tr h="571500">
                <a:tc>
                  <a:txBody>
                    <a:bodyPr anchor="t" rtlCol="false"/>
                    <a:lstStyle/>
                    <a:p>
                      <a:pPr algn="l">
                        <a:lnSpc>
                          <a:spcPts val="1980"/>
                        </a:lnSpc>
                        <a:defRPr/>
                      </a:pPr>
                      <a:r>
                        <a:rPr lang="en-US" sz="1650">
                          <a:solidFill>
                            <a:srgbClr val="1A1A2E"/>
                          </a:solidFill>
                          <a:latin typeface="Arial"/>
                          <a:ea typeface="Arial"/>
                          <a:cs typeface="Arial"/>
                          <a:sym typeface="Arial"/>
                        </a:rPr>
                        <a:t>00</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Project Cover</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Shared identity — appears once</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1</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A1A2E"/>
                          </a:solidFill>
                          <a:latin typeface="Arial"/>
                          <a:ea typeface="Arial"/>
                          <a:cs typeface="Arial"/>
                          <a:sym typeface="Arial"/>
                        </a:rPr>
                        <a:t>01</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Review 1</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Problem Identification &amp; Planning</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Week 2–3 of Sem V</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10</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8</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A1A2E"/>
                          </a:solidFill>
                          <a:latin typeface="Arial"/>
                          <a:ea typeface="Arial"/>
                          <a:cs typeface="Arial"/>
                          <a:sym typeface="Arial"/>
                        </a:rPr>
                        <a:t>02</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Review 2 · Final</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Progress, Execution &amp; Final Evaluation</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Week 8–16 of Sem V</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40</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10</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bl>
          </a:graphicData>
        </a:graphic>
      </p:graphicFrame>
      <p:grpSp>
        <p:nvGrpSpPr>
          <p:cNvPr name="Group 9" id="9"/>
          <p:cNvGrpSpPr/>
          <p:nvPr/>
        </p:nvGrpSpPr>
        <p:grpSpPr>
          <a:xfrm rot="0">
            <a:off x="1371600" y="4869180"/>
            <a:ext cx="15567746" cy="548554"/>
            <a:chOff x="0" y="0"/>
            <a:chExt cx="20756994" cy="731406"/>
          </a:xfrm>
        </p:grpSpPr>
        <p:sp>
          <p:nvSpPr>
            <p:cNvPr name="Freeform 10" id="10"/>
            <p:cNvSpPr/>
            <p:nvPr/>
          </p:nvSpPr>
          <p:spPr>
            <a:xfrm flipH="false" flipV="false" rot="0">
              <a:off x="0" y="0"/>
              <a:ext cx="20757000" cy="731400"/>
            </a:xfrm>
            <a:custGeom>
              <a:avLst/>
              <a:gdLst/>
              <a:ahLst/>
              <a:cxnLst/>
              <a:rect r="r" b="b" t="t" l="l"/>
              <a:pathLst>
                <a:path h="731400" w="20757000">
                  <a:moveTo>
                    <a:pt x="0" y="0"/>
                  </a:moveTo>
                  <a:lnTo>
                    <a:pt x="20757000" y="0"/>
                  </a:lnTo>
                  <a:lnTo>
                    <a:pt x="20757000" y="731400"/>
                  </a:lnTo>
                  <a:lnTo>
                    <a:pt x="0" y="731400"/>
                  </a:lnTo>
                  <a:close/>
                </a:path>
              </a:pathLst>
            </a:custGeom>
            <a:blipFill>
              <a:blip r:embed="rId3">
                <a:alphaModFix amt="0"/>
              </a:blip>
              <a:stretch>
                <a:fillRect l="0" t="-502981" r="0" b="-502982"/>
              </a:stretch>
            </a:blipFill>
          </p:spPr>
        </p:sp>
        <p:sp>
          <p:nvSpPr>
            <p:cNvPr name="TextBox 11" id="11"/>
            <p:cNvSpPr txBox="true"/>
            <p:nvPr/>
          </p:nvSpPr>
          <p:spPr>
            <a:xfrm>
              <a:off x="0" y="-38100"/>
              <a:ext cx="20756994" cy="769506"/>
            </a:xfrm>
            <a:prstGeom prst="rect">
              <a:avLst/>
            </a:prstGeom>
          </p:spPr>
          <p:txBody>
            <a:bodyPr anchor="ctr" rtlCol="false" tIns="0" lIns="0" bIns="0" rIns="0"/>
            <a:lstStyle/>
            <a:p>
              <a:pPr algn="l">
                <a:lnSpc>
                  <a:spcPts val="2160"/>
                </a:lnSpc>
              </a:pPr>
              <a:r>
                <a:rPr lang="en-US" sz="1800" i="true">
                  <a:solidFill>
                    <a:srgbClr val="5B6478"/>
                  </a:solidFill>
                  <a:latin typeface="Calibri (MS) Italics"/>
                  <a:ea typeface="Calibri (MS) Italics"/>
                  <a:cs typeface="Calibri (MS) Italics"/>
                  <a:sym typeface="Calibri (MS) Italics"/>
                </a:rPr>
                <a:t>Total: 50 marks across 2 reviews  ·  Review 2 is FINAL — Report(/20) + Viva(/15) + Cert(/5).</a:t>
              </a:r>
            </a:p>
          </p:txBody>
        </p:sp>
      </p:grpSp>
      <p:grpSp>
        <p:nvGrpSpPr>
          <p:cNvPr name="Group 12" id="12"/>
          <p:cNvGrpSpPr/>
          <p:nvPr/>
        </p:nvGrpSpPr>
        <p:grpSpPr>
          <a:xfrm rot="0">
            <a:off x="1371600" y="5417820"/>
            <a:ext cx="15567746" cy="685800"/>
            <a:chOff x="0" y="0"/>
            <a:chExt cx="20756994" cy="914400"/>
          </a:xfrm>
        </p:grpSpPr>
        <p:sp>
          <p:nvSpPr>
            <p:cNvPr name="Freeform 13" id="13"/>
            <p:cNvSpPr/>
            <p:nvPr/>
          </p:nvSpPr>
          <p:spPr>
            <a:xfrm flipH="false" flipV="false" rot="0">
              <a:off x="0" y="0"/>
              <a:ext cx="20757000" cy="914400"/>
            </a:xfrm>
            <a:custGeom>
              <a:avLst/>
              <a:gdLst/>
              <a:ahLst/>
              <a:cxnLst/>
              <a:rect r="r" b="b" t="t" l="l"/>
              <a:pathLst>
                <a:path h="914400" w="20757000">
                  <a:moveTo>
                    <a:pt x="0" y="0"/>
                  </a:moveTo>
                  <a:lnTo>
                    <a:pt x="20757000" y="0"/>
                  </a:lnTo>
                  <a:lnTo>
                    <a:pt x="20757000" y="914400"/>
                  </a:lnTo>
                  <a:lnTo>
                    <a:pt x="0" y="914400"/>
                  </a:lnTo>
                  <a:close/>
                </a:path>
              </a:pathLst>
            </a:custGeom>
            <a:blipFill>
              <a:blip r:embed="rId3">
                <a:alphaModFix amt="0"/>
              </a:blip>
              <a:stretch>
                <a:fillRect l="0" t="-392312" r="0" b="-392312"/>
              </a:stretch>
            </a:blipFill>
          </p:spPr>
        </p:sp>
        <p:sp>
          <p:nvSpPr>
            <p:cNvPr name="TextBox 14" id="14"/>
            <p:cNvSpPr txBox="true"/>
            <p:nvPr/>
          </p:nvSpPr>
          <p:spPr>
            <a:xfrm>
              <a:off x="0" y="-28575"/>
              <a:ext cx="20756994" cy="942975"/>
            </a:xfrm>
            <a:prstGeom prst="rect">
              <a:avLst/>
            </a:prstGeom>
          </p:spPr>
          <p:txBody>
            <a:bodyPr anchor="ctr" rtlCol="false" tIns="0" lIns="0" bIns="0" rIns="0"/>
            <a:lstStyle/>
            <a:p>
              <a:pPr algn="l">
                <a:lnSpc>
                  <a:spcPts val="1980"/>
                </a:lnSpc>
              </a:pPr>
              <a:r>
                <a:rPr lang="en-US" sz="1650" i="true">
                  <a:solidFill>
                    <a:srgbClr val="5B6478"/>
                  </a:solidFill>
                  <a:latin typeface="Calibri (MS) Italics"/>
                  <a:ea typeface="Calibri (MS) Italics"/>
                  <a:cs typeface="Calibri (MS) Italics"/>
                  <a:sym typeface="Calibri (MS) Italics"/>
                </a:rPr>
                <a:t>"Cert" = the certificate issued by your community partner, OR — where one is not issued — your online/offline survey reports, photos, or other proof of work.</a:t>
              </a:r>
            </a:p>
          </p:txBody>
        </p:sp>
      </p:grpSp>
      <p:grpSp>
        <p:nvGrpSpPr>
          <p:cNvPr name="Group 15" id="15"/>
          <p:cNvGrpSpPr/>
          <p:nvPr/>
        </p:nvGrpSpPr>
        <p:grpSpPr>
          <a:xfrm rot="0">
            <a:off x="822960" y="9669780"/>
            <a:ext cx="10972800" cy="411299"/>
            <a:chOff x="0" y="0"/>
            <a:chExt cx="14630400" cy="548399"/>
          </a:xfrm>
        </p:grpSpPr>
        <p:sp>
          <p:nvSpPr>
            <p:cNvPr name="Freeform 16" id="16"/>
            <p:cNvSpPr/>
            <p:nvPr/>
          </p:nvSpPr>
          <p:spPr>
            <a:xfrm flipH="false" flipV="false" rot="0">
              <a:off x="0" y="0"/>
              <a:ext cx="14630400" cy="548400"/>
            </a:xfrm>
            <a:custGeom>
              <a:avLst/>
              <a:gdLst/>
              <a:ahLst/>
              <a:cxnLst/>
              <a:rect r="r" b="b" t="t" l="l"/>
              <a:pathLst>
                <a:path h="548400" w="14630400">
                  <a:moveTo>
                    <a:pt x="0" y="0"/>
                  </a:moveTo>
                  <a:lnTo>
                    <a:pt x="14630400" y="0"/>
                  </a:lnTo>
                  <a:lnTo>
                    <a:pt x="14630400" y="548400"/>
                  </a:lnTo>
                  <a:lnTo>
                    <a:pt x="0" y="548400"/>
                  </a:lnTo>
                  <a:close/>
                </a:path>
              </a:pathLst>
            </a:custGeom>
            <a:blipFill>
              <a:blip r:embed="rId3">
                <a:alphaModFix amt="0"/>
              </a:blip>
              <a:stretch>
                <a:fillRect l="0" t="-469828" r="0" b="-469828"/>
              </a:stretch>
            </a:blipFill>
          </p:spPr>
        </p:sp>
        <p:sp>
          <p:nvSpPr>
            <p:cNvPr name="TextBox 17" id="17"/>
            <p:cNvSpPr txBox="true"/>
            <p:nvPr/>
          </p:nvSpPr>
          <p:spPr>
            <a:xfrm>
              <a:off x="0" y="-28575"/>
              <a:ext cx="14630400" cy="576974"/>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Community Project Review Presentation Framework · MVGR CSE</a:t>
              </a:r>
            </a:p>
          </p:txBody>
        </p:sp>
      </p:grpSp>
      <p:grpSp>
        <p:nvGrpSpPr>
          <p:cNvPr name="Group 18" id="18"/>
          <p:cNvGrpSpPr/>
          <p:nvPr/>
        </p:nvGrpSpPr>
        <p:grpSpPr>
          <a:xfrm rot="0">
            <a:off x="16500348" y="9669780"/>
            <a:ext cx="1371600" cy="411299"/>
            <a:chOff x="0" y="0"/>
            <a:chExt cx="1828800" cy="548399"/>
          </a:xfrm>
        </p:grpSpPr>
        <p:sp>
          <p:nvSpPr>
            <p:cNvPr name="Freeform 19" id="19"/>
            <p:cNvSpPr/>
            <p:nvPr/>
          </p:nvSpPr>
          <p:spPr>
            <a:xfrm flipH="false" flipV="false" rot="0">
              <a:off x="0" y="0"/>
              <a:ext cx="1828800" cy="548400"/>
            </a:xfrm>
            <a:custGeom>
              <a:avLst/>
              <a:gdLst/>
              <a:ahLst/>
              <a:cxnLst/>
              <a:rect r="r" b="b" t="t" l="l"/>
              <a:pathLst>
                <a:path h="548400" w="1828800">
                  <a:moveTo>
                    <a:pt x="0" y="0"/>
                  </a:moveTo>
                  <a:lnTo>
                    <a:pt x="1828800" y="0"/>
                  </a:lnTo>
                  <a:lnTo>
                    <a:pt x="1828800" y="548400"/>
                  </a:lnTo>
                  <a:lnTo>
                    <a:pt x="0" y="548400"/>
                  </a:lnTo>
                  <a:close/>
                </a:path>
              </a:pathLst>
            </a:custGeom>
            <a:blipFill>
              <a:blip r:embed="rId3">
                <a:alphaModFix amt="0"/>
              </a:blip>
              <a:stretch>
                <a:fillRect l="0" t="-14978" r="0" b="-14978"/>
              </a:stretch>
            </a:blipFill>
          </p:spPr>
        </p:sp>
        <p:sp>
          <p:nvSpPr>
            <p:cNvPr name="TextBox 20" id="20"/>
            <p:cNvSpPr txBox="true"/>
            <p:nvPr/>
          </p:nvSpPr>
          <p:spPr>
            <a:xfrm>
              <a:off x="0" y="-28575"/>
              <a:ext cx="1828800" cy="576974"/>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3 of 22</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2263140"/>
            <a:chOff x="0" y="0"/>
            <a:chExt cx="24383390" cy="3017520"/>
          </a:xfrm>
        </p:grpSpPr>
        <p:sp>
          <p:nvSpPr>
            <p:cNvPr name="Freeform 3" id="3"/>
            <p:cNvSpPr/>
            <p:nvPr/>
          </p:nvSpPr>
          <p:spPr>
            <a:xfrm flipH="false" flipV="false" rot="0">
              <a:off x="0" y="0"/>
              <a:ext cx="24383364" cy="3017520"/>
            </a:xfrm>
            <a:custGeom>
              <a:avLst/>
              <a:gdLst/>
              <a:ahLst/>
              <a:cxnLst/>
              <a:rect r="r" b="b" t="t" l="l"/>
              <a:pathLst>
                <a:path h="3017520" w="24383364">
                  <a:moveTo>
                    <a:pt x="0" y="0"/>
                  </a:moveTo>
                  <a:lnTo>
                    <a:pt x="24383364" y="0"/>
                  </a:lnTo>
                  <a:lnTo>
                    <a:pt x="24383364" y="3017520"/>
                  </a:lnTo>
                  <a:lnTo>
                    <a:pt x="0" y="3017520"/>
                  </a:lnTo>
                  <a:close/>
                </a:path>
              </a:pathLst>
            </a:custGeom>
            <a:solidFill>
              <a:srgbClr val="F7F9FD"/>
            </a:solidFill>
          </p:spPr>
        </p:sp>
      </p:grpSp>
      <p:grpSp>
        <p:nvGrpSpPr>
          <p:cNvPr name="Group 4" id="4"/>
          <p:cNvGrpSpPr/>
          <p:nvPr/>
        </p:nvGrpSpPr>
        <p:grpSpPr>
          <a:xfrm rot="0">
            <a:off x="384048" y="205740"/>
            <a:ext cx="1851660" cy="1851660"/>
            <a:chOff x="0" y="0"/>
            <a:chExt cx="2468880" cy="2468880"/>
          </a:xfrm>
        </p:grpSpPr>
        <p:sp>
          <p:nvSpPr>
            <p:cNvPr name="Freeform 5" id="5" descr="/home/claude/batch7d/img_opt/logo.jpg"/>
            <p:cNvSpPr/>
            <p:nvPr/>
          </p:nvSpPr>
          <p:spPr>
            <a:xfrm flipH="false" flipV="false" rot="0">
              <a:off x="0" y="0"/>
              <a:ext cx="2468880" cy="2468880"/>
            </a:xfrm>
            <a:custGeom>
              <a:avLst/>
              <a:gdLst/>
              <a:ahLst/>
              <a:cxnLst/>
              <a:rect r="r" b="b" t="t" l="l"/>
              <a:pathLst>
                <a:path h="2468880" w="2468880">
                  <a:moveTo>
                    <a:pt x="0" y="0"/>
                  </a:moveTo>
                  <a:lnTo>
                    <a:pt x="2468880" y="0"/>
                  </a:lnTo>
                  <a:lnTo>
                    <a:pt x="2468880" y="2468880"/>
                  </a:lnTo>
                  <a:lnTo>
                    <a:pt x="0" y="2468880"/>
                  </a:lnTo>
                  <a:lnTo>
                    <a:pt x="0" y="0"/>
                  </a:lnTo>
                  <a:close/>
                </a:path>
              </a:pathLst>
            </a:custGeom>
            <a:blipFill>
              <a:blip r:embed="rId3"/>
              <a:stretch>
                <a:fillRect l="0" t="0" r="-77777" b="0"/>
              </a:stretch>
            </a:blipFill>
          </p:spPr>
        </p:sp>
      </p:grpSp>
      <p:grpSp>
        <p:nvGrpSpPr>
          <p:cNvPr name="Group 6" id="6"/>
          <p:cNvGrpSpPr/>
          <p:nvPr/>
        </p:nvGrpSpPr>
        <p:grpSpPr>
          <a:xfrm rot="0">
            <a:off x="2537479" y="960101"/>
            <a:ext cx="15087600" cy="1206903"/>
            <a:chOff x="0" y="0"/>
            <a:chExt cx="20116800" cy="1609204"/>
          </a:xfrm>
        </p:grpSpPr>
        <p:sp>
          <p:nvSpPr>
            <p:cNvPr name="Freeform 7" id="7"/>
            <p:cNvSpPr/>
            <p:nvPr/>
          </p:nvSpPr>
          <p:spPr>
            <a:xfrm flipH="false" flipV="false" rot="0">
              <a:off x="0" y="0"/>
              <a:ext cx="20116800" cy="1609200"/>
            </a:xfrm>
            <a:custGeom>
              <a:avLst/>
              <a:gdLst/>
              <a:ahLst/>
              <a:cxnLst/>
              <a:rect r="r" b="b" t="t" l="l"/>
              <a:pathLst>
                <a:path h="1609200" w="20116800">
                  <a:moveTo>
                    <a:pt x="0" y="0"/>
                  </a:moveTo>
                  <a:lnTo>
                    <a:pt x="20116800" y="0"/>
                  </a:lnTo>
                  <a:lnTo>
                    <a:pt x="20116800" y="1609200"/>
                  </a:lnTo>
                  <a:lnTo>
                    <a:pt x="0" y="1609200"/>
                  </a:lnTo>
                  <a:close/>
                </a:path>
              </a:pathLst>
            </a:custGeom>
            <a:blipFill>
              <a:blip r:embed="rId4">
                <a:alphaModFix amt="0"/>
              </a:blip>
              <a:stretch>
                <a:fillRect l="0" t="-193584" r="0" b="-193584"/>
              </a:stretch>
            </a:blipFill>
          </p:spPr>
        </p:sp>
        <p:sp>
          <p:nvSpPr>
            <p:cNvPr name="TextBox 8" id="8"/>
            <p:cNvSpPr txBox="true"/>
            <p:nvPr/>
          </p:nvSpPr>
          <p:spPr>
            <a:xfrm>
              <a:off x="0" y="-19050"/>
              <a:ext cx="20116800" cy="1628254"/>
            </a:xfrm>
            <a:prstGeom prst="rect">
              <a:avLst/>
            </a:prstGeom>
          </p:spPr>
          <p:txBody>
            <a:bodyPr anchor="ctr" rtlCol="false" tIns="0" lIns="0" bIns="0" rIns="0"/>
            <a:lstStyle/>
            <a:p>
              <a:pPr algn="ctr">
                <a:lnSpc>
                  <a:spcPts val="3960"/>
                </a:lnSpc>
              </a:pPr>
              <a:r>
                <a:rPr lang="en-US" b="true" sz="3300">
                  <a:solidFill>
                    <a:srgbClr val="1E2761"/>
                  </a:solidFill>
                  <a:latin typeface="Times New Roman Bold"/>
                  <a:ea typeface="Times New Roman Bold"/>
                  <a:cs typeface="Times New Roman Bold"/>
                  <a:sym typeface="Times New Roman Bold"/>
                </a:rPr>
                <a:t>DEPARTMENT OF COMPUTER SCIENCE &amp; ENGINEERING</a:t>
              </a:r>
            </a:p>
            <a:p>
              <a:pPr algn="ctr">
                <a:lnSpc>
                  <a:spcPts val="3960"/>
                </a:lnSpc>
              </a:pPr>
              <a:r>
                <a:rPr lang="en-US" b="true" sz="3300">
                  <a:solidFill>
                    <a:srgbClr val="1E2761"/>
                  </a:solidFill>
                  <a:latin typeface="Times New Roman Bold"/>
                  <a:ea typeface="Times New Roman Bold"/>
                  <a:cs typeface="Times New Roman Bold"/>
                  <a:sym typeface="Times New Roman Bold"/>
                </a:rPr>
                <a:t>MVGR COLLEGE OF ENGINEERING (A)  ·  </a:t>
              </a:r>
            </a:p>
          </p:txBody>
        </p:sp>
      </p:grpSp>
      <p:grpSp>
        <p:nvGrpSpPr>
          <p:cNvPr name="Group 9" id="9"/>
          <p:cNvGrpSpPr/>
          <p:nvPr/>
        </p:nvGrpSpPr>
        <p:grpSpPr>
          <a:xfrm rot="0">
            <a:off x="822960" y="2674620"/>
            <a:ext cx="16596360" cy="1577340"/>
            <a:chOff x="0" y="0"/>
            <a:chExt cx="22128480" cy="2103120"/>
          </a:xfrm>
        </p:grpSpPr>
        <p:sp>
          <p:nvSpPr>
            <p:cNvPr name="Freeform 10" id="10"/>
            <p:cNvSpPr/>
            <p:nvPr/>
          </p:nvSpPr>
          <p:spPr>
            <a:xfrm flipH="false" flipV="false" rot="0">
              <a:off x="0" y="0"/>
              <a:ext cx="22128480" cy="2103120"/>
            </a:xfrm>
            <a:custGeom>
              <a:avLst/>
              <a:gdLst/>
              <a:ahLst/>
              <a:cxnLst/>
              <a:rect r="r" b="b" t="t" l="l"/>
              <a:pathLst>
                <a:path h="2103120" w="22128480">
                  <a:moveTo>
                    <a:pt x="0" y="0"/>
                  </a:moveTo>
                  <a:lnTo>
                    <a:pt x="22128480" y="0"/>
                  </a:lnTo>
                  <a:lnTo>
                    <a:pt x="22128480" y="2103120"/>
                  </a:lnTo>
                  <a:lnTo>
                    <a:pt x="0" y="2103120"/>
                  </a:lnTo>
                  <a:close/>
                </a:path>
              </a:pathLst>
            </a:custGeom>
            <a:solidFill>
              <a:srgbClr val="1E2761"/>
            </a:solidFill>
          </p:spPr>
        </p:sp>
      </p:grpSp>
      <p:grpSp>
        <p:nvGrpSpPr>
          <p:cNvPr name="Group 11" id="11"/>
          <p:cNvGrpSpPr/>
          <p:nvPr/>
        </p:nvGrpSpPr>
        <p:grpSpPr>
          <a:xfrm rot="0">
            <a:off x="1165860" y="2811780"/>
            <a:ext cx="12207240" cy="685800"/>
            <a:chOff x="0" y="0"/>
            <a:chExt cx="16276320" cy="914400"/>
          </a:xfrm>
        </p:grpSpPr>
        <p:sp>
          <p:nvSpPr>
            <p:cNvPr name="Freeform 12" id="12"/>
            <p:cNvSpPr/>
            <p:nvPr/>
          </p:nvSpPr>
          <p:spPr>
            <a:xfrm flipH="false" flipV="false" rot="0">
              <a:off x="0" y="0"/>
              <a:ext cx="16276320" cy="914400"/>
            </a:xfrm>
            <a:custGeom>
              <a:avLst/>
              <a:gdLst/>
              <a:ahLst/>
              <a:cxnLst/>
              <a:rect r="r" b="b" t="t" l="l"/>
              <a:pathLst>
                <a:path h="914400" w="16276320">
                  <a:moveTo>
                    <a:pt x="0" y="0"/>
                  </a:moveTo>
                  <a:lnTo>
                    <a:pt x="16276320" y="0"/>
                  </a:lnTo>
                  <a:lnTo>
                    <a:pt x="16276320" y="914400"/>
                  </a:lnTo>
                  <a:lnTo>
                    <a:pt x="0" y="914400"/>
                  </a:lnTo>
                  <a:close/>
                </a:path>
              </a:pathLst>
            </a:custGeom>
            <a:blipFill>
              <a:blip r:embed="rId4">
                <a:alphaModFix amt="0"/>
              </a:blip>
              <a:stretch>
                <a:fillRect l="0" t="-296833" r="0" b="-296833"/>
              </a:stretch>
            </a:blipFill>
          </p:spPr>
        </p:sp>
        <p:sp>
          <p:nvSpPr>
            <p:cNvPr name="TextBox 13" id="13"/>
            <p:cNvSpPr txBox="true"/>
            <p:nvPr/>
          </p:nvSpPr>
          <p:spPr>
            <a:xfrm>
              <a:off x="0" y="-28575"/>
              <a:ext cx="16276320" cy="942975"/>
            </a:xfrm>
            <a:prstGeom prst="rect">
              <a:avLst/>
            </a:prstGeom>
          </p:spPr>
          <p:txBody>
            <a:bodyPr anchor="ctr" rtlCol="false" tIns="0" lIns="0" bIns="0" rIns="0"/>
            <a:lstStyle/>
            <a:p>
              <a:pPr algn="l">
                <a:lnSpc>
                  <a:spcPts val="3600"/>
                </a:lnSpc>
              </a:pPr>
              <a:r>
                <a:rPr lang="en-US" b="true" sz="3000">
                  <a:solidFill>
                    <a:srgbClr val="FFFFFF"/>
                  </a:solidFill>
                  <a:latin typeface="Times New Roman Bold"/>
                  <a:ea typeface="Times New Roman Bold"/>
                  <a:cs typeface="Times New Roman Bold"/>
                  <a:sym typeface="Times New Roman Bold"/>
                </a:rPr>
                <a:t>Financial Literacy Programme For Rural Youth</a:t>
              </a:r>
            </a:p>
          </p:txBody>
        </p:sp>
      </p:grpSp>
      <p:grpSp>
        <p:nvGrpSpPr>
          <p:cNvPr name="Group 14" id="14"/>
          <p:cNvGrpSpPr/>
          <p:nvPr/>
        </p:nvGrpSpPr>
        <p:grpSpPr>
          <a:xfrm rot="0">
            <a:off x="1165860" y="3566160"/>
            <a:ext cx="12207240" cy="480060"/>
            <a:chOff x="0" y="0"/>
            <a:chExt cx="16276320" cy="640080"/>
          </a:xfrm>
        </p:grpSpPr>
        <p:sp>
          <p:nvSpPr>
            <p:cNvPr name="Freeform 15" id="15"/>
            <p:cNvSpPr/>
            <p:nvPr/>
          </p:nvSpPr>
          <p:spPr>
            <a:xfrm flipH="false" flipV="false" rot="0">
              <a:off x="0" y="0"/>
              <a:ext cx="16276320" cy="640080"/>
            </a:xfrm>
            <a:custGeom>
              <a:avLst/>
              <a:gdLst/>
              <a:ahLst/>
              <a:cxnLst/>
              <a:rect r="r" b="b" t="t" l="l"/>
              <a:pathLst>
                <a:path h="640080" w="16276320">
                  <a:moveTo>
                    <a:pt x="0" y="0"/>
                  </a:moveTo>
                  <a:lnTo>
                    <a:pt x="16276320" y="0"/>
                  </a:lnTo>
                  <a:lnTo>
                    <a:pt x="16276320" y="640080"/>
                  </a:lnTo>
                  <a:lnTo>
                    <a:pt x="0" y="640080"/>
                  </a:lnTo>
                  <a:close/>
                </a:path>
              </a:pathLst>
            </a:custGeom>
            <a:blipFill>
              <a:blip r:embed="rId4">
                <a:alphaModFix amt="0"/>
              </a:blip>
              <a:stretch>
                <a:fillRect l="0" t="-445476" r="0" b="-445476"/>
              </a:stretch>
            </a:blipFill>
          </p:spPr>
        </p:sp>
        <p:sp>
          <p:nvSpPr>
            <p:cNvPr name="TextBox 16" id="16"/>
            <p:cNvSpPr txBox="true"/>
            <p:nvPr/>
          </p:nvSpPr>
          <p:spPr>
            <a:xfrm>
              <a:off x="0" y="-19050"/>
              <a:ext cx="16276320" cy="659130"/>
            </a:xfrm>
            <a:prstGeom prst="rect">
              <a:avLst/>
            </a:prstGeom>
          </p:spPr>
          <p:txBody>
            <a:bodyPr anchor="ctr" rtlCol="false" tIns="0" lIns="0" bIns="0" rIns="0"/>
            <a:lstStyle/>
            <a:p>
              <a:pPr algn="l">
                <a:lnSpc>
                  <a:spcPts val="2160"/>
                </a:lnSpc>
              </a:pPr>
              <a:r>
                <a:rPr lang="en-US" sz="1800">
                  <a:solidFill>
                    <a:srgbClr val="CADCFC"/>
                  </a:solidFill>
                  <a:latin typeface="Times New Roman"/>
                  <a:ea typeface="Times New Roman"/>
                  <a:cs typeface="Times New Roman"/>
                  <a:sym typeface="Times New Roman"/>
                </a:rPr>
                <a:t>Short Form: PS090   ·   Domain: Education</a:t>
              </a:r>
            </a:p>
          </p:txBody>
        </p:sp>
      </p:grpSp>
      <p:grpSp>
        <p:nvGrpSpPr>
          <p:cNvPr name="Group 17" id="17"/>
          <p:cNvGrpSpPr/>
          <p:nvPr/>
        </p:nvGrpSpPr>
        <p:grpSpPr>
          <a:xfrm rot="0">
            <a:off x="13578840" y="2948940"/>
            <a:ext cx="3566160" cy="754380"/>
            <a:chOff x="0" y="0"/>
            <a:chExt cx="4754880" cy="1005840"/>
          </a:xfrm>
        </p:grpSpPr>
        <p:sp>
          <p:nvSpPr>
            <p:cNvPr name="Freeform 18" id="18"/>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solidFill>
              <a:srgbClr val="141A44"/>
            </a:solidFill>
          </p:spPr>
        </p:sp>
      </p:grpSp>
      <p:grpSp>
        <p:nvGrpSpPr>
          <p:cNvPr name="Group 19" id="19"/>
          <p:cNvGrpSpPr/>
          <p:nvPr/>
        </p:nvGrpSpPr>
        <p:grpSpPr>
          <a:xfrm rot="0">
            <a:off x="13578840" y="2948940"/>
            <a:ext cx="3566160" cy="754380"/>
            <a:chOff x="0" y="0"/>
            <a:chExt cx="4754880" cy="1005840"/>
          </a:xfrm>
        </p:grpSpPr>
        <p:sp>
          <p:nvSpPr>
            <p:cNvPr name="Freeform 20" id="20"/>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4">
                <a:alphaModFix amt="0"/>
              </a:blip>
              <a:stretch>
                <a:fillRect l="0" t="-42111" r="0" b="-42111"/>
              </a:stretch>
            </a:blipFill>
          </p:spPr>
        </p:sp>
        <p:sp>
          <p:nvSpPr>
            <p:cNvPr name="TextBox 21" id="21"/>
            <p:cNvSpPr txBox="true"/>
            <p:nvPr/>
          </p:nvSpPr>
          <p:spPr>
            <a:xfrm>
              <a:off x="0" y="-19050"/>
              <a:ext cx="4754880" cy="102489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PROJECT OVERVIEW</a:t>
              </a:r>
            </a:p>
          </p:txBody>
        </p:sp>
      </p:grpSp>
      <p:grpSp>
        <p:nvGrpSpPr>
          <p:cNvPr name="Group 22" id="22"/>
          <p:cNvGrpSpPr/>
          <p:nvPr/>
        </p:nvGrpSpPr>
        <p:grpSpPr>
          <a:xfrm rot="0">
            <a:off x="13578840" y="3771900"/>
            <a:ext cx="3566160" cy="411480"/>
            <a:chOff x="0" y="0"/>
            <a:chExt cx="4754880" cy="548640"/>
          </a:xfrm>
        </p:grpSpPr>
        <p:sp>
          <p:nvSpPr>
            <p:cNvPr name="Freeform 23" id="23"/>
            <p:cNvSpPr/>
            <p:nvPr/>
          </p:nvSpPr>
          <p:spPr>
            <a:xfrm flipH="false" flipV="false" rot="0">
              <a:off x="0" y="0"/>
              <a:ext cx="4754880" cy="548640"/>
            </a:xfrm>
            <a:custGeom>
              <a:avLst/>
              <a:gdLst/>
              <a:ahLst/>
              <a:cxnLst/>
              <a:rect r="r" b="b" t="t" l="l"/>
              <a:pathLst>
                <a:path h="548640" w="4754880">
                  <a:moveTo>
                    <a:pt x="0" y="0"/>
                  </a:moveTo>
                  <a:lnTo>
                    <a:pt x="4754880" y="0"/>
                  </a:lnTo>
                  <a:lnTo>
                    <a:pt x="4754880" y="548640"/>
                  </a:lnTo>
                  <a:lnTo>
                    <a:pt x="0" y="548640"/>
                  </a:lnTo>
                  <a:close/>
                </a:path>
              </a:pathLst>
            </a:custGeom>
            <a:blipFill>
              <a:blip r:embed="rId4">
                <a:alphaModFix amt="0"/>
              </a:blip>
              <a:stretch>
                <a:fillRect l="0" t="-118870" r="0" b="-118870"/>
              </a:stretch>
            </a:blipFill>
          </p:spPr>
        </p:sp>
        <p:sp>
          <p:nvSpPr>
            <p:cNvPr name="TextBox 24" id="24"/>
            <p:cNvSpPr txBox="true"/>
            <p:nvPr/>
          </p:nvSpPr>
          <p:spPr>
            <a:xfrm>
              <a:off x="0" y="-28575"/>
              <a:ext cx="4754880" cy="577215"/>
            </a:xfrm>
            <a:prstGeom prst="rect">
              <a:avLst/>
            </a:prstGeom>
          </p:spPr>
          <p:txBody>
            <a:bodyPr anchor="ctr" rtlCol="false" tIns="0" lIns="0" bIns="0" rIns="0"/>
            <a:lstStyle/>
            <a:p>
              <a:pPr algn="l">
                <a:lnSpc>
                  <a:spcPts val="1620"/>
                </a:lnSpc>
              </a:pPr>
              <a:r>
                <a:rPr lang="en-US" sz="1350">
                  <a:solidFill>
                    <a:srgbClr val="CADCFC"/>
                  </a:solidFill>
                  <a:latin typeface="Calibri (MS)"/>
                  <a:ea typeface="Calibri (MS)"/>
                  <a:cs typeface="Calibri (MS)"/>
                  <a:sym typeface="Calibri (MS)"/>
                </a:rPr>
                <a:t>Entered once — carried through every slide</a:t>
              </a:r>
            </a:p>
          </p:txBody>
        </p:sp>
      </p:grpSp>
      <p:grpSp>
        <p:nvGrpSpPr>
          <p:cNvPr name="Group 25" id="25"/>
          <p:cNvGrpSpPr/>
          <p:nvPr/>
        </p:nvGrpSpPr>
        <p:grpSpPr>
          <a:xfrm rot="0">
            <a:off x="822960" y="4594860"/>
            <a:ext cx="16596360" cy="548640"/>
            <a:chOff x="0" y="0"/>
            <a:chExt cx="22128480" cy="731520"/>
          </a:xfrm>
        </p:grpSpPr>
        <p:sp>
          <p:nvSpPr>
            <p:cNvPr name="Freeform 26" id="26"/>
            <p:cNvSpPr/>
            <p:nvPr/>
          </p:nvSpPr>
          <p:spPr>
            <a:xfrm flipH="false" flipV="false" rot="0">
              <a:off x="0" y="0"/>
              <a:ext cx="22128480" cy="731520"/>
            </a:xfrm>
            <a:custGeom>
              <a:avLst/>
              <a:gdLst/>
              <a:ahLst/>
              <a:cxnLst/>
              <a:rect r="r" b="b" t="t" l="l"/>
              <a:pathLst>
                <a:path h="731520" w="22128480">
                  <a:moveTo>
                    <a:pt x="0" y="0"/>
                  </a:moveTo>
                  <a:lnTo>
                    <a:pt x="22128480" y="0"/>
                  </a:lnTo>
                  <a:lnTo>
                    <a:pt x="22128480" y="731520"/>
                  </a:lnTo>
                  <a:lnTo>
                    <a:pt x="0" y="731520"/>
                  </a:lnTo>
                  <a:close/>
                </a:path>
              </a:pathLst>
            </a:custGeom>
            <a:blipFill>
              <a:blip r:embed="rId4">
                <a:alphaModFix amt="0"/>
              </a:blip>
              <a:stretch>
                <a:fillRect l="0" t="-539422" r="0" b="-539422"/>
              </a:stretch>
            </a:blipFill>
          </p:spPr>
        </p:sp>
        <p:sp>
          <p:nvSpPr>
            <p:cNvPr name="TextBox 27" id="27"/>
            <p:cNvSpPr txBox="true"/>
            <p:nvPr/>
          </p:nvSpPr>
          <p:spPr>
            <a:xfrm>
              <a:off x="0" y="-19050"/>
              <a:ext cx="22128480" cy="750570"/>
            </a:xfrm>
            <a:prstGeom prst="rect">
              <a:avLst/>
            </a:prstGeom>
          </p:spPr>
          <p:txBody>
            <a:bodyPr anchor="ctr" rtlCol="false" tIns="0" lIns="0" bIns="0" rIns="0"/>
            <a:lstStyle/>
            <a:p>
              <a:pPr algn="l">
                <a:lnSpc>
                  <a:spcPts val="2700"/>
                </a:lnSpc>
              </a:pPr>
              <a:r>
                <a:rPr lang="en-US" b="true" sz="2250">
                  <a:solidFill>
                    <a:srgbClr val="1E2761"/>
                  </a:solidFill>
                  <a:latin typeface="Times New Roman Bold"/>
                  <a:ea typeface="Times New Roman Bold"/>
                  <a:cs typeface="Times New Roman Bold"/>
                  <a:sym typeface="Times New Roman Bold"/>
                </a:rPr>
                <a:t>Equipping rural Class XII students with foundational financial literacy — savings, UPI safety, insurance &amp; govt. schemes, and financial planning — with actionable next steps.</a:t>
              </a:r>
            </a:p>
          </p:txBody>
        </p:sp>
      </p:grpSp>
      <p:grpSp>
        <p:nvGrpSpPr>
          <p:cNvPr name="Group 28" id="28"/>
          <p:cNvGrpSpPr/>
          <p:nvPr/>
        </p:nvGrpSpPr>
        <p:grpSpPr>
          <a:xfrm rot="0">
            <a:off x="822960" y="5349240"/>
            <a:ext cx="9806940" cy="3154680"/>
            <a:chOff x="0" y="0"/>
            <a:chExt cx="13075920" cy="4206240"/>
          </a:xfrm>
        </p:grpSpPr>
        <p:sp>
          <p:nvSpPr>
            <p:cNvPr name="Freeform 29" id="29"/>
            <p:cNvSpPr/>
            <p:nvPr/>
          </p:nvSpPr>
          <p:spPr>
            <a:xfrm flipH="false" flipV="false" rot="0">
              <a:off x="0" y="0"/>
              <a:ext cx="13075920" cy="4206240"/>
            </a:xfrm>
            <a:custGeom>
              <a:avLst/>
              <a:gdLst/>
              <a:ahLst/>
              <a:cxnLst/>
              <a:rect r="r" b="b" t="t" l="l"/>
              <a:pathLst>
                <a:path h="4206240" w="13075920">
                  <a:moveTo>
                    <a:pt x="0" y="0"/>
                  </a:moveTo>
                  <a:lnTo>
                    <a:pt x="13075920" y="0"/>
                  </a:lnTo>
                  <a:lnTo>
                    <a:pt x="13075920" y="4206240"/>
                  </a:lnTo>
                  <a:lnTo>
                    <a:pt x="0" y="4206240"/>
                  </a:lnTo>
                  <a:close/>
                </a:path>
              </a:pathLst>
            </a:custGeom>
            <a:solidFill>
              <a:srgbClr val="F6F8FC"/>
            </a:solidFill>
          </p:spPr>
        </p:sp>
      </p:grpSp>
      <p:grpSp>
        <p:nvGrpSpPr>
          <p:cNvPr name="Group 30" id="30"/>
          <p:cNvGrpSpPr/>
          <p:nvPr/>
        </p:nvGrpSpPr>
        <p:grpSpPr>
          <a:xfrm rot="0">
            <a:off x="1165860" y="5554980"/>
            <a:ext cx="9121140" cy="411480"/>
            <a:chOff x="0" y="0"/>
            <a:chExt cx="12161520" cy="548640"/>
          </a:xfrm>
        </p:grpSpPr>
        <p:sp>
          <p:nvSpPr>
            <p:cNvPr name="Freeform 31" id="3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4">
                <a:alphaModFix amt="0"/>
              </a:blip>
              <a:stretch>
                <a:fillRect l="0" t="-381918" r="0" b="-381918"/>
              </a:stretch>
            </a:blipFill>
          </p:spPr>
        </p:sp>
        <p:sp>
          <p:nvSpPr>
            <p:cNvPr name="TextBox 32" id="3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0E7490"/>
                  </a:solidFill>
                  <a:latin typeface="Times New Roman Bold"/>
                  <a:ea typeface="Times New Roman Bold"/>
                  <a:cs typeface="Times New Roman Bold"/>
                  <a:sym typeface="Times New Roman Bold"/>
                </a:rPr>
                <a:t>BATCH MEMBER DETAILS</a:t>
              </a:r>
            </a:p>
          </p:txBody>
        </p:sp>
      </p:grpSp>
      <p:graphicFrame>
        <p:nvGraphicFramePr>
          <p:cNvPr name="Table 33" id="33"/>
          <p:cNvGraphicFramePr>
            <a:graphicFrameLocks noGrp="true"/>
          </p:cNvGraphicFramePr>
          <p:nvPr/>
        </p:nvGraphicFramePr>
        <p:xfrm>
          <a:off x="1165860" y="6007608"/>
          <a:ext cx="9105900" cy="2286000"/>
        </p:xfrm>
        <a:graphic>
          <a:graphicData uri="http://schemas.openxmlformats.org/drawingml/2006/table">
            <a:tbl>
              <a:tblPr/>
              <a:tblGrid>
                <a:gridCol w="6355982"/>
                <a:gridCol w="2749918"/>
              </a:tblGrid>
              <a:tr h="457200">
                <a:tc>
                  <a:txBody>
                    <a:bodyPr anchor="t" rtlCol="false"/>
                    <a:lstStyle/>
                    <a:p>
                      <a:pPr algn="l">
                        <a:lnSpc>
                          <a:spcPts val="2520"/>
                        </a:lnSpc>
                        <a:defRPr/>
                      </a:pPr>
                      <a:r>
                        <a:rPr lang="en-US" b="true" sz="2100">
                          <a:solidFill>
                            <a:srgbClr val="1E2761"/>
                          </a:solidFill>
                          <a:latin typeface="Times New Roman Bold"/>
                          <a:ea typeface="Times New Roman Bold"/>
                          <a:cs typeface="Times New Roman Bold"/>
                          <a:sym typeface="Times New Roman Bold"/>
                        </a:rPr>
                        <a:t>Name</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2520"/>
                        </a:lnSpc>
                        <a:defRPr/>
                      </a:pPr>
                      <a:r>
                        <a:rPr lang="en-US" b="true" sz="2100">
                          <a:solidFill>
                            <a:srgbClr val="1E2761"/>
                          </a:solidFill>
                          <a:latin typeface="Times New Roman Bold"/>
                          <a:ea typeface="Times New Roman Bold"/>
                          <a:cs typeface="Times New Roman Bold"/>
                          <a:sym typeface="Times New Roman Bold"/>
                        </a:rPr>
                        <a:t>Roll No.</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457200">
                <a:tc>
                  <a:txBody>
                    <a:bodyPr anchor="t" rtlCol="false"/>
                    <a:lstStyle/>
                    <a:p>
                      <a:pPr algn="l">
                        <a:lnSpc>
                          <a:spcPts val="2520"/>
                        </a:lnSpc>
                        <a:defRPr/>
                      </a:pPr>
                      <a:r>
                        <a:rPr lang="en-US" sz="2100">
                          <a:solidFill>
                            <a:srgbClr val="1A1A2E"/>
                          </a:solidFill>
                          <a:latin typeface="Times New Roman"/>
                          <a:ea typeface="Times New Roman"/>
                          <a:cs typeface="Times New Roman"/>
                          <a:sym typeface="Times New Roman"/>
                        </a:rPr>
                        <a:t>Pitta Venkata Suri Reddy (Batch Leader)</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2520"/>
                        </a:lnSpc>
                        <a:defRPr/>
                      </a:pPr>
                      <a:r>
                        <a:rPr lang="en-US" sz="2100">
                          <a:solidFill>
                            <a:srgbClr val="1A1A2E"/>
                          </a:solidFill>
                          <a:latin typeface="Times New Roman"/>
                          <a:ea typeface="Times New Roman"/>
                          <a:cs typeface="Times New Roman"/>
                          <a:sym typeface="Times New Roman"/>
                        </a:rPr>
                        <a:t>24331A05N4</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457200">
                <a:tc>
                  <a:txBody>
                    <a:bodyPr anchor="t" rtlCol="false"/>
                    <a:lstStyle/>
                    <a:p>
                      <a:pPr algn="l">
                        <a:lnSpc>
                          <a:spcPts val="2520"/>
                        </a:lnSpc>
                        <a:defRPr/>
                      </a:pPr>
                      <a:r>
                        <a:rPr lang="en-US" sz="2100">
                          <a:solidFill>
                            <a:srgbClr val="1A1A2E"/>
                          </a:solidFill>
                          <a:latin typeface="Times New Roman"/>
                          <a:ea typeface="Times New Roman"/>
                          <a:cs typeface="Times New Roman"/>
                          <a:sym typeface="Times New Roman"/>
                        </a:rPr>
                        <a:t>Pontapalli Rohith</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2520"/>
                        </a:lnSpc>
                        <a:defRPr/>
                      </a:pPr>
                      <a:r>
                        <a:rPr lang="en-US" sz="2100">
                          <a:solidFill>
                            <a:srgbClr val="1A1A2E"/>
                          </a:solidFill>
                          <a:latin typeface="Times New Roman"/>
                          <a:ea typeface="Times New Roman"/>
                          <a:cs typeface="Times New Roman"/>
                          <a:sym typeface="Times New Roman"/>
                        </a:rPr>
                        <a:t>24331A05N6</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457200">
                <a:tc>
                  <a:txBody>
                    <a:bodyPr anchor="t" rtlCol="false"/>
                    <a:lstStyle/>
                    <a:p>
                      <a:pPr algn="l">
                        <a:lnSpc>
                          <a:spcPts val="2520"/>
                        </a:lnSpc>
                        <a:defRPr/>
                      </a:pPr>
                      <a:r>
                        <a:rPr lang="en-US" sz="2100">
                          <a:solidFill>
                            <a:srgbClr val="1A1A2E"/>
                          </a:solidFill>
                          <a:latin typeface="Times New Roman"/>
                          <a:ea typeface="Times New Roman"/>
                          <a:cs typeface="Times New Roman"/>
                          <a:sym typeface="Times New Roman"/>
                        </a:rPr>
                        <a:t>Pentakota Lalith Lakshya</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2520"/>
                        </a:lnSpc>
                        <a:defRPr/>
                      </a:pPr>
                      <a:r>
                        <a:rPr lang="en-US" sz="2100">
                          <a:solidFill>
                            <a:srgbClr val="1A1A2E"/>
                          </a:solidFill>
                          <a:latin typeface="Times New Roman"/>
                          <a:ea typeface="Times New Roman"/>
                          <a:cs typeface="Times New Roman"/>
                          <a:sym typeface="Times New Roman"/>
                        </a:rPr>
                        <a:t>24331A05M8</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457200">
                <a:tc>
                  <a:txBody>
                    <a:bodyPr anchor="t" rtlCol="false"/>
                    <a:lstStyle/>
                    <a:p>
                      <a:pPr algn="l">
                        <a:lnSpc>
                          <a:spcPts val="2520"/>
                        </a:lnSpc>
                        <a:defRPr/>
                      </a:pPr>
                      <a:r>
                        <a:rPr lang="en-US" sz="2100">
                          <a:solidFill>
                            <a:srgbClr val="1A1A2E"/>
                          </a:solidFill>
                          <a:latin typeface="Times New Roman"/>
                          <a:ea typeface="Times New Roman"/>
                          <a:cs typeface="Times New Roman"/>
                          <a:sym typeface="Times New Roman"/>
                        </a:rPr>
                        <a:t>Polaki Likitha</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2520"/>
                        </a:lnSpc>
                        <a:defRPr/>
                      </a:pPr>
                      <a:r>
                        <a:rPr lang="en-US" sz="2100">
                          <a:solidFill>
                            <a:srgbClr val="1A1A2E"/>
                          </a:solidFill>
                          <a:latin typeface="Times New Roman"/>
                          <a:ea typeface="Times New Roman"/>
                          <a:cs typeface="Times New Roman"/>
                          <a:sym typeface="Times New Roman"/>
                        </a:rPr>
                        <a:t>25335A0520</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bl>
          </a:graphicData>
        </a:graphic>
      </p:graphicFrame>
      <p:grpSp>
        <p:nvGrpSpPr>
          <p:cNvPr name="Group 34" id="34"/>
          <p:cNvGrpSpPr/>
          <p:nvPr/>
        </p:nvGrpSpPr>
        <p:grpSpPr>
          <a:xfrm rot="0">
            <a:off x="10972800" y="5349240"/>
            <a:ext cx="6515100" cy="3154680"/>
            <a:chOff x="0" y="0"/>
            <a:chExt cx="8686800" cy="4206240"/>
          </a:xfrm>
        </p:grpSpPr>
        <p:sp>
          <p:nvSpPr>
            <p:cNvPr name="Freeform 35" id="35"/>
            <p:cNvSpPr/>
            <p:nvPr/>
          </p:nvSpPr>
          <p:spPr>
            <a:xfrm flipH="false" flipV="false" rot="0">
              <a:off x="0" y="0"/>
              <a:ext cx="8686800" cy="4206240"/>
            </a:xfrm>
            <a:custGeom>
              <a:avLst/>
              <a:gdLst/>
              <a:ahLst/>
              <a:cxnLst/>
              <a:rect r="r" b="b" t="t" l="l"/>
              <a:pathLst>
                <a:path h="4206240" w="8686800">
                  <a:moveTo>
                    <a:pt x="0" y="0"/>
                  </a:moveTo>
                  <a:lnTo>
                    <a:pt x="8686800" y="0"/>
                  </a:lnTo>
                  <a:lnTo>
                    <a:pt x="8686800" y="4206240"/>
                  </a:lnTo>
                  <a:lnTo>
                    <a:pt x="0" y="4206240"/>
                  </a:lnTo>
                  <a:close/>
                </a:path>
              </a:pathLst>
            </a:custGeom>
            <a:solidFill>
              <a:srgbClr val="FBFCFE"/>
            </a:solidFill>
          </p:spPr>
        </p:sp>
      </p:grpSp>
      <p:grpSp>
        <p:nvGrpSpPr>
          <p:cNvPr name="Group 36" id="36"/>
          <p:cNvGrpSpPr/>
          <p:nvPr/>
        </p:nvGrpSpPr>
        <p:grpSpPr>
          <a:xfrm rot="0">
            <a:off x="10629900" y="4899660"/>
            <a:ext cx="6858000" cy="4415149"/>
            <a:chOff x="0" y="0"/>
            <a:chExt cx="9144000" cy="5886865"/>
          </a:xfrm>
        </p:grpSpPr>
        <p:sp>
          <p:nvSpPr>
            <p:cNvPr name="Freeform 37" id="37"/>
            <p:cNvSpPr/>
            <p:nvPr/>
          </p:nvSpPr>
          <p:spPr>
            <a:xfrm flipH="false" flipV="false" rot="0">
              <a:off x="0" y="0"/>
              <a:ext cx="9144002" cy="5886865"/>
            </a:xfrm>
            <a:custGeom>
              <a:avLst/>
              <a:gdLst/>
              <a:ahLst/>
              <a:cxnLst/>
              <a:rect r="r" b="b" t="t" l="l"/>
              <a:pathLst>
                <a:path h="5886865" w="9144002">
                  <a:moveTo>
                    <a:pt x="0" y="0"/>
                  </a:moveTo>
                  <a:lnTo>
                    <a:pt x="9144002" y="0"/>
                  </a:lnTo>
                  <a:lnTo>
                    <a:pt x="9144002" y="5886865"/>
                  </a:lnTo>
                  <a:lnTo>
                    <a:pt x="0" y="5886865"/>
                  </a:lnTo>
                  <a:close/>
                </a:path>
              </a:pathLst>
            </a:custGeom>
            <a:blipFill>
              <a:blip r:embed="rId4">
                <a:alphaModFix amt="0"/>
              </a:blip>
              <a:stretch>
                <a:fillRect l="-3079" t="0" r="437" b="37868"/>
              </a:stretch>
            </a:blipFill>
          </p:spPr>
        </p:sp>
        <p:sp>
          <p:nvSpPr>
            <p:cNvPr name="TextBox 38" id="38"/>
            <p:cNvSpPr txBox="true"/>
            <p:nvPr/>
          </p:nvSpPr>
          <p:spPr>
            <a:xfrm>
              <a:off x="0" y="-209550"/>
              <a:ext cx="9144000" cy="6096415"/>
            </a:xfrm>
            <a:prstGeom prst="rect">
              <a:avLst/>
            </a:prstGeom>
          </p:spPr>
          <p:txBody>
            <a:bodyPr anchor="ctr" rtlCol="false" tIns="0" lIns="0" bIns="0" rIns="0"/>
            <a:lstStyle/>
            <a:p>
              <a:pPr algn="l">
                <a:lnSpc>
                  <a:spcPts val="4559"/>
                </a:lnSpc>
              </a:pPr>
              <a:r>
                <a:rPr lang="en-US" b="true" sz="2100">
                  <a:solidFill>
                    <a:srgbClr val="0E7490"/>
                  </a:solidFill>
                  <a:latin typeface="Times New Roman Bold"/>
                  <a:ea typeface="Times New Roman Bold"/>
                  <a:cs typeface="Times New Roman Bold"/>
                  <a:sym typeface="Times New Roman Bold"/>
                </a:rPr>
                <a:t>BATCH ID   BATCH-13D · Sec D</a:t>
              </a:r>
            </a:p>
            <a:p>
              <a:pPr algn="l">
                <a:lnSpc>
                  <a:spcPts val="4559"/>
                </a:lnSpc>
              </a:pPr>
            </a:p>
            <a:p>
              <a:pPr algn="l">
                <a:lnSpc>
                  <a:spcPts val="4559"/>
                </a:lnSpc>
              </a:pPr>
              <a:r>
                <a:rPr lang="en-US" sz="2100">
                  <a:solidFill>
                    <a:srgbClr val="1A1A2E"/>
                  </a:solidFill>
                  <a:latin typeface="Times New Roman"/>
                  <a:ea typeface="Times New Roman"/>
                  <a:cs typeface="Times New Roman"/>
                  <a:sym typeface="Times New Roman"/>
                </a:rPr>
                <a:t>PROJECT IN-CHARGE   Dr. P. Rama Santosh Naidu &amp; </a:t>
              </a:r>
            </a:p>
            <a:p>
              <a:pPr algn="l">
                <a:lnSpc>
                  <a:spcPts val="4559"/>
                </a:lnSpc>
              </a:pPr>
              <a:r>
                <a:rPr lang="en-US" sz="2100">
                  <a:solidFill>
                    <a:srgbClr val="1A1A2E"/>
                  </a:solidFill>
                  <a:latin typeface="Times New Roman"/>
                  <a:ea typeface="Times New Roman"/>
                  <a:cs typeface="Times New Roman"/>
                  <a:sym typeface="Times New Roman"/>
                </a:rPr>
                <a:t>Mr. R. Ravi Kumar</a:t>
              </a:r>
            </a:p>
            <a:p>
              <a:pPr algn="l">
                <a:lnSpc>
                  <a:spcPts val="4559"/>
                </a:lnSpc>
              </a:pPr>
            </a:p>
            <a:p>
              <a:pPr algn="l">
                <a:lnSpc>
                  <a:spcPts val="4559"/>
                </a:lnSpc>
              </a:pPr>
              <a:r>
                <a:rPr lang="en-US" sz="2100">
                  <a:solidFill>
                    <a:srgbClr val="1A1A2E"/>
                  </a:solidFill>
                  <a:latin typeface="Times New Roman"/>
                  <a:ea typeface="Times New Roman"/>
                  <a:cs typeface="Times New Roman"/>
                  <a:sym typeface="Times New Roman"/>
                </a:rPr>
                <a:t>COMMUNITY PARTNER   Govt. Junior College, Vizianagaram Town (Code: 02197)</a:t>
              </a:r>
            </a:p>
            <a:p>
              <a:pPr algn="l">
                <a:lnSpc>
                  <a:spcPts val="4559"/>
                </a:lnSpc>
              </a:pPr>
            </a:p>
          </p:txBody>
        </p:sp>
      </p:grpSp>
      <p:grpSp>
        <p:nvGrpSpPr>
          <p:cNvPr name="Group 39" id="39"/>
          <p:cNvGrpSpPr/>
          <p:nvPr/>
        </p:nvGrpSpPr>
        <p:grpSpPr>
          <a:xfrm rot="0">
            <a:off x="815816" y="8702516"/>
            <a:ext cx="16610648" cy="590360"/>
            <a:chOff x="0" y="0"/>
            <a:chExt cx="22147530" cy="787146"/>
          </a:xfrm>
        </p:grpSpPr>
        <p:sp>
          <p:nvSpPr>
            <p:cNvPr name="Freeform 40" id="40"/>
            <p:cNvSpPr/>
            <p:nvPr/>
          </p:nvSpPr>
          <p:spPr>
            <a:xfrm flipH="false" flipV="false" rot="0">
              <a:off x="0" y="0"/>
              <a:ext cx="22147530" cy="787146"/>
            </a:xfrm>
            <a:custGeom>
              <a:avLst/>
              <a:gdLst/>
              <a:ahLst/>
              <a:cxnLst/>
              <a:rect r="r" b="b" t="t" l="l"/>
              <a:pathLst>
                <a:path h="787146" w="22147530">
                  <a:moveTo>
                    <a:pt x="0" y="0"/>
                  </a:moveTo>
                  <a:lnTo>
                    <a:pt x="22147530" y="0"/>
                  </a:lnTo>
                  <a:lnTo>
                    <a:pt x="22147530" y="787146"/>
                  </a:lnTo>
                  <a:lnTo>
                    <a:pt x="0" y="787146"/>
                  </a:lnTo>
                  <a:close/>
                </a:path>
              </a:pathLst>
            </a:custGeom>
            <a:solidFill>
              <a:srgbClr val="FFF7EC"/>
            </a:solidFill>
            <a:ln w="14288" cap="sq">
              <a:solidFill>
                <a:srgbClr val="F0B429"/>
              </a:solidFill>
              <a:prstDash val="solid"/>
              <a:miter/>
            </a:ln>
          </p:spPr>
        </p:sp>
      </p:grpSp>
      <p:grpSp>
        <p:nvGrpSpPr>
          <p:cNvPr name="Group 41" id="41"/>
          <p:cNvGrpSpPr/>
          <p:nvPr/>
        </p:nvGrpSpPr>
        <p:grpSpPr>
          <a:xfrm rot="0">
            <a:off x="1097280" y="8709660"/>
            <a:ext cx="16047720" cy="576072"/>
            <a:chOff x="0" y="0"/>
            <a:chExt cx="21396960" cy="768096"/>
          </a:xfrm>
        </p:grpSpPr>
        <p:sp>
          <p:nvSpPr>
            <p:cNvPr name="Freeform 42" id="42"/>
            <p:cNvSpPr/>
            <p:nvPr/>
          </p:nvSpPr>
          <p:spPr>
            <a:xfrm flipH="false" flipV="false" rot="0">
              <a:off x="0" y="0"/>
              <a:ext cx="21396961" cy="768096"/>
            </a:xfrm>
            <a:custGeom>
              <a:avLst/>
              <a:gdLst/>
              <a:ahLst/>
              <a:cxnLst/>
              <a:rect r="r" b="b" t="t" l="l"/>
              <a:pathLst>
                <a:path h="768096" w="21396961">
                  <a:moveTo>
                    <a:pt x="0" y="0"/>
                  </a:moveTo>
                  <a:lnTo>
                    <a:pt x="21396961" y="0"/>
                  </a:lnTo>
                  <a:lnTo>
                    <a:pt x="21396961" y="768096"/>
                  </a:lnTo>
                  <a:lnTo>
                    <a:pt x="0" y="768096"/>
                  </a:lnTo>
                  <a:close/>
                </a:path>
              </a:pathLst>
            </a:custGeom>
            <a:blipFill>
              <a:blip r:embed="rId4">
                <a:alphaModFix amt="0"/>
              </a:blip>
              <a:stretch>
                <a:fillRect l="0" t="-492797" r="0" b="-492797"/>
              </a:stretch>
            </a:blipFill>
          </p:spPr>
        </p:sp>
        <p:sp>
          <p:nvSpPr>
            <p:cNvPr name="TextBox 43" id="43"/>
            <p:cNvSpPr txBox="true"/>
            <p:nvPr/>
          </p:nvSpPr>
          <p:spPr>
            <a:xfrm>
              <a:off x="0" y="-19050"/>
              <a:ext cx="21396960" cy="787146"/>
            </a:xfrm>
            <a:prstGeom prst="rect">
              <a:avLst/>
            </a:prstGeom>
          </p:spPr>
          <p:txBody>
            <a:bodyPr anchor="ctr" rtlCol="false" tIns="0" lIns="0" bIns="0" rIns="0"/>
            <a:lstStyle/>
            <a:p>
              <a:pPr algn="l">
                <a:lnSpc>
                  <a:spcPts val="2160"/>
                </a:lnSpc>
              </a:pPr>
              <a:r>
                <a:rPr lang="en-US" b="true" sz="1800">
                  <a:solidFill>
                    <a:srgbClr val="1E2761"/>
                  </a:solidFill>
                  <a:latin typeface="Times New Roman Bold"/>
                  <a:ea typeface="Times New Roman Bold"/>
                  <a:cs typeface="Times New Roman Bold"/>
                  <a:sym typeface="Times New Roman Bold"/>
                </a:rPr>
                <a:t>  ☑  Review 1 — PLANNING GATE     →     ☑  Review 2 — FINAL EVALUATION GATE  </a:t>
              </a:r>
            </a:p>
          </p:txBody>
        </p:sp>
      </p:grpSp>
      <p:grpSp>
        <p:nvGrpSpPr>
          <p:cNvPr name="Group 44" id="44"/>
          <p:cNvGrpSpPr/>
          <p:nvPr/>
        </p:nvGrpSpPr>
        <p:grpSpPr>
          <a:xfrm rot="0">
            <a:off x="822960" y="9354312"/>
            <a:ext cx="16596360" cy="411480"/>
            <a:chOff x="0" y="0"/>
            <a:chExt cx="22128480" cy="548640"/>
          </a:xfrm>
        </p:grpSpPr>
        <p:sp>
          <p:nvSpPr>
            <p:cNvPr name="Freeform 45" id="45"/>
            <p:cNvSpPr/>
            <p:nvPr/>
          </p:nvSpPr>
          <p:spPr>
            <a:xfrm flipH="false" flipV="false" rot="0">
              <a:off x="0" y="0"/>
              <a:ext cx="22128480" cy="548640"/>
            </a:xfrm>
            <a:custGeom>
              <a:avLst/>
              <a:gdLst/>
              <a:ahLst/>
              <a:cxnLst/>
              <a:rect r="r" b="b" t="t" l="l"/>
              <a:pathLst>
                <a:path h="548640" w="22128480">
                  <a:moveTo>
                    <a:pt x="0" y="0"/>
                  </a:moveTo>
                  <a:lnTo>
                    <a:pt x="22128480" y="0"/>
                  </a:lnTo>
                  <a:lnTo>
                    <a:pt x="22128480" y="548640"/>
                  </a:lnTo>
                  <a:lnTo>
                    <a:pt x="0" y="548640"/>
                  </a:lnTo>
                  <a:close/>
                </a:path>
              </a:pathLst>
            </a:custGeom>
            <a:blipFill>
              <a:blip r:embed="rId4">
                <a:alphaModFix amt="0"/>
              </a:blip>
              <a:stretch>
                <a:fillRect l="0" t="-735896" r="0" b="-735896"/>
              </a:stretch>
            </a:blipFill>
          </p:spPr>
        </p:sp>
        <p:sp>
          <p:nvSpPr>
            <p:cNvPr name="TextBox 46" id="46"/>
            <p:cNvSpPr txBox="true"/>
            <p:nvPr/>
          </p:nvSpPr>
          <p:spPr>
            <a:xfrm>
              <a:off x="0" y="-19050"/>
              <a:ext cx="22128480" cy="567690"/>
            </a:xfrm>
            <a:prstGeom prst="rect">
              <a:avLst/>
            </a:prstGeom>
          </p:spPr>
          <p:txBody>
            <a:bodyPr anchor="ctr" rtlCol="false" tIns="0" lIns="0" bIns="0" rIns="0"/>
            <a:lstStyle/>
            <a:p>
              <a:pPr algn="l">
                <a:lnSpc>
                  <a:spcPts val="1800"/>
                </a:lnSpc>
              </a:pPr>
              <a:r>
                <a:rPr lang="en-US" sz="1500" i="true">
                  <a:solidFill>
                    <a:srgbClr val="8896AB"/>
                  </a:solidFill>
                  <a:latin typeface="Times New Roman Italics"/>
                  <a:ea typeface="Times New Roman Italics"/>
                  <a:cs typeface="Times New Roman Italics"/>
                  <a:sym typeface="Times New Roman Italics"/>
                </a:rPr>
                <a:t>Both reviews complete — this deck covers the full project from planning to final execution.</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01</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Problem Statement Recap</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0E7490"/>
                  </a:solidFill>
                  <a:latin typeface="Times New Roman Bold"/>
                  <a:ea typeface="Times New Roman Bold"/>
                  <a:cs typeface="Times New Roman Bold"/>
                  <a:sym typeface="Times New Roman Bold"/>
                </a:rPr>
                <a:t>REVIEW 1 · SLIDE 1 OF 8 · DECK SLIDE 5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0E7490"/>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PLANNING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0E7490"/>
                  </a:solidFill>
                  <a:latin typeface="Times New Roman Bold"/>
                  <a:ea typeface="Times New Roman Bold"/>
                  <a:cs typeface="Times New Roman Bold"/>
                  <a:sym typeface="Times New Roman Bold"/>
                </a:rPr>
                <a:t>AT A GLANCE</a:t>
              </a:r>
            </a:p>
          </p:txBody>
        </p:sp>
      </p:grpSp>
      <p:sp>
        <p:nvSpPr>
          <p:cNvPr name="TextBox 23" id="23"/>
          <p:cNvSpPr txBox="true"/>
          <p:nvPr/>
        </p:nvSpPr>
        <p:spPr>
          <a:xfrm rot="0">
            <a:off x="1257281" y="2545823"/>
            <a:ext cx="8938289" cy="6666776"/>
          </a:xfrm>
          <a:prstGeom prst="rect">
            <a:avLst/>
          </a:prstGeom>
        </p:spPr>
        <p:txBody>
          <a:bodyPr anchor="t" rtlCol="false" tIns="0" lIns="0" bIns="0" rIns="0">
            <a:spAutoFit/>
          </a:bodyPr>
          <a:lstStyle/>
          <a:p>
            <a:pPr algn="l" marL="370524" indent="-185262" lvl="1">
              <a:lnSpc>
                <a:spcPts val="3780"/>
              </a:lnSpc>
              <a:buFont typeface="Arial"/>
              <a:buChar char="•"/>
            </a:pPr>
            <a:r>
              <a:rPr lang="en-US" sz="2100">
                <a:solidFill>
                  <a:srgbClr val="1A1A2E"/>
                </a:solidFill>
                <a:latin typeface="Times New Roman"/>
                <a:ea typeface="Times New Roman"/>
                <a:cs typeface="Times New Roman"/>
                <a:sym typeface="Times New Roman"/>
              </a:rPr>
              <a:t>PS090 · Financial Literacy Programme For Rural Youth</a:t>
            </a:r>
          </a:p>
          <a:p>
            <a:pPr algn="l" marL="370524" indent="-185262" lvl="1">
              <a:lnSpc>
                <a:spcPts val="3780"/>
              </a:lnSpc>
              <a:buFont typeface="Arial"/>
              <a:buChar char="•"/>
            </a:pPr>
            <a:r>
              <a:rPr lang="en-US" sz="2100">
                <a:solidFill>
                  <a:srgbClr val="1A1A2E"/>
                </a:solidFill>
                <a:latin typeface="Times New Roman"/>
                <a:ea typeface="Times New Roman"/>
                <a:cs typeface="Times New Roman"/>
                <a:sym typeface="Times New Roman"/>
              </a:rPr>
              <a:t>Domain: Education</a:t>
            </a:r>
          </a:p>
          <a:p>
            <a:pPr algn="l" marL="370524" indent="-185262" lvl="1">
              <a:lnSpc>
                <a:spcPts val="3780"/>
              </a:lnSpc>
              <a:buFont typeface="Arial"/>
              <a:buChar char="•"/>
            </a:pPr>
            <a:r>
              <a:rPr lang="en-US" sz="2100">
                <a:solidFill>
                  <a:srgbClr val="1A1A2E"/>
                </a:solidFill>
                <a:latin typeface="Times New Roman"/>
                <a:ea typeface="Times New Roman"/>
                <a:cs typeface="Times New Roman"/>
                <a:sym typeface="Times New Roman"/>
              </a:rPr>
              <a:t>BATCH-13D · Section D · 4 Members</a:t>
            </a:r>
          </a:p>
          <a:p>
            <a:pPr algn="l" marL="370524" indent="-185262" lvl="1">
              <a:lnSpc>
                <a:spcPts val="3780"/>
              </a:lnSpc>
              <a:buFont typeface="Arial"/>
              <a:buChar char="•"/>
            </a:pPr>
            <a:r>
              <a:rPr lang="en-US" sz="2100">
                <a:solidFill>
                  <a:srgbClr val="1A1A2E"/>
                </a:solidFill>
                <a:latin typeface="Times New Roman"/>
                <a:ea typeface="Times New Roman"/>
                <a:cs typeface="Times New Roman"/>
                <a:sym typeface="Times New Roman"/>
              </a:rPr>
              <a:t>Community Partner: Govt. Junior College, Vizianagaram Town</a:t>
            </a:r>
          </a:p>
          <a:p>
            <a:pPr algn="l" marL="370524" indent="-185262" lvl="1">
              <a:lnSpc>
                <a:spcPts val="3780"/>
              </a:lnSpc>
              <a:buFont typeface="Arial"/>
              <a:buChar char="•"/>
            </a:pPr>
            <a:r>
              <a:rPr lang="en-US" sz="2100">
                <a:solidFill>
                  <a:srgbClr val="1A1A2E"/>
                </a:solidFill>
                <a:latin typeface="Times New Roman"/>
                <a:ea typeface="Times New Roman"/>
                <a:cs typeface="Times New Roman"/>
                <a:sym typeface="Times New Roman"/>
              </a:rPr>
              <a:t>Guides: Dr. P. Rama Santosh Naidu &amp; Mr. R. Ravi Kumar, Dept. of CSE</a:t>
            </a:r>
          </a:p>
        </p:txBody>
      </p:sp>
      <p:grpSp>
        <p:nvGrpSpPr>
          <p:cNvPr name="Group 24" id="24"/>
          <p:cNvGrpSpPr/>
          <p:nvPr/>
        </p:nvGrpSpPr>
        <p:grpSpPr>
          <a:xfrm rot="0">
            <a:off x="10972800" y="1920240"/>
            <a:ext cx="6515100" cy="7475220"/>
            <a:chOff x="0" y="0"/>
            <a:chExt cx="8686800" cy="9966960"/>
          </a:xfrm>
        </p:grpSpPr>
        <p:sp>
          <p:nvSpPr>
            <p:cNvPr name="Freeform 25" id="25" descr="/home/claude/batch7d/img_opt/r1_1.jpg"/>
            <p:cNvSpPr/>
            <p:nvPr/>
          </p:nvSpPr>
          <p:spPr>
            <a:xfrm flipH="false" flipV="false" rot="0">
              <a:off x="0" y="0"/>
              <a:ext cx="8686800" cy="9966960"/>
            </a:xfrm>
            <a:custGeom>
              <a:avLst/>
              <a:gdLst/>
              <a:ahLst/>
              <a:cxnLst/>
              <a:rect r="r" b="b" t="t" l="l"/>
              <a:pathLst>
                <a:path h="9966960" w="8686800">
                  <a:moveTo>
                    <a:pt x="0" y="0"/>
                  </a:moveTo>
                  <a:lnTo>
                    <a:pt x="8686800" y="0"/>
                  </a:lnTo>
                  <a:lnTo>
                    <a:pt x="8686800" y="9966960"/>
                  </a:lnTo>
                  <a:lnTo>
                    <a:pt x="0" y="9966960"/>
                  </a:lnTo>
                  <a:lnTo>
                    <a:pt x="0" y="0"/>
                  </a:lnTo>
                  <a:close/>
                </a:path>
              </a:pathLst>
            </a:custGeom>
            <a:blipFill>
              <a:blip r:embed="rId4"/>
              <a:stretch>
                <a:fillRect l="0" t="0" r="-103976" b="0"/>
              </a:stretch>
            </a:blipFill>
          </p:spPr>
        </p:sp>
      </p:grpSp>
      <p:grpSp>
        <p:nvGrpSpPr>
          <p:cNvPr name="Group 26" id="26"/>
          <p:cNvGrpSpPr/>
          <p:nvPr/>
        </p:nvGrpSpPr>
        <p:grpSpPr>
          <a:xfrm rot="0">
            <a:off x="822960" y="9669780"/>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1 — Problem Identification &amp; Planning · Week 2–3 of Sem V</a:t>
              </a:r>
            </a:p>
          </p:txBody>
        </p:sp>
      </p:grpSp>
      <p:grpSp>
        <p:nvGrpSpPr>
          <p:cNvPr name="Group 29" id="29"/>
          <p:cNvGrpSpPr/>
          <p:nvPr/>
        </p:nvGrpSpPr>
        <p:grpSpPr>
          <a:xfrm rot="0">
            <a:off x="12077697" y="9788316"/>
            <a:ext cx="5794251" cy="292944"/>
            <a:chOff x="0" y="0"/>
            <a:chExt cx="1828800" cy="92460"/>
          </a:xfrm>
        </p:grpSpPr>
        <p:sp>
          <p:nvSpPr>
            <p:cNvPr name="Freeform 30" id="30"/>
            <p:cNvSpPr/>
            <p:nvPr/>
          </p:nvSpPr>
          <p:spPr>
            <a:xfrm flipH="false" flipV="false" rot="0">
              <a:off x="0" y="0"/>
              <a:ext cx="1828800" cy="92460"/>
            </a:xfrm>
            <a:custGeom>
              <a:avLst/>
              <a:gdLst/>
              <a:ahLst/>
              <a:cxnLst/>
              <a:rect r="r" b="b" t="t" l="l"/>
              <a:pathLst>
                <a:path h="92460" w="1828800">
                  <a:moveTo>
                    <a:pt x="0" y="0"/>
                  </a:moveTo>
                  <a:lnTo>
                    <a:pt x="1828800" y="0"/>
                  </a:lnTo>
                  <a:lnTo>
                    <a:pt x="1828800" y="92460"/>
                  </a:lnTo>
                  <a:lnTo>
                    <a:pt x="0" y="92460"/>
                  </a:lnTo>
                  <a:close/>
                </a:path>
              </a:pathLst>
            </a:custGeom>
            <a:blipFill>
              <a:blip r:embed="rId3">
                <a:alphaModFix amt="0"/>
              </a:blip>
              <a:stretch>
                <a:fillRect l="0" t="-88711" r="0" b="-582091"/>
              </a:stretch>
            </a:blipFill>
          </p:spPr>
        </p:sp>
        <p:sp>
          <p:nvSpPr>
            <p:cNvPr name="TextBox 31" id="31"/>
            <p:cNvSpPr txBox="true"/>
            <p:nvPr/>
          </p:nvSpPr>
          <p:spPr>
            <a:xfrm>
              <a:off x="0" y="-28575"/>
              <a:ext cx="1828800" cy="12103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Review 1 — Problem Identification &amp; Planning · Week 2–3 of Sem V</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02</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Problem Statement &amp; Community Partner</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0E7490"/>
                  </a:solidFill>
                  <a:latin typeface="Times New Roman Bold"/>
                  <a:ea typeface="Times New Roman Bold"/>
                  <a:cs typeface="Times New Roman Bold"/>
                  <a:sym typeface="Times New Roman Bold"/>
                </a:rPr>
                <a:t>REVIEW 1 · SLIDE 2 OF 8 · DECK SLIDE 6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0E7490"/>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PLANNING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0E7490"/>
                  </a:solidFill>
                  <a:latin typeface="Times New Roman Bold"/>
                  <a:ea typeface="Times New Roman Bold"/>
                  <a:cs typeface="Times New Roman Bold"/>
                  <a:sym typeface="Times New Roman Bold"/>
                </a:rPr>
                <a:t>AT A GLANCE</a:t>
              </a:r>
            </a:p>
          </p:txBody>
        </p:sp>
      </p:grpSp>
      <p:sp>
        <p:nvSpPr>
          <p:cNvPr name="TextBox 23" id="23"/>
          <p:cNvSpPr txBox="true"/>
          <p:nvPr/>
        </p:nvSpPr>
        <p:spPr>
          <a:xfrm rot="0">
            <a:off x="1257281" y="2545823"/>
            <a:ext cx="8938289" cy="6666776"/>
          </a:xfrm>
          <a:prstGeom prst="rect">
            <a:avLst/>
          </a:prstGeom>
        </p:spPr>
        <p:txBody>
          <a:bodyPr anchor="t" rtlCol="false" tIns="0" lIns="0" bIns="0" rIns="0">
            <a:spAutoFit/>
          </a:bodyPr>
          <a:lstStyle/>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Class XII students in rural Vizianagaram have no formal exposure to financial concepts — savings, banking, UPI payments, insurance, or financial planning.</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They are highly vulnerable to UPI fraud, phishing scams, and predatory financial schemes due to limited financial awareness.</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Lack of financial planning knowledge affects their ability to manage scholarships, income, and financial decisions post-school.</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Target Community: 37 Class XII students · Govt. Junior College, Vizianagaram Town · 26-09-2026</a:t>
            </a:r>
          </a:p>
        </p:txBody>
      </p:sp>
      <p:grpSp>
        <p:nvGrpSpPr>
          <p:cNvPr name="Group 24" id="24"/>
          <p:cNvGrpSpPr/>
          <p:nvPr/>
        </p:nvGrpSpPr>
        <p:grpSpPr>
          <a:xfrm rot="0">
            <a:off x="10972800" y="1920240"/>
            <a:ext cx="6286500" cy="7475220"/>
            <a:chOff x="0" y="0"/>
            <a:chExt cx="8382000" cy="9966960"/>
          </a:xfrm>
        </p:grpSpPr>
        <p:sp>
          <p:nvSpPr>
            <p:cNvPr name="Freeform 25" id="25" descr="/home/claude/batch7d/img_opt/r1_2.jpg"/>
            <p:cNvSpPr/>
            <p:nvPr/>
          </p:nvSpPr>
          <p:spPr>
            <a:xfrm flipH="false" flipV="false" rot="0">
              <a:off x="0" y="0"/>
              <a:ext cx="8382000" cy="9966960"/>
            </a:xfrm>
            <a:custGeom>
              <a:avLst/>
              <a:gdLst/>
              <a:ahLst/>
              <a:cxnLst/>
              <a:rect r="r" b="b" t="t" l="l"/>
              <a:pathLst>
                <a:path h="9966960" w="8382000">
                  <a:moveTo>
                    <a:pt x="0" y="0"/>
                  </a:moveTo>
                  <a:lnTo>
                    <a:pt x="8382000" y="0"/>
                  </a:lnTo>
                  <a:lnTo>
                    <a:pt x="8382000" y="9966960"/>
                  </a:lnTo>
                  <a:lnTo>
                    <a:pt x="0" y="9966960"/>
                  </a:lnTo>
                  <a:lnTo>
                    <a:pt x="0" y="0"/>
                  </a:lnTo>
                  <a:close/>
                </a:path>
              </a:pathLst>
            </a:custGeom>
            <a:blipFill>
              <a:blip r:embed="rId4"/>
              <a:stretch>
                <a:fillRect l="-1818" t="0" r="-109575" b="0"/>
              </a:stretch>
            </a:blipFill>
          </p:spPr>
        </p:sp>
      </p:grpSp>
      <p:grpSp>
        <p:nvGrpSpPr>
          <p:cNvPr name="Group 26" id="26"/>
          <p:cNvGrpSpPr/>
          <p:nvPr/>
        </p:nvGrpSpPr>
        <p:grpSpPr>
          <a:xfrm rot="0">
            <a:off x="822960" y="9669780"/>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1 — Problem Identification &amp; Planning · Week 2–3 of Sem V</a:t>
              </a:r>
            </a:p>
          </p:txBody>
        </p:sp>
      </p:grpSp>
      <p:grpSp>
        <p:nvGrpSpPr>
          <p:cNvPr name="Group 29" id="29"/>
          <p:cNvGrpSpPr/>
          <p:nvPr/>
        </p:nvGrpSpPr>
        <p:grpSpPr>
          <a:xfrm rot="0">
            <a:off x="16500348" y="9669780"/>
            <a:ext cx="1371600" cy="411480"/>
            <a:chOff x="0" y="0"/>
            <a:chExt cx="1828800" cy="548640"/>
          </a:xfrm>
        </p:grpSpPr>
        <p:sp>
          <p:nvSpPr>
            <p:cNvPr name="Freeform 30" id="30"/>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1" id="31"/>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6 of 21</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03</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Why This Matters (Background &amp; Significance)</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0E7490"/>
                  </a:solidFill>
                  <a:latin typeface="Times New Roman Bold"/>
                  <a:ea typeface="Times New Roman Bold"/>
                  <a:cs typeface="Times New Roman Bold"/>
                  <a:sym typeface="Times New Roman Bold"/>
                </a:rPr>
                <a:t>REVIEW 1 · SLIDE 3 OF 8 · DECK SLIDE 7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0E7490"/>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PLANNING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0E7490"/>
                  </a:solidFill>
                  <a:latin typeface="Times New Roman Bold"/>
                  <a:ea typeface="Times New Roman Bold"/>
                  <a:cs typeface="Times New Roman Bold"/>
                  <a:sym typeface="Times New Roman Bold"/>
                </a:rPr>
                <a:t>WHY THIS MATTERS</a:t>
              </a:r>
            </a:p>
          </p:txBody>
        </p:sp>
      </p:grpSp>
      <p:sp>
        <p:nvSpPr>
          <p:cNvPr name="TextBox 23" id="23"/>
          <p:cNvSpPr txBox="true"/>
          <p:nvPr/>
        </p:nvSpPr>
        <p:spPr>
          <a:xfrm rot="0">
            <a:off x="1257281" y="2545823"/>
            <a:ext cx="8938289" cy="6666776"/>
          </a:xfrm>
          <a:prstGeom prst="rect">
            <a:avLst/>
          </a:prstGeom>
        </p:spPr>
        <p:txBody>
          <a:bodyPr anchor="t" rtlCol="false" tIns="0" lIns="0" bIns="0" rIns="0">
            <a:spAutoFit/>
          </a:bodyPr>
          <a:lstStyle/>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Our preliminary survey confirmed that most Class XII rural students own mobile phones and may use UPI — but have zero formal financial education, making them easy targets for fraud and poor financial decisions.</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Many students are unaware of basic banking (savings accounts, zero-balance Jan Dhan), safe digital payment practices (OTP scams, fake QR codes), insurance basics, or government schemes like PM Scholarship directly applicable to them.</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This gap between owning a mobile phone and having financial confidence motivated this project — providing actionable knowledge before they enter the financial world.</a:t>
            </a:r>
          </a:p>
        </p:txBody>
      </p:sp>
      <p:grpSp>
        <p:nvGrpSpPr>
          <p:cNvPr name="Group 24" id="24"/>
          <p:cNvGrpSpPr/>
          <p:nvPr/>
        </p:nvGrpSpPr>
        <p:grpSpPr>
          <a:xfrm rot="0">
            <a:off x="10972800" y="1920240"/>
            <a:ext cx="6286500" cy="7475220"/>
            <a:chOff x="0" y="0"/>
            <a:chExt cx="8382000" cy="9966960"/>
          </a:xfrm>
        </p:grpSpPr>
        <p:sp>
          <p:nvSpPr>
            <p:cNvPr name="Freeform 25" id="25" descr="/home/claude/batch7d/img_opt/r1_3.jpg"/>
            <p:cNvSpPr/>
            <p:nvPr/>
          </p:nvSpPr>
          <p:spPr>
            <a:xfrm flipH="false" flipV="false" rot="0">
              <a:off x="0" y="0"/>
              <a:ext cx="8382000" cy="9966960"/>
            </a:xfrm>
            <a:custGeom>
              <a:avLst/>
              <a:gdLst/>
              <a:ahLst/>
              <a:cxnLst/>
              <a:rect r="r" b="b" t="t" l="l"/>
              <a:pathLst>
                <a:path h="9966960" w="8382000">
                  <a:moveTo>
                    <a:pt x="0" y="0"/>
                  </a:moveTo>
                  <a:lnTo>
                    <a:pt x="8382000" y="0"/>
                  </a:lnTo>
                  <a:lnTo>
                    <a:pt x="8382000" y="9966960"/>
                  </a:lnTo>
                  <a:lnTo>
                    <a:pt x="0" y="9966960"/>
                  </a:lnTo>
                  <a:lnTo>
                    <a:pt x="0" y="0"/>
                  </a:lnTo>
                  <a:close/>
                </a:path>
              </a:pathLst>
            </a:custGeom>
            <a:blipFill>
              <a:blip r:embed="rId4"/>
              <a:stretch>
                <a:fillRect l="-1818" t="0" r="-109575" b="0"/>
              </a:stretch>
            </a:blipFill>
          </p:spPr>
        </p:sp>
      </p:grpSp>
      <p:grpSp>
        <p:nvGrpSpPr>
          <p:cNvPr name="Group 26" id="26"/>
          <p:cNvGrpSpPr/>
          <p:nvPr/>
        </p:nvGrpSpPr>
        <p:grpSpPr>
          <a:xfrm rot="0">
            <a:off x="822960" y="9669780"/>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1 — Problem Identification &amp; Planning · Week 2–3 of Sem V</a:t>
              </a:r>
            </a:p>
          </p:txBody>
        </p:sp>
      </p:grpSp>
      <p:grpSp>
        <p:nvGrpSpPr>
          <p:cNvPr name="Group 29" id="29"/>
          <p:cNvGrpSpPr/>
          <p:nvPr/>
        </p:nvGrpSpPr>
        <p:grpSpPr>
          <a:xfrm rot="0">
            <a:off x="16500348" y="9669780"/>
            <a:ext cx="1371600" cy="411480"/>
            <a:chOff x="0" y="0"/>
            <a:chExt cx="1828800" cy="548640"/>
          </a:xfrm>
        </p:grpSpPr>
        <p:sp>
          <p:nvSpPr>
            <p:cNvPr name="Freeform 30" id="30"/>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1" id="31"/>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7 of 21</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04</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Objectives</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530"/>
                </a:lnSpc>
              </a:pPr>
              <a:r>
                <a:rPr lang="en-US" b="true" sz="1275">
                  <a:solidFill>
                    <a:srgbClr val="0E7490"/>
                  </a:solidFill>
                  <a:latin typeface="Courier New Bold"/>
                  <a:ea typeface="Courier New Bold"/>
                  <a:cs typeface="Courier New Bold"/>
                  <a:sym typeface="Courier New Bold"/>
                </a:rPr>
                <a:t>REVIEW 1 · SLIDE 4 OF 8 · DECK SLIDE 8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0E7490"/>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PLANNING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0E7490"/>
                  </a:solidFill>
                  <a:latin typeface="Times New Roman Bold"/>
                  <a:ea typeface="Times New Roman Bold"/>
                  <a:cs typeface="Times New Roman Bold"/>
                  <a:sym typeface="Times New Roman Bold"/>
                </a:rPr>
                <a:t>OBJECTIVES</a:t>
              </a:r>
            </a:p>
          </p:txBody>
        </p:sp>
      </p:grpSp>
      <p:sp>
        <p:nvSpPr>
          <p:cNvPr name="TextBox 23" id="23"/>
          <p:cNvSpPr txBox="true"/>
          <p:nvPr/>
        </p:nvSpPr>
        <p:spPr>
          <a:xfrm rot="0">
            <a:off x="1257281" y="2545823"/>
            <a:ext cx="8938289" cy="6666776"/>
          </a:xfrm>
          <a:prstGeom prst="rect">
            <a:avLst/>
          </a:prstGeom>
        </p:spPr>
        <p:txBody>
          <a:bodyPr anchor="t" rtlCol="false" tIns="0" lIns="0" bIns="0" rIns="0">
            <a:spAutoFit/>
          </a:bodyPr>
          <a:lstStyle/>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Assess the baseline financial literacy of 37 rural Class XII students through a structured 15-mark MCQ pre-test.</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Deliver four structured modules: (1) Savings &amp; Banking  (2) UPI &amp; Digital Payments Safety  (3) Insurance &amp; Govt. Schemes  (4) Financial Planning &amp; Budgeting.</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Create awareness of UPI fraud, OTP scams, fake QR codes, phishing, and predatory lending through interactive sessions and real-world examples.</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Measure knowledge gain through an identical 15-mark post-test and compare individual and class-average scores.</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Distribute an actionable financial literacy handout so students can immediately apply their learning.</a:t>
            </a:r>
          </a:p>
        </p:txBody>
      </p:sp>
      <p:grpSp>
        <p:nvGrpSpPr>
          <p:cNvPr name="Group 24" id="24"/>
          <p:cNvGrpSpPr/>
          <p:nvPr/>
        </p:nvGrpSpPr>
        <p:grpSpPr>
          <a:xfrm rot="0">
            <a:off x="10972800" y="1920240"/>
            <a:ext cx="6515100" cy="7475220"/>
            <a:chOff x="0" y="0"/>
            <a:chExt cx="8686800" cy="9966960"/>
          </a:xfrm>
        </p:grpSpPr>
        <p:sp>
          <p:nvSpPr>
            <p:cNvPr name="Freeform 25" id="25" descr="/home/claude/batch7d/img_opt/r1_4.jpg"/>
            <p:cNvSpPr/>
            <p:nvPr/>
          </p:nvSpPr>
          <p:spPr>
            <a:xfrm flipH="false" flipV="false" rot="0">
              <a:off x="0" y="0"/>
              <a:ext cx="8686800" cy="9966960"/>
            </a:xfrm>
            <a:custGeom>
              <a:avLst/>
              <a:gdLst/>
              <a:ahLst/>
              <a:cxnLst/>
              <a:rect r="r" b="b" t="t" l="l"/>
              <a:pathLst>
                <a:path h="9966960" w="8686800">
                  <a:moveTo>
                    <a:pt x="0" y="0"/>
                  </a:moveTo>
                  <a:lnTo>
                    <a:pt x="8686800" y="0"/>
                  </a:lnTo>
                  <a:lnTo>
                    <a:pt x="8686800" y="9966960"/>
                  </a:lnTo>
                  <a:lnTo>
                    <a:pt x="0" y="9966960"/>
                  </a:lnTo>
                  <a:lnTo>
                    <a:pt x="0" y="0"/>
                  </a:lnTo>
                  <a:close/>
                </a:path>
              </a:pathLst>
            </a:custGeom>
            <a:blipFill>
              <a:blip r:embed="rId4"/>
              <a:stretch>
                <a:fillRect l="0" t="0" r="-103976" b="0"/>
              </a:stretch>
            </a:blipFill>
          </p:spPr>
        </p:sp>
      </p:grpSp>
      <p:grpSp>
        <p:nvGrpSpPr>
          <p:cNvPr name="Group 26" id="26"/>
          <p:cNvGrpSpPr/>
          <p:nvPr/>
        </p:nvGrpSpPr>
        <p:grpSpPr>
          <a:xfrm rot="0">
            <a:off x="822960" y="9669780"/>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1 — Problem Identification &amp; Planning · Week 2–3 of Sem V</a:t>
              </a:r>
            </a:p>
          </p:txBody>
        </p:sp>
      </p:grpSp>
      <p:grpSp>
        <p:nvGrpSpPr>
          <p:cNvPr name="Group 29" id="29"/>
          <p:cNvGrpSpPr/>
          <p:nvPr/>
        </p:nvGrpSpPr>
        <p:grpSpPr>
          <a:xfrm rot="0">
            <a:off x="16500348" y="9669780"/>
            <a:ext cx="1371600" cy="411480"/>
            <a:chOff x="0" y="0"/>
            <a:chExt cx="1828800" cy="548640"/>
          </a:xfrm>
        </p:grpSpPr>
        <p:sp>
          <p:nvSpPr>
            <p:cNvPr name="Freeform 30" id="30"/>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1" id="31"/>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8 of 21</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05</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Methodology — Online Data Collection Plan</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0E7490"/>
                  </a:solidFill>
                  <a:latin typeface="Times New Roman Bold"/>
                  <a:ea typeface="Times New Roman Bold"/>
                  <a:cs typeface="Times New Roman Bold"/>
                  <a:sym typeface="Times New Roman Bold"/>
                </a:rPr>
                <a:t>REVIEW 1 · SLIDE 5 OF 8 · DECK SLIDE 9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0E7490"/>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PLANNING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1800"/>
                </a:lnSpc>
              </a:pPr>
              <a:r>
                <a:rPr lang="en-US" b="true" sz="1500">
                  <a:solidFill>
                    <a:srgbClr val="0E7490"/>
                  </a:solidFill>
                  <a:latin typeface="Times New Roman Bold"/>
                  <a:ea typeface="Times New Roman Bold"/>
                  <a:cs typeface="Times New Roman Bold"/>
                  <a:sym typeface="Times New Roman Bold"/>
                </a:rPr>
                <a:t>ONLINE / SECONDARY DATA</a:t>
              </a:r>
            </a:p>
          </p:txBody>
        </p:sp>
      </p:grpSp>
      <p:sp>
        <p:nvSpPr>
          <p:cNvPr name="TextBox 23" id="23"/>
          <p:cNvSpPr txBox="true"/>
          <p:nvPr/>
        </p:nvSpPr>
        <p:spPr>
          <a:xfrm rot="0">
            <a:off x="1257281" y="2545823"/>
            <a:ext cx="8938289" cy="6666776"/>
          </a:xfrm>
          <a:prstGeom prst="rect">
            <a:avLst/>
          </a:prstGeom>
        </p:spPr>
        <p:txBody>
          <a:bodyPr anchor="t" rtlCol="false" tIns="0" lIns="0" bIns="0" rIns="0">
            <a:spAutoFit/>
          </a:bodyPr>
          <a:lstStyle/>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RBI Financial Literacy Guidelines — structured content on savings, banking, and responsible money management for rural and youth audiences.</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SEBI Investor Education Resources — investor awareness and simple financial planning content for first-time participants.</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NPCI/UPI Safety Advisories — official guidance on safe UPI usage, OTP protection, and how to identify phishing links and fake payment requests.</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CERT-In Cyber Safety Resources — advisories on phishing, online fraud, fake QR codes, and digital financial crime affecting mobile banking users.</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A structured classroom-based training approach was used with printed MCQ assessments (not Google Forms) since the target community was rural Class XII students.</a:t>
            </a:r>
          </a:p>
        </p:txBody>
      </p:sp>
      <p:grpSp>
        <p:nvGrpSpPr>
          <p:cNvPr name="Group 24" id="24"/>
          <p:cNvGrpSpPr/>
          <p:nvPr/>
        </p:nvGrpSpPr>
        <p:grpSpPr>
          <a:xfrm rot="0">
            <a:off x="10957354" y="1920240"/>
            <a:ext cx="6301946" cy="7475220"/>
            <a:chOff x="0" y="0"/>
            <a:chExt cx="8402595" cy="9966960"/>
          </a:xfrm>
        </p:grpSpPr>
        <p:sp>
          <p:nvSpPr>
            <p:cNvPr name="Freeform 25" id="25" descr="/home/claude/batch7d/img_opt/r1_5.jpg"/>
            <p:cNvSpPr/>
            <p:nvPr/>
          </p:nvSpPr>
          <p:spPr>
            <a:xfrm flipH="false" flipV="false" rot="0">
              <a:off x="0" y="0"/>
              <a:ext cx="8402595" cy="9966960"/>
            </a:xfrm>
            <a:custGeom>
              <a:avLst/>
              <a:gdLst/>
              <a:ahLst/>
              <a:cxnLst/>
              <a:rect r="r" b="b" t="t" l="l"/>
              <a:pathLst>
                <a:path h="9966960" w="8402595">
                  <a:moveTo>
                    <a:pt x="0" y="0"/>
                  </a:moveTo>
                  <a:lnTo>
                    <a:pt x="8402595" y="0"/>
                  </a:lnTo>
                  <a:lnTo>
                    <a:pt x="8402595" y="9966960"/>
                  </a:lnTo>
                  <a:lnTo>
                    <a:pt x="0" y="9966960"/>
                  </a:lnTo>
                  <a:lnTo>
                    <a:pt x="0" y="0"/>
                  </a:lnTo>
                  <a:close/>
                </a:path>
              </a:pathLst>
            </a:custGeom>
            <a:blipFill>
              <a:blip r:embed="rId4"/>
              <a:stretch>
                <a:fillRect l="-1691" t="0" r="-109184" b="0"/>
              </a:stretch>
            </a:blipFill>
          </p:spPr>
        </p:sp>
      </p:grpSp>
      <p:grpSp>
        <p:nvGrpSpPr>
          <p:cNvPr name="Group 26" id="26"/>
          <p:cNvGrpSpPr/>
          <p:nvPr/>
        </p:nvGrpSpPr>
        <p:grpSpPr>
          <a:xfrm rot="0">
            <a:off x="822960" y="9669780"/>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1 — Problem Identification &amp; Planning · Week 2–3 of Sem V</a:t>
              </a:r>
            </a:p>
          </p:txBody>
        </p:sp>
      </p:grpSp>
      <p:grpSp>
        <p:nvGrpSpPr>
          <p:cNvPr name="Group 29" id="29"/>
          <p:cNvGrpSpPr/>
          <p:nvPr/>
        </p:nvGrpSpPr>
        <p:grpSpPr>
          <a:xfrm rot="0">
            <a:off x="16500348" y="9669780"/>
            <a:ext cx="1371600" cy="411480"/>
            <a:chOff x="0" y="0"/>
            <a:chExt cx="1828800" cy="548640"/>
          </a:xfrm>
        </p:grpSpPr>
        <p:sp>
          <p:nvSpPr>
            <p:cNvPr name="Freeform 30" id="30"/>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1" id="31"/>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9 of 21</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06</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Methodology — Offline Field Work Plan</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0E7490"/>
                  </a:solidFill>
                  <a:latin typeface="Times New Roman Bold"/>
                  <a:ea typeface="Times New Roman Bold"/>
                  <a:cs typeface="Times New Roman Bold"/>
                  <a:sym typeface="Times New Roman Bold"/>
                </a:rPr>
                <a:t>REVIEW 1 · SLIDE 6 OF 8 · DECK SLIDE 10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0E7490"/>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PLANNING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9525"/>
              <a:ext cx="12161520" cy="558165"/>
            </a:xfrm>
            <a:prstGeom prst="rect">
              <a:avLst/>
            </a:prstGeom>
          </p:spPr>
          <p:txBody>
            <a:bodyPr anchor="ctr" rtlCol="false" tIns="0" lIns="0" bIns="0" rIns="0"/>
            <a:lstStyle/>
            <a:p>
              <a:pPr algn="l">
                <a:lnSpc>
                  <a:spcPts val="1800"/>
                </a:lnSpc>
              </a:pPr>
              <a:r>
                <a:rPr lang="en-US" b="true" sz="1500">
                  <a:solidFill>
                    <a:srgbClr val="0E7490"/>
                  </a:solidFill>
                  <a:latin typeface="Courier New Bold"/>
                  <a:ea typeface="Courier New Bold"/>
                  <a:cs typeface="Courier New Bold"/>
                  <a:sym typeface="Courier New Bold"/>
                </a:rPr>
                <a:t>OFFLINE FIELD WORK PLAN</a:t>
              </a:r>
            </a:p>
          </p:txBody>
        </p:sp>
      </p:grpSp>
      <p:sp>
        <p:nvSpPr>
          <p:cNvPr name="TextBox 23" id="23"/>
          <p:cNvSpPr txBox="true"/>
          <p:nvPr/>
        </p:nvSpPr>
        <p:spPr>
          <a:xfrm rot="0">
            <a:off x="1257281" y="2545823"/>
            <a:ext cx="8938289" cy="6666776"/>
          </a:xfrm>
          <a:prstGeom prst="rect">
            <a:avLst/>
          </a:prstGeom>
        </p:spPr>
        <p:txBody>
          <a:bodyPr anchor="t" rtlCol="false" tIns="0" lIns="0" bIns="0" rIns="0">
            <a:spAutoFit/>
          </a:bodyPr>
          <a:lstStyle/>
          <a:p>
            <a:pPr algn="just" marL="346710" indent="-173355" lvl="1">
              <a:lnSpc>
                <a:spcPts val="3780"/>
              </a:lnSpc>
              <a:buFont typeface="Arial"/>
              <a:buChar char="•"/>
            </a:pPr>
            <a:r>
              <a:rPr lang="en-US" sz="2100">
                <a:solidFill>
                  <a:srgbClr val="1A1A2E"/>
                </a:solidFill>
                <a:latin typeface="Times New Roman"/>
                <a:ea typeface="Times New Roman"/>
                <a:cs typeface="Times New Roman"/>
                <a:sym typeface="Times New Roman"/>
              </a:rPr>
              <a:t>Phase 1 — Baseline Assessment: 15-mark MCQ pre-test administered to all 37 Class XII students to measure baseline financial knowledge before the session.</a:t>
            </a:r>
          </a:p>
          <a:p>
            <a:pPr algn="just" marL="346710" indent="-173355" lvl="1">
              <a:lnSpc>
                <a:spcPts val="3780"/>
              </a:lnSpc>
              <a:buFont typeface="Arial"/>
              <a:buChar char="•"/>
            </a:pPr>
            <a:r>
              <a:rPr lang="en-US" sz="2100">
                <a:solidFill>
                  <a:srgbClr val="1A1A2E"/>
                </a:solidFill>
                <a:latin typeface="Times New Roman"/>
                <a:ea typeface="Times New Roman"/>
                <a:cs typeface="Times New Roman"/>
                <a:sym typeface="Times New Roman"/>
              </a:rPr>
              <a:t>Phase 2 — 4-Module Training: Module 1 (Savings &amp; Banking) → Module 2 (UPI &amp; Digital Payments Safety) → Module 3 (Insurance &amp; Govt. Schemes) → Module 4 (Financial Planning &amp; Budgeting) — delivered interactively with real-world case examples.</a:t>
            </a:r>
          </a:p>
          <a:p>
            <a:pPr algn="just" marL="346710" indent="-173355" lvl="1">
              <a:lnSpc>
                <a:spcPts val="3780"/>
              </a:lnSpc>
              <a:buFont typeface="Arial"/>
              <a:buChar char="•"/>
            </a:pPr>
            <a:r>
              <a:rPr lang="en-US" sz="2100">
                <a:solidFill>
                  <a:srgbClr val="1A1A2E"/>
                </a:solidFill>
                <a:latin typeface="Times New Roman"/>
                <a:ea typeface="Times New Roman"/>
                <a:cs typeface="Times New Roman"/>
                <a:sym typeface="Times New Roman"/>
              </a:rPr>
              <a:t>Phase 3 — Post-Evaluation: identical 15-mark MCQ post-test administered after all 4 modules; individual student scores recorded and compared for knowledge gain measurement.</a:t>
            </a:r>
          </a:p>
          <a:p>
            <a:pPr algn="just" marL="346710" indent="-173355" lvl="1">
              <a:lnSpc>
                <a:spcPts val="3780"/>
              </a:lnSpc>
              <a:buFont typeface="Arial"/>
              <a:buChar char="•"/>
            </a:pPr>
            <a:r>
              <a:rPr lang="en-US" sz="2100">
                <a:solidFill>
                  <a:srgbClr val="1A1A2E"/>
                </a:solidFill>
                <a:latin typeface="Times New Roman"/>
                <a:ea typeface="Times New Roman"/>
                <a:cs typeface="Times New Roman"/>
                <a:sym typeface="Times New Roman"/>
              </a:rPr>
              <a:t>Field Visit: Govt. Junior College, Vizianagaram Town — 37 Class XII students — 26-09-2026 (approved non-working day).</a:t>
            </a:r>
          </a:p>
        </p:txBody>
      </p:sp>
      <p:grpSp>
        <p:nvGrpSpPr>
          <p:cNvPr name="Group 24" id="24"/>
          <p:cNvGrpSpPr/>
          <p:nvPr/>
        </p:nvGrpSpPr>
        <p:grpSpPr>
          <a:xfrm rot="0">
            <a:off x="10972800" y="2378735"/>
            <a:ext cx="6515100" cy="6624828"/>
            <a:chOff x="0" y="0"/>
            <a:chExt cx="8686800" cy="8833104"/>
          </a:xfrm>
        </p:grpSpPr>
        <p:sp>
          <p:nvSpPr>
            <p:cNvPr name="Freeform 25" id="25" descr="/home/claude/batch7d/img_opt/r1_6.jpg"/>
            <p:cNvSpPr/>
            <p:nvPr/>
          </p:nvSpPr>
          <p:spPr>
            <a:xfrm flipH="false" flipV="false" rot="0">
              <a:off x="0" y="0"/>
              <a:ext cx="8686800" cy="8833104"/>
            </a:xfrm>
            <a:custGeom>
              <a:avLst/>
              <a:gdLst/>
              <a:ahLst/>
              <a:cxnLst/>
              <a:rect r="r" b="b" t="t" l="l"/>
              <a:pathLst>
                <a:path h="8833104" w="8686800">
                  <a:moveTo>
                    <a:pt x="0" y="0"/>
                  </a:moveTo>
                  <a:lnTo>
                    <a:pt x="8686800" y="0"/>
                  </a:lnTo>
                  <a:lnTo>
                    <a:pt x="8686800" y="8833104"/>
                  </a:lnTo>
                  <a:lnTo>
                    <a:pt x="0" y="8833104"/>
                  </a:lnTo>
                  <a:lnTo>
                    <a:pt x="0" y="0"/>
                  </a:lnTo>
                  <a:close/>
                </a:path>
              </a:pathLst>
            </a:custGeom>
            <a:blipFill>
              <a:blip r:embed="rId4"/>
              <a:stretch>
                <a:fillRect l="0" t="0" r="-80771" b="0"/>
              </a:stretch>
            </a:blipFill>
          </p:spPr>
        </p:sp>
      </p:grpSp>
      <p:grpSp>
        <p:nvGrpSpPr>
          <p:cNvPr name="Group 26" id="26"/>
          <p:cNvGrpSpPr/>
          <p:nvPr/>
        </p:nvGrpSpPr>
        <p:grpSpPr>
          <a:xfrm rot="0">
            <a:off x="822960" y="9669780"/>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1 — Problem Identification &amp; Planning · Week 2–3 of Sem V</a:t>
              </a:r>
            </a:p>
          </p:txBody>
        </p:sp>
      </p:grpSp>
      <p:grpSp>
        <p:nvGrpSpPr>
          <p:cNvPr name="Group 29" id="29"/>
          <p:cNvGrpSpPr/>
          <p:nvPr/>
        </p:nvGrpSpPr>
        <p:grpSpPr>
          <a:xfrm rot="0">
            <a:off x="16500348" y="9669780"/>
            <a:ext cx="1371600" cy="411480"/>
            <a:chOff x="0" y="0"/>
            <a:chExt cx="1828800" cy="548640"/>
          </a:xfrm>
        </p:grpSpPr>
        <p:sp>
          <p:nvSpPr>
            <p:cNvPr name="Freeform 30" id="30"/>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1" id="31"/>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10 of 21</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07</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Timeline &amp; Expected Deliverable</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0E7490"/>
                  </a:solidFill>
                  <a:latin typeface="Times New Roman Bold"/>
                  <a:ea typeface="Times New Roman Bold"/>
                  <a:cs typeface="Times New Roman Bold"/>
                  <a:sym typeface="Times New Roman Bold"/>
                </a:rPr>
                <a:t>REVIEW 1 · SLIDE 7 OF 8 · DECK SLIDE 11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0E7490"/>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PLANNING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9525"/>
              <a:ext cx="12161520" cy="558165"/>
            </a:xfrm>
            <a:prstGeom prst="rect">
              <a:avLst/>
            </a:prstGeom>
          </p:spPr>
          <p:txBody>
            <a:bodyPr anchor="ctr" rtlCol="false" tIns="0" lIns="0" bIns="0" rIns="0"/>
            <a:lstStyle/>
            <a:p>
              <a:pPr algn="l">
                <a:lnSpc>
                  <a:spcPts val="1800"/>
                </a:lnSpc>
              </a:pPr>
              <a:r>
                <a:rPr lang="en-US" b="true" sz="1500">
                  <a:solidFill>
                    <a:srgbClr val="0E7490"/>
                  </a:solidFill>
                  <a:latin typeface="Courier New Bold"/>
                  <a:ea typeface="Courier New Bold"/>
                  <a:cs typeface="Courier New Bold"/>
                  <a:sym typeface="Courier New Bold"/>
                </a:rPr>
                <a:t>REVIEW-WISE PLAN</a:t>
              </a:r>
            </a:p>
          </p:txBody>
        </p:sp>
      </p:grpSp>
      <p:sp>
        <p:nvSpPr>
          <p:cNvPr name="TextBox 23" id="23"/>
          <p:cNvSpPr txBox="true"/>
          <p:nvPr/>
        </p:nvSpPr>
        <p:spPr>
          <a:xfrm rot="0">
            <a:off x="1257300" y="2545823"/>
            <a:ext cx="15837151" cy="1473403"/>
          </a:xfrm>
          <a:prstGeom prst="rect">
            <a:avLst/>
          </a:prstGeom>
        </p:spPr>
        <p:txBody>
          <a:bodyPr anchor="t" rtlCol="false" tIns="0" lIns="0" bIns="0" rIns="0">
            <a:spAutoFit/>
          </a:bodyPr>
          <a:lstStyle/>
          <a:p>
            <a:pPr algn="just" marL="341947" indent="-170973" lvl="1">
              <a:lnSpc>
                <a:spcPts val="3780"/>
              </a:lnSpc>
              <a:buFont typeface="Arial"/>
              <a:buChar char="•"/>
            </a:pPr>
            <a:r>
              <a:rPr lang="en-US" sz="2100">
                <a:solidFill>
                  <a:srgbClr val="1A1A2E"/>
                </a:solidFill>
                <a:latin typeface="Times New Roman"/>
                <a:ea typeface="Times New Roman"/>
                <a:cs typeface="Times New Roman"/>
                <a:sym typeface="Times New Roman"/>
              </a:rPr>
              <a:t>Field-Visit Date: 26-09-2026 · Govt. Junior College, Vizianagaram Town · 37 Class XII students · approved non-working day.</a:t>
            </a:r>
          </a:p>
          <a:p>
            <a:pPr algn="just" marL="341947" indent="-170973" lvl="1">
              <a:lnSpc>
                <a:spcPts val="3780"/>
              </a:lnSpc>
              <a:buFont typeface="Arial"/>
              <a:buChar char="•"/>
            </a:pPr>
            <a:r>
              <a:rPr lang="en-US" sz="2100">
                <a:solidFill>
                  <a:srgbClr val="1A1A2E"/>
                </a:solidFill>
                <a:latin typeface="Times New Roman"/>
                <a:ea typeface="Times New Roman"/>
                <a:cs typeface="Times New Roman"/>
                <a:sym typeface="Times New Roman"/>
              </a:rPr>
              <a:t>Deliverable to the community: 4-module financial literacy session + actionable personal finance handout distributed to all 37 students.</a:t>
            </a:r>
          </a:p>
        </p:txBody>
      </p:sp>
      <p:graphicFrame>
        <p:nvGraphicFramePr>
          <p:cNvPr name="Table 24" id="24"/>
          <p:cNvGraphicFramePr>
            <a:graphicFrameLocks noGrp="true"/>
          </p:cNvGraphicFramePr>
          <p:nvPr/>
        </p:nvGraphicFramePr>
        <p:xfrm>
          <a:off x="2628900" y="4609178"/>
          <a:ext cx="14535150" cy="4476750"/>
        </p:xfrm>
        <a:graphic>
          <a:graphicData uri="http://schemas.openxmlformats.org/drawingml/2006/table">
            <a:tbl>
              <a:tblPr/>
              <a:tblGrid>
                <a:gridCol w="3983116"/>
                <a:gridCol w="5808357"/>
                <a:gridCol w="4743677"/>
              </a:tblGrid>
              <a:tr h="637967">
                <a:tc>
                  <a:txBody>
                    <a:bodyPr anchor="t" rtlCol="false"/>
                    <a:lstStyle/>
                    <a:p>
                      <a:pPr algn="l">
                        <a:lnSpc>
                          <a:spcPts val="3780"/>
                        </a:lnSpc>
                        <a:defRPr/>
                      </a:pPr>
                      <a:r>
                        <a:rPr lang="en-US" b="true" sz="2100">
                          <a:solidFill>
                            <a:srgbClr val="FFFFFF"/>
                          </a:solidFill>
                          <a:latin typeface="Times New Roman Bold"/>
                          <a:ea typeface="Times New Roman Bold"/>
                          <a:cs typeface="Times New Roman Bold"/>
                          <a:sym typeface="Times New Roman Bold"/>
                        </a:rPr>
                        <a:t>Review</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0E7490"/>
                    </a:solidFill>
                  </a:tcPr>
                </a:tc>
                <a:tc>
                  <a:txBody>
                    <a:bodyPr anchor="t" rtlCol="false"/>
                    <a:lstStyle/>
                    <a:p>
                      <a:pPr algn="l">
                        <a:lnSpc>
                          <a:spcPts val="3780"/>
                        </a:lnSpc>
                        <a:defRPr/>
                      </a:pPr>
                      <a:r>
                        <a:rPr lang="en-US" b="true" sz="2100">
                          <a:solidFill>
                            <a:srgbClr val="FFFFFF"/>
                          </a:solidFill>
                          <a:latin typeface="Times New Roman Bold"/>
                          <a:ea typeface="Times New Roman Bold"/>
                          <a:cs typeface="Times New Roman Bold"/>
                          <a:sym typeface="Times New Roman Bold"/>
                        </a:rPr>
                        <a:t>Activities</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0E7490"/>
                    </a:solidFill>
                  </a:tcPr>
                </a:tc>
                <a:tc>
                  <a:txBody>
                    <a:bodyPr anchor="t" rtlCol="false"/>
                    <a:lstStyle/>
                    <a:p>
                      <a:pPr algn="l">
                        <a:lnSpc>
                          <a:spcPts val="3780"/>
                        </a:lnSpc>
                        <a:defRPr/>
                      </a:pPr>
                      <a:r>
                        <a:rPr lang="en-US" b="true" sz="2100">
                          <a:solidFill>
                            <a:srgbClr val="FFFFFF"/>
                          </a:solidFill>
                          <a:latin typeface="Times New Roman Bold"/>
                          <a:ea typeface="Times New Roman Bold"/>
                          <a:cs typeface="Times New Roman Bold"/>
                          <a:sym typeface="Times New Roman Bold"/>
                        </a:rPr>
                        <a:t>Deliverables</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0E7490"/>
                    </a:solidFill>
                  </a:tcPr>
                </a:tc>
              </a:tr>
              <a:tr h="1370230">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Review 1</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Community survey (Google Form), needs assessment, literature review, pre-test design, 4-module content design</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Pre-test questionnaire + project methodology + training material</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2468552">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Review 2 (Final)</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Field visit to Govt. Junior College VZM (26-09-2026), 4-module financial literacy session, pre-test &amp; post-test administration, score analysis, documentation, awareness handout distribution</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Score analysis report, session photographs, final project report, financial literacy handout, project completion documentation</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bl>
          </a:graphicData>
        </a:graphic>
      </p:graphicFrame>
      <p:grpSp>
        <p:nvGrpSpPr>
          <p:cNvPr name="Group 25" id="25"/>
          <p:cNvGrpSpPr/>
          <p:nvPr/>
        </p:nvGrpSpPr>
        <p:grpSpPr>
          <a:xfrm rot="0">
            <a:off x="822960" y="9669780"/>
            <a:ext cx="10972800" cy="411480"/>
            <a:chOff x="0" y="0"/>
            <a:chExt cx="14630400" cy="548640"/>
          </a:xfrm>
        </p:grpSpPr>
        <p:sp>
          <p:nvSpPr>
            <p:cNvPr name="Freeform 26" id="2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7" id="27"/>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1 — Problem Identification &amp; Planning · Week 2–3 of Sem V</a:t>
              </a:r>
            </a:p>
          </p:txBody>
        </p:sp>
      </p:grpSp>
      <p:grpSp>
        <p:nvGrpSpPr>
          <p:cNvPr name="Group 28" id="28"/>
          <p:cNvGrpSpPr/>
          <p:nvPr/>
        </p:nvGrpSpPr>
        <p:grpSpPr>
          <a:xfrm rot="0">
            <a:off x="16500348" y="9669780"/>
            <a:ext cx="1371600" cy="411480"/>
            <a:chOff x="0" y="0"/>
            <a:chExt cx="1828800" cy="548640"/>
          </a:xfrm>
        </p:grpSpPr>
        <p:sp>
          <p:nvSpPr>
            <p:cNvPr name="Freeform 29" id="29"/>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0" id="30"/>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11 of 21</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08</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Team Roles &amp; Responsibilities</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0E7490"/>
                  </a:solidFill>
                  <a:latin typeface="Times New Roman Bold"/>
                  <a:ea typeface="Times New Roman Bold"/>
                  <a:cs typeface="Times New Roman Bold"/>
                  <a:sym typeface="Times New Roman Bold"/>
                </a:rPr>
                <a:t>REVIEW 1 · SLIDE 8 OF 8 · DECK SLIDE 12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0E7490"/>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PLANNING GATE</a:t>
              </a:r>
            </a:p>
          </p:txBody>
        </p:sp>
      </p:grpSp>
      <p:grpSp>
        <p:nvGrpSpPr>
          <p:cNvPr name="Group 18" id="18"/>
          <p:cNvGrpSpPr/>
          <p:nvPr/>
        </p:nvGrpSpPr>
        <p:grpSpPr>
          <a:xfrm rot="0">
            <a:off x="467703" y="1920240"/>
            <a:ext cx="17159210" cy="7475220"/>
            <a:chOff x="0" y="0"/>
            <a:chExt cx="22878947" cy="9966960"/>
          </a:xfrm>
        </p:grpSpPr>
        <p:sp>
          <p:nvSpPr>
            <p:cNvPr name="Freeform 19" id="19"/>
            <p:cNvSpPr/>
            <p:nvPr/>
          </p:nvSpPr>
          <p:spPr>
            <a:xfrm flipH="false" flipV="false" rot="0">
              <a:off x="0" y="0"/>
              <a:ext cx="22878946" cy="9966960"/>
            </a:xfrm>
            <a:custGeom>
              <a:avLst/>
              <a:gdLst/>
              <a:ahLst/>
              <a:cxnLst/>
              <a:rect r="r" b="b" t="t" l="l"/>
              <a:pathLst>
                <a:path h="9966960" w="22878946">
                  <a:moveTo>
                    <a:pt x="0" y="0"/>
                  </a:moveTo>
                  <a:lnTo>
                    <a:pt x="22878946" y="0"/>
                  </a:lnTo>
                  <a:lnTo>
                    <a:pt x="22878946"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0E7490"/>
                  </a:solidFill>
                  <a:latin typeface="Times New Roman Bold"/>
                  <a:ea typeface="Times New Roman Bold"/>
                  <a:cs typeface="Times New Roman Bold"/>
                  <a:sym typeface="Times New Roman Bold"/>
                </a:rPr>
                <a:t>TEAM</a:t>
              </a:r>
            </a:p>
          </p:txBody>
        </p:sp>
      </p:grpSp>
      <p:graphicFrame>
        <p:nvGraphicFramePr>
          <p:cNvPr name="Table 23" id="23"/>
          <p:cNvGraphicFramePr>
            <a:graphicFrameLocks noGrp="true"/>
          </p:cNvGraphicFramePr>
          <p:nvPr/>
        </p:nvGraphicFramePr>
        <p:xfrm>
          <a:off x="822960" y="2578678"/>
          <a:ext cx="16363188" cy="6406051"/>
        </p:xfrm>
        <a:graphic>
          <a:graphicData uri="http://schemas.openxmlformats.org/drawingml/2006/table">
            <a:tbl>
              <a:tblPr/>
              <a:tblGrid>
                <a:gridCol w="5343907"/>
                <a:gridCol w="5177826"/>
                <a:gridCol w="5841455"/>
              </a:tblGrid>
              <a:tr h="666229">
                <a:tc>
                  <a:txBody>
                    <a:bodyPr anchor="t" rtlCol="false"/>
                    <a:lstStyle/>
                    <a:p>
                      <a:pPr algn="l">
                        <a:lnSpc>
                          <a:spcPts val="3780"/>
                        </a:lnSpc>
                        <a:defRPr/>
                      </a:pPr>
                      <a:r>
                        <a:rPr lang="en-US" b="true" sz="2100">
                          <a:solidFill>
                            <a:srgbClr val="FFFFFF"/>
                          </a:solidFill>
                          <a:latin typeface="Times New Roman Bold"/>
                          <a:ea typeface="Times New Roman Bold"/>
                          <a:cs typeface="Times New Roman Bold"/>
                          <a:sym typeface="Times New Roman Bold"/>
                        </a:rPr>
                        <a:t>Member</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0E7490"/>
                    </a:solidFill>
                  </a:tcPr>
                </a:tc>
                <a:tc>
                  <a:txBody>
                    <a:bodyPr anchor="t" rtlCol="false"/>
                    <a:lstStyle/>
                    <a:p>
                      <a:pPr algn="l">
                        <a:lnSpc>
                          <a:spcPts val="3780"/>
                        </a:lnSpc>
                        <a:defRPr/>
                      </a:pPr>
                      <a:r>
                        <a:rPr lang="en-US" b="true" sz="2100">
                          <a:solidFill>
                            <a:srgbClr val="FFFFFF"/>
                          </a:solidFill>
                          <a:latin typeface="Times New Roman Bold"/>
                          <a:ea typeface="Times New Roman Bold"/>
                          <a:cs typeface="Times New Roman Bold"/>
                          <a:sym typeface="Times New Roman Bold"/>
                        </a:rPr>
                        <a:t>Role</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0E7490"/>
                    </a:solidFill>
                  </a:tcPr>
                </a:tc>
                <a:tc>
                  <a:txBody>
                    <a:bodyPr anchor="t" rtlCol="false"/>
                    <a:lstStyle/>
                    <a:p>
                      <a:pPr algn="l">
                        <a:lnSpc>
                          <a:spcPts val="3780"/>
                        </a:lnSpc>
                        <a:defRPr/>
                      </a:pPr>
                      <a:r>
                        <a:rPr lang="en-US" b="true" sz="2100">
                          <a:solidFill>
                            <a:srgbClr val="FFFFFF"/>
                          </a:solidFill>
                          <a:latin typeface="Times New Roman Bold"/>
                          <a:ea typeface="Times New Roman Bold"/>
                          <a:cs typeface="Times New Roman Bold"/>
                          <a:sym typeface="Times New Roman Bold"/>
                        </a:rPr>
                        <a:t>Responsibility</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0E7490"/>
                    </a:solidFill>
                  </a:tcPr>
                </a:tc>
              </a:tr>
              <a:tr h="1178713">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Pitta Venkata Suri Reddy (24331A05N4)</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Batch Leader &amp; Module 1 Delivery</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Leads the team; delivers Module 1 (Savings &amp; Banking); prepares reports and presentations</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1691198">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Pontapalli Rohith (24331A05N6)</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Session Lead &amp; Technical Support</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Delivers Module 2 (UPI &amp; Digital Payments Safety); manages device demos and real-time Q&amp;A</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1178713">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Pentakota Lalith Lakshya (24331A05M8)</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Community Engagement &amp; Module 3 Lead</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Delivers Module 3 (Insurance &amp; Govt. Schemes); coordinates student participation and feedback</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1691198">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Polaki Likitha (25335A0520)</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Data Analysis Lead &amp; Module 4 Delivery</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Delivers Module 4 (Financial Planning &amp; Budgeting); administers pre/post-test and analyses scores</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bl>
          </a:graphicData>
        </a:graphic>
      </p:graphicFrame>
      <p:grpSp>
        <p:nvGrpSpPr>
          <p:cNvPr name="Group 24" id="24"/>
          <p:cNvGrpSpPr/>
          <p:nvPr/>
        </p:nvGrpSpPr>
        <p:grpSpPr>
          <a:xfrm rot="0">
            <a:off x="822960" y="9669780"/>
            <a:ext cx="10972800" cy="411480"/>
            <a:chOff x="0" y="0"/>
            <a:chExt cx="14630400" cy="548640"/>
          </a:xfrm>
        </p:grpSpPr>
        <p:sp>
          <p:nvSpPr>
            <p:cNvPr name="Freeform 25" id="2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6" id="26"/>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1 — Problem Identification &amp; Planning · Week 2–3 of Sem V</a:t>
              </a:r>
            </a:p>
          </p:txBody>
        </p:sp>
      </p:grpSp>
      <p:grpSp>
        <p:nvGrpSpPr>
          <p:cNvPr name="Group 27" id="27"/>
          <p:cNvGrpSpPr/>
          <p:nvPr/>
        </p:nvGrpSpPr>
        <p:grpSpPr>
          <a:xfrm rot="0">
            <a:off x="16500348" y="9669780"/>
            <a:ext cx="1371600" cy="411480"/>
            <a:chOff x="0" y="0"/>
            <a:chExt cx="1828800" cy="548640"/>
          </a:xfrm>
        </p:grpSpPr>
        <p:sp>
          <p:nvSpPr>
            <p:cNvPr name="Freeform 28" id="28"/>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29" id="29"/>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12 of 21</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01</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Review 1 Feedback Actioned</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B45309"/>
                  </a:solidFill>
                  <a:latin typeface="Times New Roman Bold"/>
                  <a:ea typeface="Times New Roman Bold"/>
                  <a:cs typeface="Times New Roman Bold"/>
                  <a:sym typeface="Times New Roman Bold"/>
                </a:rPr>
                <a:t>REVIEW 2 · SLIDE 1 OF 9 · DECK SLIDE 13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B45309"/>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FINAL EVALUATION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B45309"/>
                  </a:solidFill>
                  <a:latin typeface="Times New Roman Bold"/>
                  <a:ea typeface="Times New Roman Bold"/>
                  <a:cs typeface="Times New Roman Bold"/>
                  <a:sym typeface="Times New Roman Bold"/>
                </a:rPr>
                <a:t>PROGRESS SINCE REVIEW 1</a:t>
              </a:r>
            </a:p>
          </p:txBody>
        </p:sp>
      </p:grpSp>
      <p:sp>
        <p:nvSpPr>
          <p:cNvPr name="TextBox 23" id="23"/>
          <p:cNvSpPr txBox="true"/>
          <p:nvPr/>
        </p:nvSpPr>
        <p:spPr>
          <a:xfrm rot="0">
            <a:off x="1257281" y="2545823"/>
            <a:ext cx="8938289" cy="6666776"/>
          </a:xfrm>
          <a:prstGeom prst="rect">
            <a:avLst/>
          </a:prstGeom>
        </p:spPr>
        <p:txBody>
          <a:bodyPr anchor="t" rtlCol="false" tIns="0" lIns="0" bIns="0" rIns="0">
            <a:spAutoFit/>
          </a:bodyPr>
          <a:lstStyle/>
          <a:p>
            <a:pPr algn="just" marL="346710" indent="-173355" lvl="1">
              <a:lnSpc>
                <a:spcPts val="3780"/>
              </a:lnSpc>
              <a:buFont typeface="Arial"/>
              <a:buChar char="•"/>
            </a:pPr>
            <a:r>
              <a:rPr lang="en-US" sz="2100">
                <a:solidFill>
                  <a:srgbClr val="1A1A2E"/>
                </a:solidFill>
                <a:latin typeface="Times New Roman"/>
                <a:ea typeface="Times New Roman"/>
                <a:cs typeface="Times New Roman"/>
                <a:sym typeface="Times New Roman"/>
              </a:rPr>
              <a:t>Progress since Review 1: 100% complete. All 4 modules delivered, pre- and post-tests administered, all 37 student scores recorded and analysed.</a:t>
            </a:r>
          </a:p>
          <a:p>
            <a:pPr algn="just" marL="346710" indent="-173355" lvl="1">
              <a:lnSpc>
                <a:spcPts val="3780"/>
              </a:lnSpc>
              <a:buFont typeface="Arial"/>
              <a:buChar char="•"/>
            </a:pPr>
            <a:r>
              <a:rPr lang="en-US" sz="2100">
                <a:solidFill>
                  <a:srgbClr val="1A1A2E"/>
                </a:solidFill>
                <a:latin typeface="Times New Roman"/>
                <a:ea typeface="Times New Roman"/>
                <a:cs typeface="Times New Roman"/>
                <a:sym typeface="Times New Roman"/>
              </a:rPr>
              <a:t>Feedback from Review 1: finalise community partner, confirm student count, and design a measurable pre/post assessment.</a:t>
            </a:r>
          </a:p>
          <a:p>
            <a:pPr algn="just" marL="346710" indent="-173355" lvl="1">
              <a:lnSpc>
                <a:spcPts val="3780"/>
              </a:lnSpc>
              <a:buFont typeface="Arial"/>
              <a:buChar char="•"/>
            </a:pPr>
            <a:r>
              <a:rPr lang="en-US" sz="2100">
                <a:solidFill>
                  <a:srgbClr val="1A1A2E"/>
                </a:solidFill>
                <a:latin typeface="Times New Roman"/>
                <a:ea typeface="Times New Roman"/>
                <a:cs typeface="Times New Roman"/>
                <a:sym typeface="Times New Roman"/>
              </a:rPr>
              <a:t>Action taken: confirmed Govt. Junior College, Vizianagaram Town as partner; enrolled 37 Class XII students; designed 15-mark MCQ pre-test and identical post-test to measure knowledge gain.</a:t>
            </a:r>
          </a:p>
          <a:p>
            <a:pPr algn="just" marL="346710" indent="-173355" lvl="1">
              <a:lnSpc>
                <a:spcPts val="3780"/>
              </a:lnSpc>
              <a:buFont typeface="Arial"/>
              <a:buChar char="•"/>
            </a:pPr>
            <a:r>
              <a:rPr lang="en-US" sz="2100">
                <a:solidFill>
                  <a:srgbClr val="1A1A2E"/>
                </a:solidFill>
                <a:latin typeface="Times New Roman"/>
                <a:ea typeface="Times New Roman"/>
                <a:cs typeface="Times New Roman"/>
                <a:sym typeface="Times New Roman"/>
              </a:rPr>
              <a:t>Outcome: Pre-test avg 5.1/15 (34%) → Post-test avg 12.9/15 (86%). Every student improved. +7.8 marks, +152% knowledge gain — a clear, measurable impact.</a:t>
            </a:r>
          </a:p>
        </p:txBody>
      </p:sp>
      <p:grpSp>
        <p:nvGrpSpPr>
          <p:cNvPr name="Group 24" id="24"/>
          <p:cNvGrpSpPr/>
          <p:nvPr/>
        </p:nvGrpSpPr>
        <p:grpSpPr>
          <a:xfrm rot="0">
            <a:off x="10972800" y="1920240"/>
            <a:ext cx="6515100" cy="7475220"/>
            <a:chOff x="0" y="0"/>
            <a:chExt cx="8686800" cy="9966960"/>
          </a:xfrm>
        </p:grpSpPr>
        <p:sp>
          <p:nvSpPr>
            <p:cNvPr name="Freeform 25" id="25" descr="/home/claude/batch7d/img_opt/r2_1.jpg"/>
            <p:cNvSpPr/>
            <p:nvPr/>
          </p:nvSpPr>
          <p:spPr>
            <a:xfrm flipH="false" flipV="false" rot="0">
              <a:off x="0" y="0"/>
              <a:ext cx="8686800" cy="9966960"/>
            </a:xfrm>
            <a:custGeom>
              <a:avLst/>
              <a:gdLst/>
              <a:ahLst/>
              <a:cxnLst/>
              <a:rect r="r" b="b" t="t" l="l"/>
              <a:pathLst>
                <a:path h="9966960" w="8686800">
                  <a:moveTo>
                    <a:pt x="0" y="0"/>
                  </a:moveTo>
                  <a:lnTo>
                    <a:pt x="8686800" y="0"/>
                  </a:lnTo>
                  <a:lnTo>
                    <a:pt x="8686800" y="9966960"/>
                  </a:lnTo>
                  <a:lnTo>
                    <a:pt x="0" y="9966960"/>
                  </a:lnTo>
                  <a:lnTo>
                    <a:pt x="0" y="0"/>
                  </a:lnTo>
                  <a:close/>
                </a:path>
              </a:pathLst>
            </a:custGeom>
            <a:blipFill>
              <a:blip r:embed="rId4"/>
              <a:stretch>
                <a:fillRect l="0" t="0" r="-47571" b="0"/>
              </a:stretch>
            </a:blipFill>
          </p:spPr>
        </p:sp>
      </p:grpSp>
      <p:grpSp>
        <p:nvGrpSpPr>
          <p:cNvPr name="Group 26" id="26"/>
          <p:cNvGrpSpPr/>
          <p:nvPr/>
        </p:nvGrpSpPr>
        <p:grpSpPr>
          <a:xfrm rot="0">
            <a:off x="822960" y="9669780"/>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2 — Final Evaluation · Week 8–16 of Sem V (as scheduled by Admin)</a:t>
              </a:r>
            </a:p>
          </p:txBody>
        </p:sp>
      </p:grpSp>
      <p:grpSp>
        <p:nvGrpSpPr>
          <p:cNvPr name="Group 29" id="29"/>
          <p:cNvGrpSpPr/>
          <p:nvPr/>
        </p:nvGrpSpPr>
        <p:grpSpPr>
          <a:xfrm rot="0">
            <a:off x="16500348" y="9669780"/>
            <a:ext cx="1371600" cy="411480"/>
            <a:chOff x="0" y="0"/>
            <a:chExt cx="1828800" cy="548640"/>
          </a:xfrm>
        </p:grpSpPr>
        <p:sp>
          <p:nvSpPr>
            <p:cNvPr name="Freeform 30" id="30"/>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1" id="31"/>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13 of 21</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02</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Complete Methodology (Online + Offline) — As Executed</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B45309"/>
                  </a:solidFill>
                  <a:latin typeface="Times New Roman Bold"/>
                  <a:ea typeface="Times New Roman Bold"/>
                  <a:cs typeface="Times New Roman Bold"/>
                  <a:sym typeface="Times New Roman Bold"/>
                </a:rPr>
                <a:t>REVIEW 2 · SLIDE 2 OF 9 · DECK SLIDE 14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B45309"/>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FINAL EVALUATION GATE</a:t>
              </a:r>
            </a:p>
          </p:txBody>
        </p:sp>
      </p:grpSp>
      <p:grpSp>
        <p:nvGrpSpPr>
          <p:cNvPr name="Group 18" id="18"/>
          <p:cNvGrpSpPr/>
          <p:nvPr/>
        </p:nvGrpSpPr>
        <p:grpSpPr>
          <a:xfrm rot="0">
            <a:off x="822960" y="1920240"/>
            <a:ext cx="16596360" cy="7475220"/>
            <a:chOff x="0" y="0"/>
            <a:chExt cx="22128480" cy="9966960"/>
          </a:xfrm>
        </p:grpSpPr>
        <p:sp>
          <p:nvSpPr>
            <p:cNvPr name="Freeform 19" id="19"/>
            <p:cNvSpPr/>
            <p:nvPr/>
          </p:nvSpPr>
          <p:spPr>
            <a:xfrm flipH="false" flipV="false" rot="0">
              <a:off x="0" y="0"/>
              <a:ext cx="22128480" cy="9966960"/>
            </a:xfrm>
            <a:custGeom>
              <a:avLst/>
              <a:gdLst/>
              <a:ahLst/>
              <a:cxnLst/>
              <a:rect r="r" b="b" t="t" l="l"/>
              <a:pathLst>
                <a:path h="9966960" w="22128480">
                  <a:moveTo>
                    <a:pt x="0" y="0"/>
                  </a:moveTo>
                  <a:lnTo>
                    <a:pt x="22128480" y="0"/>
                  </a:lnTo>
                  <a:lnTo>
                    <a:pt x="22128480" y="9966960"/>
                  </a:lnTo>
                  <a:lnTo>
                    <a:pt x="0" y="9966960"/>
                  </a:lnTo>
                  <a:close/>
                </a:path>
              </a:pathLst>
            </a:custGeom>
            <a:solidFill>
              <a:srgbClr val="F6F8FC"/>
            </a:solidFill>
          </p:spPr>
        </p:sp>
      </p:grpSp>
      <p:grpSp>
        <p:nvGrpSpPr>
          <p:cNvPr name="Group 20" id="20"/>
          <p:cNvGrpSpPr/>
          <p:nvPr/>
        </p:nvGrpSpPr>
        <p:grpSpPr>
          <a:xfrm rot="0">
            <a:off x="1165860" y="2125980"/>
            <a:ext cx="15910560" cy="411480"/>
            <a:chOff x="0" y="0"/>
            <a:chExt cx="21214080" cy="548640"/>
          </a:xfrm>
        </p:grpSpPr>
        <p:sp>
          <p:nvSpPr>
            <p:cNvPr name="Freeform 21" id="21"/>
            <p:cNvSpPr/>
            <p:nvPr/>
          </p:nvSpPr>
          <p:spPr>
            <a:xfrm flipH="false" flipV="false" rot="0">
              <a:off x="0" y="0"/>
              <a:ext cx="21214080" cy="548640"/>
            </a:xfrm>
            <a:custGeom>
              <a:avLst/>
              <a:gdLst/>
              <a:ahLst/>
              <a:cxnLst/>
              <a:rect r="r" b="b" t="t" l="l"/>
              <a:pathLst>
                <a:path h="548640" w="21214080">
                  <a:moveTo>
                    <a:pt x="0" y="0"/>
                  </a:moveTo>
                  <a:lnTo>
                    <a:pt x="21214080" y="0"/>
                  </a:lnTo>
                  <a:lnTo>
                    <a:pt x="21214080" y="548640"/>
                  </a:lnTo>
                  <a:lnTo>
                    <a:pt x="0" y="548640"/>
                  </a:lnTo>
                  <a:close/>
                </a:path>
              </a:pathLst>
            </a:custGeom>
            <a:blipFill>
              <a:blip r:embed="rId3">
                <a:alphaModFix amt="0"/>
              </a:blip>
              <a:stretch>
                <a:fillRect l="0" t="-703421" r="0" b="-703421"/>
              </a:stretch>
            </a:blipFill>
          </p:spPr>
        </p:sp>
        <p:sp>
          <p:nvSpPr>
            <p:cNvPr name="TextBox 22" id="22"/>
            <p:cNvSpPr txBox="true"/>
            <p:nvPr/>
          </p:nvSpPr>
          <p:spPr>
            <a:xfrm>
              <a:off x="0" y="-19050"/>
              <a:ext cx="21214080" cy="567690"/>
            </a:xfrm>
            <a:prstGeom prst="rect">
              <a:avLst/>
            </a:prstGeom>
          </p:spPr>
          <p:txBody>
            <a:bodyPr anchor="ctr" rtlCol="false" tIns="0" lIns="0" bIns="0" rIns="0"/>
            <a:lstStyle/>
            <a:p>
              <a:pPr algn="l">
                <a:lnSpc>
                  <a:spcPts val="2520"/>
                </a:lnSpc>
              </a:pPr>
              <a:r>
                <a:rPr lang="en-US" b="true" sz="2100">
                  <a:solidFill>
                    <a:srgbClr val="B45309"/>
                  </a:solidFill>
                  <a:latin typeface="Times New Roman Bold"/>
                  <a:ea typeface="Times New Roman Bold"/>
                  <a:cs typeface="Times New Roman Bold"/>
                  <a:sym typeface="Times New Roman Bold"/>
                </a:rPr>
                <a:t>METHODOLOGY — AS EXECUTED</a:t>
              </a:r>
            </a:p>
          </p:txBody>
        </p:sp>
      </p:grpSp>
      <p:sp>
        <p:nvSpPr>
          <p:cNvPr name="TextBox 23" id="23"/>
          <p:cNvSpPr txBox="true"/>
          <p:nvPr/>
        </p:nvSpPr>
        <p:spPr>
          <a:xfrm rot="0">
            <a:off x="1257281" y="2545823"/>
            <a:ext cx="15727709" cy="6666776"/>
          </a:xfrm>
          <a:prstGeom prst="rect">
            <a:avLst/>
          </a:prstGeom>
        </p:spPr>
        <p:txBody>
          <a:bodyPr anchor="t" rtlCol="false" tIns="0" lIns="0" bIns="0" rIns="0">
            <a:spAutoFit/>
          </a:bodyPr>
          <a:lstStyle/>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Online / secondary data: RBI Financial Literacy Guidelines, SEBI Investor Education, NPCI/UPI Safety Advisories, CERT-In Cyber Safety Resources.</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Offline field work: 15-mark printed MCQ pre-test administered; 4 structured financial literacy modules delivered interactively; post-test conducted; student Q&amp;A facilitated; financial literacy handout distributed to all students.</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Final field-visit log: 26-09-2026 · Govt. Junior College, Vizianagaram Town · 37 participants · full-day awareness session &amp; assessment · approved non-working day.</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Final sample &amp; response: 37 students, 100% response rate (37/37). Pre-test avg: 5.1/15 (34%). Post-test avg: 12.9/15 (86%). All 37 students improved.</a:t>
            </a:r>
          </a:p>
        </p:txBody>
      </p:sp>
      <p:grpSp>
        <p:nvGrpSpPr>
          <p:cNvPr name="Group 24" id="24"/>
          <p:cNvGrpSpPr/>
          <p:nvPr/>
        </p:nvGrpSpPr>
        <p:grpSpPr>
          <a:xfrm rot="0">
            <a:off x="822960" y="9669780"/>
            <a:ext cx="10972800" cy="411480"/>
            <a:chOff x="0" y="0"/>
            <a:chExt cx="14630400" cy="548640"/>
          </a:xfrm>
        </p:grpSpPr>
        <p:sp>
          <p:nvSpPr>
            <p:cNvPr name="Freeform 25" id="2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6" id="26"/>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2 — Final Evaluation · Week 8–16 of Sem V (as scheduled by Admin)</a:t>
              </a:r>
            </a:p>
          </p:txBody>
        </p:sp>
      </p:grpSp>
      <p:grpSp>
        <p:nvGrpSpPr>
          <p:cNvPr name="Group 27" id="27"/>
          <p:cNvGrpSpPr/>
          <p:nvPr/>
        </p:nvGrpSpPr>
        <p:grpSpPr>
          <a:xfrm rot="0">
            <a:off x="16500348" y="9669780"/>
            <a:ext cx="1371600" cy="411480"/>
            <a:chOff x="0" y="0"/>
            <a:chExt cx="1828800" cy="548640"/>
          </a:xfrm>
        </p:grpSpPr>
        <p:sp>
          <p:nvSpPr>
            <p:cNvPr name="Freeform 28" id="28"/>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29" id="29"/>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14 of 21</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03</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9525"/>
              <a:ext cx="15727680" cy="1015365"/>
            </a:xfrm>
            <a:prstGeom prst="rect">
              <a:avLst/>
            </a:prstGeom>
          </p:spPr>
          <p:txBody>
            <a:bodyPr anchor="ctr" rtlCol="false" tIns="0" lIns="0" bIns="0" rIns="0"/>
            <a:lstStyle/>
            <a:p>
              <a:pPr algn="l">
                <a:lnSpc>
                  <a:spcPts val="3960"/>
                </a:lnSpc>
              </a:pPr>
              <a:r>
                <a:rPr lang="en-US" b="true" sz="3300">
                  <a:solidFill>
                    <a:srgbClr val="1E2761"/>
                  </a:solidFill>
                  <a:latin typeface="Cambria Bold"/>
                  <a:ea typeface="Cambria Bold"/>
                  <a:cs typeface="Cambria Bold"/>
                  <a:sym typeface="Cambria Bold"/>
                </a:rPr>
                <a:t>Field Work &amp; Community Engagement — Full Summary</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B45309"/>
                  </a:solidFill>
                  <a:latin typeface="Times New Roman Bold"/>
                  <a:ea typeface="Times New Roman Bold"/>
                  <a:cs typeface="Times New Roman Bold"/>
                  <a:sym typeface="Times New Roman Bold"/>
                </a:rPr>
                <a:t>REVIEW 2 · SLIDE 3 OF 9 · DECK SLIDE 15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B45309"/>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FINAL EVALUATION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B45309"/>
                  </a:solidFill>
                  <a:latin typeface="Times New Roman Bold"/>
                  <a:ea typeface="Times New Roman Bold"/>
                  <a:cs typeface="Times New Roman Bold"/>
                  <a:sym typeface="Times New Roman Bold"/>
                </a:rPr>
                <a:t>FIELD SUMMARY</a:t>
              </a:r>
            </a:p>
          </p:txBody>
        </p:sp>
      </p:grpSp>
      <p:sp>
        <p:nvSpPr>
          <p:cNvPr name="TextBox 23" id="23"/>
          <p:cNvSpPr txBox="true"/>
          <p:nvPr/>
        </p:nvSpPr>
        <p:spPr>
          <a:xfrm rot="0">
            <a:off x="1257281" y="2545823"/>
            <a:ext cx="8938289" cy="6666776"/>
          </a:xfrm>
          <a:prstGeom prst="rect">
            <a:avLst/>
          </a:prstGeom>
        </p:spPr>
        <p:txBody>
          <a:bodyPr anchor="t" rtlCol="false" tIns="0" lIns="0" bIns="0" rIns="0">
            <a:spAutoFit/>
          </a:bodyPr>
          <a:lstStyle/>
          <a:p>
            <a:pPr algn="just" marL="346710" indent="-173355" lvl="1">
              <a:lnSpc>
                <a:spcPts val="3780"/>
              </a:lnSpc>
              <a:buFont typeface="Arial"/>
              <a:buChar char="•"/>
            </a:pPr>
            <a:r>
              <a:rPr lang="en-US" sz="2100">
                <a:solidFill>
                  <a:srgbClr val="1A1A2E"/>
                </a:solidFill>
                <a:latin typeface="Times New Roman"/>
                <a:ea typeface="Times New Roman"/>
                <a:cs typeface="Times New Roman"/>
                <a:sym typeface="Times New Roman"/>
              </a:rPr>
              <a:t>Field activity: full-day financial literacy awareness session at Govt. Junior College, Vizianagaram Town — 37 Class XII students — 26-09-2026, approved non-working day. Team delivered all 4 modules using interactive teaching with real-case fraud examples.</a:t>
            </a:r>
          </a:p>
          <a:p>
            <a:pPr algn="just" marL="346710" indent="-173355" lvl="1">
              <a:lnSpc>
                <a:spcPts val="3780"/>
              </a:lnSpc>
              <a:buFont typeface="Arial"/>
              <a:buChar char="•"/>
            </a:pPr>
            <a:r>
              <a:rPr lang="en-US" sz="2100">
                <a:solidFill>
                  <a:srgbClr val="1A1A2E"/>
                </a:solidFill>
                <a:latin typeface="Times New Roman"/>
                <a:ea typeface="Times New Roman"/>
                <a:cs typeface="Times New Roman"/>
                <a:sym typeface="Times New Roman"/>
              </a:rPr>
              <a:t>Community participation: 37 students actively participated, engaged with module content, asked questions on UPI safety and savings accounts, and completed both pre-test and post-test with 100% response rate.</a:t>
            </a:r>
          </a:p>
          <a:p>
            <a:pPr algn="just" marL="346710" indent="-173355" lvl="1">
              <a:lnSpc>
                <a:spcPts val="3780"/>
              </a:lnSpc>
              <a:buFont typeface="Arial"/>
              <a:buChar char="•"/>
            </a:pPr>
            <a:r>
              <a:rPr lang="en-US" sz="2100">
                <a:solidFill>
                  <a:srgbClr val="1A1A2E"/>
                </a:solidFill>
                <a:latin typeface="Times New Roman"/>
                <a:ea typeface="Times New Roman"/>
                <a:cs typeface="Times New Roman"/>
                <a:sym typeface="Times New Roman"/>
              </a:rPr>
              <a:t>Community feedback: students found UPI fraud prevention and govt. schemes modules most impactful. Several were unaware of PM Scholarship before the session. The session-end photograph reflects strong student engagement.</a:t>
            </a:r>
          </a:p>
        </p:txBody>
      </p:sp>
      <p:grpSp>
        <p:nvGrpSpPr>
          <p:cNvPr name="Group 24" id="24"/>
          <p:cNvGrpSpPr/>
          <p:nvPr/>
        </p:nvGrpSpPr>
        <p:grpSpPr>
          <a:xfrm rot="0">
            <a:off x="10972800" y="2125990"/>
            <a:ext cx="6515100" cy="6956546"/>
            <a:chOff x="0" y="0"/>
            <a:chExt cx="8686800" cy="9275394"/>
          </a:xfrm>
        </p:grpSpPr>
        <p:sp>
          <p:nvSpPr>
            <p:cNvPr name="Freeform 25" id="25" descr="/home/claude/batch7d/img_opt/r2_3.jpg"/>
            <p:cNvSpPr/>
            <p:nvPr/>
          </p:nvSpPr>
          <p:spPr>
            <a:xfrm flipH="false" flipV="false" rot="0">
              <a:off x="0" y="0"/>
              <a:ext cx="8686800" cy="9275445"/>
            </a:xfrm>
            <a:custGeom>
              <a:avLst/>
              <a:gdLst/>
              <a:ahLst/>
              <a:cxnLst/>
              <a:rect r="r" b="b" t="t" l="l"/>
              <a:pathLst>
                <a:path h="9275445" w="8686800">
                  <a:moveTo>
                    <a:pt x="0" y="0"/>
                  </a:moveTo>
                  <a:lnTo>
                    <a:pt x="8686800" y="0"/>
                  </a:lnTo>
                  <a:lnTo>
                    <a:pt x="8686800" y="9275445"/>
                  </a:lnTo>
                  <a:lnTo>
                    <a:pt x="0" y="9275445"/>
                  </a:lnTo>
                  <a:lnTo>
                    <a:pt x="0" y="0"/>
                  </a:lnTo>
                  <a:close/>
                </a:path>
              </a:pathLst>
            </a:custGeom>
            <a:blipFill>
              <a:blip r:embed="rId4"/>
              <a:stretch>
                <a:fillRect l="0" t="0" r="-89823" b="0"/>
              </a:stretch>
            </a:blipFill>
          </p:spPr>
        </p:sp>
      </p:grpSp>
      <p:grpSp>
        <p:nvGrpSpPr>
          <p:cNvPr name="Group 26" id="26"/>
          <p:cNvGrpSpPr/>
          <p:nvPr/>
        </p:nvGrpSpPr>
        <p:grpSpPr>
          <a:xfrm rot="0">
            <a:off x="822960" y="9669780"/>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2 — Final Evaluation · Week 8–16 of Sem V (as scheduled by Admin)</a:t>
              </a:r>
            </a:p>
          </p:txBody>
        </p:sp>
      </p:grpSp>
      <p:grpSp>
        <p:nvGrpSpPr>
          <p:cNvPr name="Group 29" id="29"/>
          <p:cNvGrpSpPr/>
          <p:nvPr/>
        </p:nvGrpSpPr>
        <p:grpSpPr>
          <a:xfrm rot="0">
            <a:off x="16500348" y="9669780"/>
            <a:ext cx="1371600" cy="411480"/>
            <a:chOff x="0" y="0"/>
            <a:chExt cx="1828800" cy="548640"/>
          </a:xfrm>
        </p:grpSpPr>
        <p:sp>
          <p:nvSpPr>
            <p:cNvPr name="Freeform 30" id="30"/>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1" id="31"/>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15 of 21</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04</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Field Evidence — Photos &amp; Documentation</a:t>
              </a:r>
            </a:p>
          </p:txBody>
        </p:sp>
      </p:grpSp>
      <p:grpSp>
        <p:nvGrpSpPr>
          <p:cNvPr name="Group 10" id="10"/>
          <p:cNvGrpSpPr/>
          <p:nvPr/>
        </p:nvGrpSpPr>
        <p:grpSpPr>
          <a:xfrm rot="0">
            <a:off x="13921740" y="548640"/>
            <a:ext cx="3566160" cy="822960"/>
            <a:chOff x="0" y="0"/>
            <a:chExt cx="4754880" cy="1097280"/>
          </a:xfrm>
        </p:grpSpPr>
        <p:sp>
          <p:nvSpPr>
            <p:cNvPr name="Freeform 11" id="11"/>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B45309"/>
            </a:solidFill>
          </p:spPr>
        </p:sp>
      </p:grpSp>
      <p:grpSp>
        <p:nvGrpSpPr>
          <p:cNvPr name="Group 12" id="12"/>
          <p:cNvGrpSpPr/>
          <p:nvPr/>
        </p:nvGrpSpPr>
        <p:grpSpPr>
          <a:xfrm rot="0">
            <a:off x="13921740" y="548640"/>
            <a:ext cx="3566160" cy="822960"/>
            <a:chOff x="0" y="0"/>
            <a:chExt cx="4754880" cy="1097280"/>
          </a:xfrm>
        </p:grpSpPr>
        <p:sp>
          <p:nvSpPr>
            <p:cNvPr name="Freeform 13" id="13"/>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4" id="14"/>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FINAL EVALUATION GATE</a:t>
              </a:r>
            </a:p>
          </p:txBody>
        </p:sp>
      </p:grpSp>
      <p:grpSp>
        <p:nvGrpSpPr>
          <p:cNvPr name="Group 15" id="15"/>
          <p:cNvGrpSpPr/>
          <p:nvPr/>
        </p:nvGrpSpPr>
        <p:grpSpPr>
          <a:xfrm rot="0">
            <a:off x="822960" y="1920240"/>
            <a:ext cx="8321040" cy="7197193"/>
            <a:chOff x="0" y="0"/>
            <a:chExt cx="11094720" cy="9596257"/>
          </a:xfrm>
        </p:grpSpPr>
        <p:sp>
          <p:nvSpPr>
            <p:cNvPr name="Freeform 16" id="16"/>
            <p:cNvSpPr/>
            <p:nvPr/>
          </p:nvSpPr>
          <p:spPr>
            <a:xfrm flipH="false" flipV="false" rot="0">
              <a:off x="0" y="0"/>
              <a:ext cx="11094720" cy="9596257"/>
            </a:xfrm>
            <a:custGeom>
              <a:avLst/>
              <a:gdLst/>
              <a:ahLst/>
              <a:cxnLst/>
              <a:rect r="r" b="b" t="t" l="l"/>
              <a:pathLst>
                <a:path h="9596257" w="11094720">
                  <a:moveTo>
                    <a:pt x="0" y="0"/>
                  </a:moveTo>
                  <a:lnTo>
                    <a:pt x="11094720" y="0"/>
                  </a:lnTo>
                  <a:lnTo>
                    <a:pt x="11094720" y="9596257"/>
                  </a:lnTo>
                  <a:lnTo>
                    <a:pt x="0" y="9596257"/>
                  </a:lnTo>
                  <a:close/>
                </a:path>
              </a:pathLst>
            </a:custGeom>
            <a:solidFill>
              <a:srgbClr val="F6F8FC"/>
            </a:solidFill>
          </p:spPr>
        </p:sp>
      </p:grpSp>
      <p:grpSp>
        <p:nvGrpSpPr>
          <p:cNvPr name="Group 17" id="17"/>
          <p:cNvGrpSpPr/>
          <p:nvPr/>
        </p:nvGrpSpPr>
        <p:grpSpPr>
          <a:xfrm rot="0">
            <a:off x="1165860" y="2125980"/>
            <a:ext cx="9121140" cy="411480"/>
            <a:chOff x="0" y="0"/>
            <a:chExt cx="12161520" cy="548640"/>
          </a:xfrm>
        </p:grpSpPr>
        <p:sp>
          <p:nvSpPr>
            <p:cNvPr name="Freeform 18" id="18"/>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19" id="19"/>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B45309"/>
                  </a:solidFill>
                  <a:latin typeface="Times New Roman Bold"/>
                  <a:ea typeface="Times New Roman Bold"/>
                  <a:cs typeface="Times New Roman Bold"/>
                  <a:sym typeface="Times New Roman Bold"/>
                </a:rPr>
                <a:t>FIELD EVIDENCE</a:t>
              </a:r>
            </a:p>
          </p:txBody>
        </p:sp>
      </p:grpSp>
      <p:sp>
        <p:nvSpPr>
          <p:cNvPr name="TextBox 20" id="20"/>
          <p:cNvSpPr txBox="true"/>
          <p:nvPr/>
        </p:nvSpPr>
        <p:spPr>
          <a:xfrm rot="0">
            <a:off x="1028700" y="2451884"/>
            <a:ext cx="7794024" cy="3796338"/>
          </a:xfrm>
          <a:prstGeom prst="rect">
            <a:avLst/>
          </a:prstGeom>
        </p:spPr>
        <p:txBody>
          <a:bodyPr anchor="t" rtlCol="false" tIns="0" lIns="0" bIns="0" rIns="0">
            <a:spAutoFit/>
          </a:bodyPr>
          <a:lstStyle/>
          <a:p>
            <a:pPr algn="just" marL="352726" indent="-176363" lvl="1">
              <a:lnSpc>
                <a:spcPts val="3793"/>
              </a:lnSpc>
              <a:buFont typeface="Arial"/>
              <a:buChar char="•"/>
            </a:pPr>
            <a:r>
              <a:rPr lang="en-US" sz="2107">
                <a:solidFill>
                  <a:srgbClr val="1A1A2E"/>
                </a:solidFill>
                <a:latin typeface="Times New Roman"/>
                <a:ea typeface="Times New Roman"/>
                <a:cs typeface="Times New Roman"/>
                <a:sym typeface="Times New Roman"/>
              </a:rPr>
              <a:t>Field photographs from the Financial Literacy Programme conducted at Govt. Junior College, Vizianagaram Town on 26-09-2026, documenting session delivery and student engagement.</a:t>
            </a:r>
          </a:p>
          <a:p>
            <a:pPr algn="just" marL="352726" indent="-176363" lvl="1">
              <a:lnSpc>
                <a:spcPts val="3793"/>
              </a:lnSpc>
              <a:buFont typeface="Arial"/>
              <a:buChar char="•"/>
            </a:pPr>
            <a:r>
              <a:rPr lang="en-US" sz="2107">
                <a:solidFill>
                  <a:srgbClr val="1A1A2E"/>
                </a:solidFill>
                <a:latin typeface="Times New Roman"/>
                <a:ea typeface="Times New Roman"/>
                <a:cs typeface="Times New Roman"/>
                <a:sym typeface="Times New Roman"/>
              </a:rPr>
              <a:t>The session covered 37 Class XII students — photographs document module delivery, student participation in pre/post assessments, and team presentation in progress on the smart board.</a:t>
            </a:r>
          </a:p>
          <a:p>
            <a:pPr algn="just" marL="352726" indent="-176363" lvl="1">
              <a:lnSpc>
                <a:spcPts val="3793"/>
              </a:lnSpc>
              <a:buFont typeface="Arial"/>
              <a:buChar char="•"/>
            </a:pPr>
            <a:r>
              <a:rPr lang="en-US" sz="2107">
                <a:solidFill>
                  <a:srgbClr val="1A1A2E"/>
                </a:solidFill>
                <a:latin typeface="Times New Roman"/>
                <a:ea typeface="Times New Roman"/>
                <a:cs typeface="Times New Roman"/>
                <a:sym typeface="Times New Roman"/>
              </a:rPr>
              <a:t>Participation record: 37 students completed both pre-test and post-test and received the financial literacy handout.</a:t>
            </a:r>
          </a:p>
        </p:txBody>
      </p:sp>
      <p:grpSp>
        <p:nvGrpSpPr>
          <p:cNvPr name="Group 21" id="21"/>
          <p:cNvGrpSpPr/>
          <p:nvPr/>
        </p:nvGrpSpPr>
        <p:grpSpPr>
          <a:xfrm rot="0">
            <a:off x="822960" y="9669780"/>
            <a:ext cx="10972800" cy="411480"/>
            <a:chOff x="0" y="0"/>
            <a:chExt cx="14630400" cy="548640"/>
          </a:xfrm>
        </p:grpSpPr>
        <p:sp>
          <p:nvSpPr>
            <p:cNvPr name="Freeform 22" id="22"/>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3" id="23"/>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2 — Final Evaluation · Week 8–16 of Sem V (as scheduled by Admin)</a:t>
              </a:r>
            </a:p>
          </p:txBody>
        </p:sp>
      </p:grpSp>
      <p:grpSp>
        <p:nvGrpSpPr>
          <p:cNvPr name="Group 24" id="24"/>
          <p:cNvGrpSpPr/>
          <p:nvPr/>
        </p:nvGrpSpPr>
        <p:grpSpPr>
          <a:xfrm rot="0">
            <a:off x="16500348" y="9669780"/>
            <a:ext cx="1371600" cy="411480"/>
            <a:chOff x="0" y="0"/>
            <a:chExt cx="1828800" cy="548640"/>
          </a:xfrm>
        </p:grpSpPr>
        <p:sp>
          <p:nvSpPr>
            <p:cNvPr name="Freeform 25" id="25"/>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26" id="26"/>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16 of 21</a:t>
              </a:r>
            </a:p>
          </p:txBody>
        </p:sp>
      </p:grpSp>
      <p:grpSp>
        <p:nvGrpSpPr>
          <p:cNvPr name="Group 27" id="27"/>
          <p:cNvGrpSpPr/>
          <p:nvPr/>
        </p:nvGrpSpPr>
        <p:grpSpPr>
          <a:xfrm rot="0">
            <a:off x="9344797" y="2125980"/>
            <a:ext cx="8324110" cy="5171908"/>
            <a:chOff x="0" y="0"/>
            <a:chExt cx="10857470" cy="6745926"/>
          </a:xfrm>
        </p:grpSpPr>
        <p:sp>
          <p:nvSpPr>
            <p:cNvPr name="Freeform 28" id="28">
              <a:hlinkClick r:id="rId4" tooltip="http://drive.google.com/file/d/1lu6VI--asz2HR2t7W0UV3xY52DIgKV2V/view"/>
            </p:cNvPr>
            <p:cNvSpPr/>
            <p:nvPr/>
          </p:nvSpPr>
          <p:spPr>
            <a:xfrm flipH="false" flipV="false" rot="0">
              <a:off x="0" y="0"/>
              <a:ext cx="10857386" cy="6745952"/>
            </a:xfrm>
            <a:custGeom>
              <a:avLst/>
              <a:gdLst/>
              <a:ahLst/>
              <a:cxnLst/>
              <a:rect r="r" b="b" t="t" l="l"/>
              <a:pathLst>
                <a:path h="6745952" w="10857386">
                  <a:moveTo>
                    <a:pt x="0" y="0"/>
                  </a:moveTo>
                  <a:lnTo>
                    <a:pt x="10857386" y="0"/>
                  </a:lnTo>
                  <a:lnTo>
                    <a:pt x="10857386" y="6745952"/>
                  </a:lnTo>
                  <a:lnTo>
                    <a:pt x="0" y="6745952"/>
                  </a:lnTo>
                  <a:lnTo>
                    <a:pt x="0" y="0"/>
                  </a:lnTo>
                  <a:close/>
                </a:path>
              </a:pathLst>
            </a:custGeom>
            <a:blipFill>
              <a:blip r:embed="rId5"/>
              <a:stretch>
                <a:fillRect l="0" t="-296" r="0" b="-295"/>
              </a:stretch>
            </a:blip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05</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Data Analysis &amp; Findings</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B45309"/>
                  </a:solidFill>
                  <a:latin typeface="Times New Roman Bold"/>
                  <a:ea typeface="Times New Roman Bold"/>
                  <a:cs typeface="Times New Roman Bold"/>
                  <a:sym typeface="Times New Roman Bold"/>
                </a:rPr>
                <a:t>REVIEW 2 · SLIDE 5 OF 9 · DECK SLIDE 17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B45309"/>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FINAL EVALUATION GATE</a:t>
              </a:r>
            </a:p>
          </p:txBody>
        </p:sp>
      </p:grpSp>
      <p:grpSp>
        <p:nvGrpSpPr>
          <p:cNvPr name="Group 18" id="18"/>
          <p:cNvGrpSpPr/>
          <p:nvPr/>
        </p:nvGrpSpPr>
        <p:grpSpPr>
          <a:xfrm rot="0">
            <a:off x="822960" y="1920240"/>
            <a:ext cx="16363188" cy="2424396"/>
            <a:chOff x="0" y="0"/>
            <a:chExt cx="21817584" cy="3232528"/>
          </a:xfrm>
        </p:grpSpPr>
        <p:sp>
          <p:nvSpPr>
            <p:cNvPr name="Freeform 19" id="19"/>
            <p:cNvSpPr/>
            <p:nvPr/>
          </p:nvSpPr>
          <p:spPr>
            <a:xfrm flipH="false" flipV="false" rot="0">
              <a:off x="0" y="0"/>
              <a:ext cx="21817583" cy="3232527"/>
            </a:xfrm>
            <a:custGeom>
              <a:avLst/>
              <a:gdLst/>
              <a:ahLst/>
              <a:cxnLst/>
              <a:rect r="r" b="b" t="t" l="l"/>
              <a:pathLst>
                <a:path h="3232527" w="21817583">
                  <a:moveTo>
                    <a:pt x="0" y="0"/>
                  </a:moveTo>
                  <a:lnTo>
                    <a:pt x="21817583" y="0"/>
                  </a:lnTo>
                  <a:lnTo>
                    <a:pt x="21817583" y="3232527"/>
                  </a:lnTo>
                  <a:lnTo>
                    <a:pt x="0" y="3232527"/>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B45309"/>
                  </a:solidFill>
                  <a:latin typeface="Times New Roman Bold"/>
                  <a:ea typeface="Times New Roman Bold"/>
                  <a:cs typeface="Times New Roman Bold"/>
                  <a:sym typeface="Times New Roman Bold"/>
                </a:rPr>
                <a:t>PRE / POST TEST FINDINGS</a:t>
              </a:r>
            </a:p>
          </p:txBody>
        </p:sp>
      </p:grpSp>
      <p:sp>
        <p:nvSpPr>
          <p:cNvPr name="TextBox 23" id="23"/>
          <p:cNvSpPr txBox="true"/>
          <p:nvPr/>
        </p:nvSpPr>
        <p:spPr>
          <a:xfrm rot="0">
            <a:off x="1257300" y="2545823"/>
            <a:ext cx="15493548" cy="1402080"/>
          </a:xfrm>
          <a:prstGeom prst="rect">
            <a:avLst/>
          </a:prstGeom>
        </p:spPr>
        <p:txBody>
          <a:bodyPr anchor="t" rtlCol="false" tIns="0" lIns="0" bIns="0" rIns="0">
            <a:spAutoFit/>
          </a:bodyPr>
          <a:lstStyle/>
          <a:p>
            <a:pPr algn="just" marL="337186" indent="-168593" lvl="1">
              <a:lnSpc>
                <a:spcPts val="3780"/>
              </a:lnSpc>
              <a:buFont typeface="Arial"/>
              <a:buChar char="•"/>
            </a:pPr>
            <a:r>
              <a:rPr lang="en-US" sz="2100">
                <a:solidFill>
                  <a:srgbClr val="1A1A2E"/>
                </a:solidFill>
                <a:latin typeface="Times New Roman"/>
                <a:ea typeface="Times New Roman"/>
                <a:cs typeface="Times New Roman"/>
                <a:sym typeface="Times New Roman"/>
              </a:rPr>
              <a:t>All 37 students showed measurable improvement — class average rose from 5.1/15 (34%) to 12.9/15 (86%), a gain of +7.8 marks (+152%).</a:t>
            </a:r>
          </a:p>
          <a:p>
            <a:pPr algn="just" marL="337186" indent="-168593" lvl="1">
              <a:lnSpc>
                <a:spcPts val="3780"/>
              </a:lnSpc>
              <a:buFont typeface="Arial"/>
              <a:buChar char="•"/>
            </a:pPr>
            <a:r>
              <a:rPr lang="en-US" sz="2100">
                <a:solidFill>
                  <a:srgbClr val="1A1A2E"/>
                </a:solidFill>
                <a:latin typeface="Times New Roman"/>
                <a:ea typeface="Times New Roman"/>
                <a:cs typeface="Times New Roman"/>
                <a:sym typeface="Times New Roman"/>
              </a:rPr>
              <a:t>Before the session: 59% of students scored below 40%; zero students scored above 80%. After: 78% scored in the 80–100% band.</a:t>
            </a:r>
          </a:p>
          <a:p>
            <a:pPr algn="just" marL="337186" indent="-168593" lvl="1">
              <a:lnSpc>
                <a:spcPts val="3780"/>
              </a:lnSpc>
              <a:buFont typeface="Arial"/>
              <a:buChar char="•"/>
            </a:pPr>
            <a:r>
              <a:rPr lang="en-US" sz="2100">
                <a:solidFill>
                  <a:srgbClr val="1A1A2E"/>
                </a:solidFill>
                <a:latin typeface="Times New Roman"/>
                <a:ea typeface="Times New Roman"/>
                <a:cs typeface="Times New Roman"/>
                <a:sym typeface="Times New Roman"/>
              </a:rPr>
              <a:t>Every single student improved (37/37). The lowest post-test score was 11/15 (73%) — a comprehensive floor lift across the entire class.</a:t>
            </a:r>
          </a:p>
        </p:txBody>
      </p:sp>
      <p:graphicFrame>
        <p:nvGraphicFramePr>
          <p:cNvPr name="Table 24" id="24"/>
          <p:cNvGraphicFramePr>
            <a:graphicFrameLocks noGrp="true"/>
          </p:cNvGraphicFramePr>
          <p:nvPr/>
        </p:nvGraphicFramePr>
        <p:xfrm>
          <a:off x="932935" y="4487511"/>
          <a:ext cx="8842495" cy="4309167"/>
        </p:xfrm>
        <a:graphic>
          <a:graphicData uri="http://schemas.openxmlformats.org/drawingml/2006/table">
            <a:tbl>
              <a:tblPr/>
              <a:tblGrid>
                <a:gridCol w="2186292"/>
                <a:gridCol w="2903931"/>
                <a:gridCol w="2476479"/>
                <a:gridCol w="1275794"/>
              </a:tblGrid>
              <a:tr h="620497">
                <a:tc>
                  <a:txBody>
                    <a:bodyPr anchor="t" rtlCol="false"/>
                    <a:lstStyle/>
                    <a:p>
                      <a:pPr algn="l">
                        <a:lnSpc>
                          <a:spcPts val="3780"/>
                        </a:lnSpc>
                        <a:defRPr/>
                      </a:pPr>
                      <a:r>
                        <a:rPr lang="en-US" b="true" sz="2100">
                          <a:solidFill>
                            <a:srgbClr val="FFFFFF"/>
                          </a:solidFill>
                          <a:latin typeface="Times New Roman Bold"/>
                          <a:ea typeface="Times New Roman Bold"/>
                          <a:cs typeface="Times New Roman Bold"/>
                          <a:sym typeface="Times New Roman Bold"/>
                        </a:rPr>
                        <a:t>Metric</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B45309"/>
                    </a:solidFill>
                  </a:tcPr>
                </a:tc>
                <a:tc>
                  <a:txBody>
                    <a:bodyPr anchor="t" rtlCol="false"/>
                    <a:lstStyle/>
                    <a:p>
                      <a:pPr algn="l">
                        <a:lnSpc>
                          <a:spcPts val="3780"/>
                        </a:lnSpc>
                        <a:defRPr/>
                      </a:pPr>
                      <a:r>
                        <a:rPr lang="en-US" b="true" sz="2100">
                          <a:solidFill>
                            <a:srgbClr val="FFFFFF"/>
                          </a:solidFill>
                          <a:latin typeface="Times New Roman Bold"/>
                          <a:ea typeface="Times New Roman Bold"/>
                          <a:cs typeface="Times New Roman Bold"/>
                          <a:sym typeface="Times New Roman Bold"/>
                        </a:rPr>
                        <a:t>Pre-Test</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B45309"/>
                    </a:solidFill>
                  </a:tcPr>
                </a:tc>
                <a:tc>
                  <a:txBody>
                    <a:bodyPr anchor="t" rtlCol="false"/>
                    <a:lstStyle/>
                    <a:p>
                      <a:pPr algn="l">
                        <a:lnSpc>
                          <a:spcPts val="3780"/>
                        </a:lnSpc>
                        <a:defRPr/>
                      </a:pP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B45309"/>
                    </a:solidFill>
                  </a:tcPr>
                </a:tc>
                <a:tc>
                  <a:txBody>
                    <a:bodyPr anchor="t" rtlCol="false"/>
                    <a:lstStyle/>
                    <a:p>
                      <a:pPr algn="l">
                        <a:lnSpc>
                          <a:spcPts val="3780"/>
                        </a:lnSpc>
                        <a:defRPr/>
                      </a:pPr>
                      <a:r>
                        <a:rPr lang="en-US" b="true" sz="2100">
                          <a:solidFill>
                            <a:srgbClr val="FFFFFF"/>
                          </a:solidFill>
                          <a:latin typeface="Times New Roman Bold"/>
                          <a:ea typeface="Times New Roman Bold"/>
                          <a:cs typeface="Times New Roman Bold"/>
                          <a:sym typeface="Times New Roman Bold"/>
                        </a:rPr>
                        <a:t>Change</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B45309"/>
                    </a:solidFill>
                  </a:tcPr>
                </a:tc>
              </a:tr>
              <a:tr h="1338266">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Class Average Score</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5.1 / 15</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12.9 / 15</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+7.8 marks</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1252603">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Average Percentage</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34%</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86%</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+52%</a:t>
                      </a:r>
                      <a:endParaRPr lang="en-US" sz="1100"/>
                    </a:p>
                    <a:p>
                      <a:pPr algn="l">
                        <a:lnSpc>
                          <a:spcPts val="3780"/>
                        </a:lnSpc>
                      </a:pPr>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1097802">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Students &gt; 80%</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0 / 37</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29 / 37  (78%)</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+29 students</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bl>
          </a:graphicData>
        </a:graphic>
      </p:graphicFrame>
      <p:grpSp>
        <p:nvGrpSpPr>
          <p:cNvPr name="Group 25" id="25"/>
          <p:cNvGrpSpPr/>
          <p:nvPr/>
        </p:nvGrpSpPr>
        <p:grpSpPr>
          <a:xfrm rot="0">
            <a:off x="822960" y="9669780"/>
            <a:ext cx="10972800" cy="411480"/>
            <a:chOff x="0" y="0"/>
            <a:chExt cx="14630400" cy="548640"/>
          </a:xfrm>
        </p:grpSpPr>
        <p:sp>
          <p:nvSpPr>
            <p:cNvPr name="Freeform 26" id="2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7" id="27"/>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2 — Final Evaluation · Week 8–16 of Sem V (as scheduled by Admin)</a:t>
              </a:r>
            </a:p>
          </p:txBody>
        </p:sp>
      </p:grpSp>
      <p:grpSp>
        <p:nvGrpSpPr>
          <p:cNvPr name="Group 28" id="28"/>
          <p:cNvGrpSpPr/>
          <p:nvPr/>
        </p:nvGrpSpPr>
        <p:grpSpPr>
          <a:xfrm rot="0">
            <a:off x="16500348" y="9669780"/>
            <a:ext cx="1371600" cy="411480"/>
            <a:chOff x="0" y="0"/>
            <a:chExt cx="1828800" cy="548640"/>
          </a:xfrm>
        </p:grpSpPr>
        <p:sp>
          <p:nvSpPr>
            <p:cNvPr name="Freeform 29" id="29"/>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0" id="30"/>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17 of 21</a:t>
              </a:r>
            </a:p>
          </p:txBody>
        </p:sp>
      </p:grpSp>
      <p:grpSp>
        <p:nvGrpSpPr>
          <p:cNvPr name="Group 31" id="31"/>
          <p:cNvGrpSpPr/>
          <p:nvPr/>
        </p:nvGrpSpPr>
        <p:grpSpPr>
          <a:xfrm rot="0">
            <a:off x="9850604" y="4592286"/>
            <a:ext cx="7408696" cy="4373748"/>
            <a:chOff x="0" y="0"/>
            <a:chExt cx="19110136" cy="11281732"/>
          </a:xfrm>
        </p:grpSpPr>
        <p:sp>
          <p:nvSpPr>
            <p:cNvPr name="Freeform 32" id="32" descr="WhatsApp Image 2026-10-02 at 16.55.47.jpeg"/>
            <p:cNvSpPr/>
            <p:nvPr/>
          </p:nvSpPr>
          <p:spPr>
            <a:xfrm flipH="false" flipV="false" rot="0">
              <a:off x="0" y="0"/>
              <a:ext cx="19110136" cy="11281732"/>
            </a:xfrm>
            <a:custGeom>
              <a:avLst/>
              <a:gdLst/>
              <a:ahLst/>
              <a:cxnLst/>
              <a:rect r="r" b="b" t="t" l="l"/>
              <a:pathLst>
                <a:path h="11281732" w="19110136">
                  <a:moveTo>
                    <a:pt x="0" y="0"/>
                  </a:moveTo>
                  <a:lnTo>
                    <a:pt x="19110136" y="0"/>
                  </a:lnTo>
                  <a:lnTo>
                    <a:pt x="19110136" y="11281732"/>
                  </a:lnTo>
                  <a:lnTo>
                    <a:pt x="0" y="11281732"/>
                  </a:lnTo>
                  <a:lnTo>
                    <a:pt x="0" y="0"/>
                  </a:lnTo>
                  <a:close/>
                </a:path>
              </a:pathLst>
            </a:custGeom>
            <a:blipFill>
              <a:blip r:embed="rId4"/>
              <a:stretch>
                <a:fillRect l="-7455" t="0" r="-7455" b="0"/>
              </a:stretch>
            </a:blipFill>
          </p:spPr>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06</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Outcomes &amp; Community Impact</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530"/>
                </a:lnSpc>
              </a:pPr>
              <a:r>
                <a:rPr lang="en-US" b="true" sz="1275">
                  <a:solidFill>
                    <a:srgbClr val="B45309"/>
                  </a:solidFill>
                  <a:latin typeface="Times New Roman Bold"/>
                  <a:ea typeface="Times New Roman Bold"/>
                  <a:cs typeface="Times New Roman Bold"/>
                  <a:sym typeface="Times New Roman Bold"/>
                </a:rPr>
                <a:t>REVIEW 2 · SLIDE 6 OF 9 · DECK SLIDE 18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B45309"/>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FINAL EVALUATION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B45309"/>
                  </a:solidFill>
                  <a:latin typeface="Times New Roman Bold"/>
                  <a:ea typeface="Times New Roman Bold"/>
                  <a:cs typeface="Times New Roman Bold"/>
                  <a:sym typeface="Times New Roman Bold"/>
                </a:rPr>
                <a:t>IMPACT</a:t>
              </a:r>
            </a:p>
          </p:txBody>
        </p:sp>
      </p:grpSp>
      <p:sp>
        <p:nvSpPr>
          <p:cNvPr name="TextBox 23" id="23"/>
          <p:cNvSpPr txBox="true"/>
          <p:nvPr/>
        </p:nvSpPr>
        <p:spPr>
          <a:xfrm rot="0">
            <a:off x="1257281" y="2545823"/>
            <a:ext cx="8938289" cy="6666776"/>
          </a:xfrm>
          <a:prstGeom prst="rect">
            <a:avLst/>
          </a:prstGeom>
        </p:spPr>
        <p:txBody>
          <a:bodyPr anchor="t" rtlCol="false" tIns="0" lIns="0" bIns="0" rIns="0">
            <a:spAutoFit/>
          </a:bodyPr>
          <a:lstStyle/>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Equipped 37 rural Class XII students with foundational financial literacy — savings, banking, digital payments, insurance, and financial planning.</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Educated students on UPI safety, OTP scam prevention, fake link identification, and safe digital payment practices — directly protecting them from financial fraud.</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Created awareness of government schemes for students: PM Scholarship, education loans, zero-balance Jan Dhan accounts, and PM Suraksha Bima Yojana.</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Measured knowledge improvement: class average went from 34% to 86% — a +152% increase — with all 37 students showing individual improvement.</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Distributed actionable financial literacy handout so students can apply learning immediately and share with families.</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Overall financial knowledge improved from 34% pre-test to 86% post-test. 78% of students scored 80–100% after the session.</a:t>
            </a:r>
          </a:p>
        </p:txBody>
      </p:sp>
      <p:grpSp>
        <p:nvGrpSpPr>
          <p:cNvPr name="Group 24" id="24"/>
          <p:cNvGrpSpPr/>
          <p:nvPr/>
        </p:nvGrpSpPr>
        <p:grpSpPr>
          <a:xfrm rot="0">
            <a:off x="10972800" y="1935300"/>
            <a:ext cx="6501975" cy="7460160"/>
            <a:chOff x="0" y="0"/>
            <a:chExt cx="8686800" cy="9966960"/>
          </a:xfrm>
        </p:grpSpPr>
        <p:sp>
          <p:nvSpPr>
            <p:cNvPr name="Freeform 25" id="25" descr="/home/claude/batch7d/img_opt/r2_6.jpg"/>
            <p:cNvSpPr/>
            <p:nvPr/>
          </p:nvSpPr>
          <p:spPr>
            <a:xfrm flipH="false" flipV="false" rot="0">
              <a:off x="0" y="0"/>
              <a:ext cx="8686800" cy="9966960"/>
            </a:xfrm>
            <a:custGeom>
              <a:avLst/>
              <a:gdLst/>
              <a:ahLst/>
              <a:cxnLst/>
              <a:rect r="r" b="b" t="t" l="l"/>
              <a:pathLst>
                <a:path h="9966960" w="8686800">
                  <a:moveTo>
                    <a:pt x="0" y="0"/>
                  </a:moveTo>
                  <a:lnTo>
                    <a:pt x="8686800" y="0"/>
                  </a:lnTo>
                  <a:lnTo>
                    <a:pt x="8686800" y="9966960"/>
                  </a:lnTo>
                  <a:lnTo>
                    <a:pt x="0" y="9966960"/>
                  </a:lnTo>
                  <a:lnTo>
                    <a:pt x="0" y="0"/>
                  </a:lnTo>
                  <a:close/>
                </a:path>
              </a:pathLst>
            </a:custGeom>
            <a:blipFill>
              <a:blip r:embed="rId4"/>
              <a:stretch>
                <a:fillRect l="0" t="0" r="-47571" b="0"/>
              </a:stretch>
            </a:blipFill>
          </p:spPr>
        </p:sp>
      </p:grpSp>
      <p:grpSp>
        <p:nvGrpSpPr>
          <p:cNvPr name="Group 26" id="26"/>
          <p:cNvGrpSpPr/>
          <p:nvPr/>
        </p:nvGrpSpPr>
        <p:grpSpPr>
          <a:xfrm rot="0">
            <a:off x="822960" y="9669780"/>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2 — Final Evaluation · Week 8–16 of Sem V (as scheduled by Admin)</a:t>
              </a:r>
            </a:p>
          </p:txBody>
        </p:sp>
      </p:grpSp>
      <p:grpSp>
        <p:nvGrpSpPr>
          <p:cNvPr name="Group 29" id="29"/>
          <p:cNvGrpSpPr/>
          <p:nvPr/>
        </p:nvGrpSpPr>
        <p:grpSpPr>
          <a:xfrm rot="0">
            <a:off x="16500348" y="9669780"/>
            <a:ext cx="1371600" cy="411480"/>
            <a:chOff x="0" y="0"/>
            <a:chExt cx="1828800" cy="548640"/>
          </a:xfrm>
        </p:grpSpPr>
        <p:sp>
          <p:nvSpPr>
            <p:cNvPr name="Freeform 30" id="30"/>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1" id="31"/>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18 of 21</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07</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Challenges Faced &amp; How They Were Resolved</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B45309"/>
                  </a:solidFill>
                  <a:latin typeface="Times New Roman Bold"/>
                  <a:ea typeface="Times New Roman Bold"/>
                  <a:cs typeface="Times New Roman Bold"/>
                  <a:sym typeface="Times New Roman Bold"/>
                </a:rPr>
                <a:t>REVIEW 2 · SLIDE 7 OF 9 · DECK SLIDE 19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B45309"/>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FINAL EVALUATION GATE</a:t>
              </a:r>
            </a:p>
          </p:txBody>
        </p:sp>
      </p:grpSp>
      <p:grpSp>
        <p:nvGrpSpPr>
          <p:cNvPr name="Group 18" id="18"/>
          <p:cNvGrpSpPr/>
          <p:nvPr/>
        </p:nvGrpSpPr>
        <p:grpSpPr>
          <a:xfrm rot="0">
            <a:off x="822960" y="1920240"/>
            <a:ext cx="16596360" cy="7475220"/>
            <a:chOff x="0" y="0"/>
            <a:chExt cx="22128480" cy="9966960"/>
          </a:xfrm>
        </p:grpSpPr>
        <p:sp>
          <p:nvSpPr>
            <p:cNvPr name="Freeform 19" id="19"/>
            <p:cNvSpPr/>
            <p:nvPr/>
          </p:nvSpPr>
          <p:spPr>
            <a:xfrm flipH="false" flipV="false" rot="0">
              <a:off x="0" y="0"/>
              <a:ext cx="22128480" cy="9966960"/>
            </a:xfrm>
            <a:custGeom>
              <a:avLst/>
              <a:gdLst/>
              <a:ahLst/>
              <a:cxnLst/>
              <a:rect r="r" b="b" t="t" l="l"/>
              <a:pathLst>
                <a:path h="9966960" w="22128480">
                  <a:moveTo>
                    <a:pt x="0" y="0"/>
                  </a:moveTo>
                  <a:lnTo>
                    <a:pt x="22128480" y="0"/>
                  </a:lnTo>
                  <a:lnTo>
                    <a:pt x="22128480" y="9966960"/>
                  </a:lnTo>
                  <a:lnTo>
                    <a:pt x="0" y="9966960"/>
                  </a:lnTo>
                  <a:close/>
                </a:path>
              </a:pathLst>
            </a:custGeom>
            <a:solidFill>
              <a:srgbClr val="F6F8FC"/>
            </a:solidFill>
          </p:spPr>
        </p:sp>
      </p:grpSp>
      <p:grpSp>
        <p:nvGrpSpPr>
          <p:cNvPr name="Group 20" id="20"/>
          <p:cNvGrpSpPr/>
          <p:nvPr/>
        </p:nvGrpSpPr>
        <p:grpSpPr>
          <a:xfrm rot="0">
            <a:off x="1165860" y="2125980"/>
            <a:ext cx="15910560" cy="411480"/>
            <a:chOff x="0" y="0"/>
            <a:chExt cx="21214080" cy="548640"/>
          </a:xfrm>
        </p:grpSpPr>
        <p:sp>
          <p:nvSpPr>
            <p:cNvPr name="Freeform 21" id="21"/>
            <p:cNvSpPr/>
            <p:nvPr/>
          </p:nvSpPr>
          <p:spPr>
            <a:xfrm flipH="false" flipV="false" rot="0">
              <a:off x="0" y="0"/>
              <a:ext cx="21214080" cy="548640"/>
            </a:xfrm>
            <a:custGeom>
              <a:avLst/>
              <a:gdLst/>
              <a:ahLst/>
              <a:cxnLst/>
              <a:rect r="r" b="b" t="t" l="l"/>
              <a:pathLst>
                <a:path h="548640" w="21214080">
                  <a:moveTo>
                    <a:pt x="0" y="0"/>
                  </a:moveTo>
                  <a:lnTo>
                    <a:pt x="21214080" y="0"/>
                  </a:lnTo>
                  <a:lnTo>
                    <a:pt x="21214080" y="548640"/>
                  </a:lnTo>
                  <a:lnTo>
                    <a:pt x="0" y="548640"/>
                  </a:lnTo>
                  <a:close/>
                </a:path>
              </a:pathLst>
            </a:custGeom>
            <a:blipFill>
              <a:blip r:embed="rId3">
                <a:alphaModFix amt="0"/>
              </a:blip>
              <a:stretch>
                <a:fillRect l="0" t="-703421" r="0" b="-703421"/>
              </a:stretch>
            </a:blipFill>
          </p:spPr>
        </p:sp>
        <p:sp>
          <p:nvSpPr>
            <p:cNvPr name="TextBox 22" id="22"/>
            <p:cNvSpPr txBox="true"/>
            <p:nvPr/>
          </p:nvSpPr>
          <p:spPr>
            <a:xfrm>
              <a:off x="0" y="-19050"/>
              <a:ext cx="21214080" cy="567690"/>
            </a:xfrm>
            <a:prstGeom prst="rect">
              <a:avLst/>
            </a:prstGeom>
          </p:spPr>
          <p:txBody>
            <a:bodyPr anchor="ctr" rtlCol="false" tIns="0" lIns="0" bIns="0" rIns="0"/>
            <a:lstStyle/>
            <a:p>
              <a:pPr algn="l">
                <a:lnSpc>
                  <a:spcPts val="2520"/>
                </a:lnSpc>
              </a:pPr>
              <a:r>
                <a:rPr lang="en-US" b="true" sz="2100">
                  <a:solidFill>
                    <a:srgbClr val="B45309"/>
                  </a:solidFill>
                  <a:latin typeface="Times New Roman Bold"/>
                  <a:ea typeface="Times New Roman Bold"/>
                  <a:cs typeface="Times New Roman Bold"/>
                  <a:sym typeface="Times New Roman Bold"/>
                </a:rPr>
                <a:t>CHALLENGES &amp; RESOLUTION</a:t>
              </a:r>
            </a:p>
          </p:txBody>
        </p:sp>
      </p:grpSp>
      <p:sp>
        <p:nvSpPr>
          <p:cNvPr name="TextBox 23" id="23"/>
          <p:cNvSpPr txBox="true"/>
          <p:nvPr/>
        </p:nvSpPr>
        <p:spPr>
          <a:xfrm rot="0">
            <a:off x="1257281" y="2545823"/>
            <a:ext cx="15727709" cy="6666776"/>
          </a:xfrm>
          <a:prstGeom prst="rect">
            <a:avLst/>
          </a:prstGeom>
        </p:spPr>
        <p:txBody>
          <a:bodyPr anchor="t" rtlCol="false" tIns="0" lIns="0" bIns="0" rIns="0">
            <a:spAutoFit/>
          </a:bodyPr>
          <a:lstStyle/>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Mixed financial backgrounds: 37 students had varying household financial contexts. Resolved by using universal examples (UPI frauds, PM Scholarship) relevant to all students regardless of family income.</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Language barrier: some students were more comfortable in Telugu. Resolved by bilingual delivery (English + Telugu) during modules and Q&amp;A segments.</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Attention across 4 modules: risk of disengagement in a long session. Resolved by using real news fraud cases as interactive examples and conducting a live UPI demonstration on a mobile phone.</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Pre-test anxiety: some students nervous about the quiz format. Resolved by framing it as a knowledge check (not an exam) and assuring them results would not be shared with the school.</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Score collection: manually verified all 37 pre and post answer papers, entered scores into Excel (PS090_PreTest_final.xlsx &amp; PS090_post_test_final.xlsx), and cross-checked all totals.</a:t>
            </a:r>
          </a:p>
        </p:txBody>
      </p:sp>
      <p:grpSp>
        <p:nvGrpSpPr>
          <p:cNvPr name="Group 24" id="24"/>
          <p:cNvGrpSpPr/>
          <p:nvPr/>
        </p:nvGrpSpPr>
        <p:grpSpPr>
          <a:xfrm rot="0">
            <a:off x="822960" y="9669780"/>
            <a:ext cx="10972800" cy="411480"/>
            <a:chOff x="0" y="0"/>
            <a:chExt cx="14630400" cy="548640"/>
          </a:xfrm>
        </p:grpSpPr>
        <p:sp>
          <p:nvSpPr>
            <p:cNvPr name="Freeform 25" id="2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6" id="26"/>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2 — Final Evaluation · Week 8–16 of Sem V (as scheduled by Admin)</a:t>
              </a:r>
            </a:p>
          </p:txBody>
        </p:sp>
      </p:grpSp>
      <p:grpSp>
        <p:nvGrpSpPr>
          <p:cNvPr name="Group 27" id="27"/>
          <p:cNvGrpSpPr/>
          <p:nvPr/>
        </p:nvGrpSpPr>
        <p:grpSpPr>
          <a:xfrm rot="0">
            <a:off x="16500348" y="9669780"/>
            <a:ext cx="1371600" cy="411480"/>
            <a:chOff x="0" y="0"/>
            <a:chExt cx="1828800" cy="548640"/>
          </a:xfrm>
        </p:grpSpPr>
        <p:sp>
          <p:nvSpPr>
            <p:cNvPr name="Freeform 28" id="28"/>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29" id="29"/>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19 of 21</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08</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Conclusions &amp; Recommendations</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B45309"/>
                  </a:solidFill>
                  <a:latin typeface="Times New Roman Bold"/>
                  <a:ea typeface="Times New Roman Bold"/>
                  <a:cs typeface="Times New Roman Bold"/>
                  <a:sym typeface="Times New Roman Bold"/>
                </a:rPr>
                <a:t>REVIEW 2 · SLIDE 8 OF 9 · DECK SLIDE 20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B45309"/>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FINAL EVALUATION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B45309"/>
                  </a:solidFill>
                  <a:latin typeface="Times New Roman Bold"/>
                  <a:ea typeface="Times New Roman Bold"/>
                  <a:cs typeface="Times New Roman Bold"/>
                  <a:sym typeface="Times New Roman Bold"/>
                </a:rPr>
                <a:t>CONCLUSIONS</a:t>
              </a:r>
            </a:p>
          </p:txBody>
        </p:sp>
      </p:grpSp>
      <p:sp>
        <p:nvSpPr>
          <p:cNvPr name="TextBox 23" id="23"/>
          <p:cNvSpPr txBox="true"/>
          <p:nvPr/>
        </p:nvSpPr>
        <p:spPr>
          <a:xfrm rot="0">
            <a:off x="1257281" y="2545823"/>
            <a:ext cx="8938289" cy="6666776"/>
          </a:xfrm>
          <a:prstGeom prst="rect">
            <a:avLst/>
          </a:prstGeom>
        </p:spPr>
        <p:txBody>
          <a:bodyPr anchor="t" rtlCol="false" tIns="0" lIns="0" bIns="0" rIns="0">
            <a:spAutoFit/>
          </a:bodyPr>
          <a:lstStyle/>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Achieved: all 4 financial literacy modules delivered to 37 rural Class XII students; class average improved from 34% to 86% (+152%); 100% student participation; every student improved.</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Limitations: single-session training limits long-term retention; no formal follow-up mechanism; varying economic backgrounds create unequal starting points.</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Recommendations: conduct quarterly follow-up quiz sessions; partner with school to include financial literacy in curriculum; produce Telugu-language version of the handout; extend programme to other rural junior colleges in Vizianagaram district.</a:t>
            </a:r>
          </a:p>
        </p:txBody>
      </p:sp>
      <p:grpSp>
        <p:nvGrpSpPr>
          <p:cNvPr name="Group 24" id="24"/>
          <p:cNvGrpSpPr/>
          <p:nvPr/>
        </p:nvGrpSpPr>
        <p:grpSpPr>
          <a:xfrm rot="0">
            <a:off x="10972800" y="1920240"/>
            <a:ext cx="6515100" cy="7475220"/>
            <a:chOff x="0" y="0"/>
            <a:chExt cx="8686800" cy="9966960"/>
          </a:xfrm>
        </p:grpSpPr>
        <p:sp>
          <p:nvSpPr>
            <p:cNvPr name="Freeform 25" id="25" descr="/home/claude/batch7d/img_opt/r2_8.jpg"/>
            <p:cNvSpPr/>
            <p:nvPr/>
          </p:nvSpPr>
          <p:spPr>
            <a:xfrm flipH="false" flipV="false" rot="0">
              <a:off x="0" y="0"/>
              <a:ext cx="8686800" cy="9966960"/>
            </a:xfrm>
            <a:custGeom>
              <a:avLst/>
              <a:gdLst/>
              <a:ahLst/>
              <a:cxnLst/>
              <a:rect r="r" b="b" t="t" l="l"/>
              <a:pathLst>
                <a:path h="9966960" w="8686800">
                  <a:moveTo>
                    <a:pt x="0" y="0"/>
                  </a:moveTo>
                  <a:lnTo>
                    <a:pt x="8686800" y="0"/>
                  </a:lnTo>
                  <a:lnTo>
                    <a:pt x="8686800" y="9966960"/>
                  </a:lnTo>
                  <a:lnTo>
                    <a:pt x="0" y="9966960"/>
                  </a:lnTo>
                  <a:lnTo>
                    <a:pt x="0" y="0"/>
                  </a:lnTo>
                  <a:close/>
                </a:path>
              </a:pathLst>
            </a:custGeom>
            <a:blipFill>
              <a:blip r:embed="rId4"/>
              <a:stretch>
                <a:fillRect l="0" t="0" r="-103976" b="0"/>
              </a:stretch>
            </a:blipFill>
          </p:spPr>
        </p:sp>
      </p:grpSp>
      <p:grpSp>
        <p:nvGrpSpPr>
          <p:cNvPr name="Group 26" id="26"/>
          <p:cNvGrpSpPr/>
          <p:nvPr/>
        </p:nvGrpSpPr>
        <p:grpSpPr>
          <a:xfrm rot="0">
            <a:off x="822960" y="9669780"/>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2 — Final Evaluation · Week 8–16 of Sem V (as scheduled by Admin)</a:t>
              </a:r>
            </a:p>
          </p:txBody>
        </p:sp>
      </p:grpSp>
      <p:grpSp>
        <p:nvGrpSpPr>
          <p:cNvPr name="Group 29" id="29"/>
          <p:cNvGrpSpPr/>
          <p:nvPr/>
        </p:nvGrpSpPr>
        <p:grpSpPr>
          <a:xfrm rot="0">
            <a:off x="16500348" y="9669780"/>
            <a:ext cx="1371600" cy="411480"/>
            <a:chOff x="0" y="0"/>
            <a:chExt cx="1828800" cy="548640"/>
          </a:xfrm>
        </p:grpSpPr>
        <p:sp>
          <p:nvSpPr>
            <p:cNvPr name="Freeform 30" id="30"/>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1" id="31"/>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20 of 21</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09</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9525"/>
              <a:ext cx="15727680" cy="1015365"/>
            </a:xfrm>
            <a:prstGeom prst="rect">
              <a:avLst/>
            </a:prstGeom>
          </p:spPr>
          <p:txBody>
            <a:bodyPr anchor="ctr" rtlCol="false" tIns="0" lIns="0" bIns="0" rIns="0"/>
            <a:lstStyle/>
            <a:p>
              <a:pPr algn="l">
                <a:lnSpc>
                  <a:spcPts val="3960"/>
                </a:lnSpc>
              </a:pPr>
              <a:r>
                <a:rPr lang="en-US" b="true" sz="3300">
                  <a:solidFill>
                    <a:srgbClr val="1E2761"/>
                  </a:solidFill>
                  <a:latin typeface="Cambria Bold"/>
                  <a:ea typeface="Cambria Bold"/>
                  <a:cs typeface="Cambria Bold"/>
                  <a:sym typeface="Cambria Bold"/>
                </a:rPr>
                <a:t>Thank You / Q&amp;A</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B45309"/>
                  </a:solidFill>
                  <a:latin typeface="Times New Roman Bold"/>
                  <a:ea typeface="Times New Roman Bold"/>
                  <a:cs typeface="Times New Roman Bold"/>
                  <a:sym typeface="Times New Roman Bold"/>
                </a:rPr>
                <a:t>REVIEW 2 · SLIDE 9 OF 9 · DECK SLIDE 21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B45309"/>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FINAL EVALUATION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B45309"/>
                  </a:solidFill>
                  <a:latin typeface="Times New Roman Bold"/>
                  <a:ea typeface="Times New Roman Bold"/>
                  <a:cs typeface="Times New Roman Bold"/>
                  <a:sym typeface="Times New Roman Bold"/>
                </a:rPr>
                <a:t>CLOSING</a:t>
              </a:r>
            </a:p>
          </p:txBody>
        </p:sp>
      </p:grpSp>
      <p:sp>
        <p:nvSpPr>
          <p:cNvPr name="TextBox 23" id="23"/>
          <p:cNvSpPr txBox="true"/>
          <p:nvPr/>
        </p:nvSpPr>
        <p:spPr>
          <a:xfrm rot="0">
            <a:off x="1257281" y="2545823"/>
            <a:ext cx="8938289" cy="6666776"/>
          </a:xfrm>
          <a:prstGeom prst="rect">
            <a:avLst/>
          </a:prstGeom>
        </p:spPr>
        <p:txBody>
          <a:bodyPr anchor="t" rtlCol="false" tIns="0" lIns="0" bIns="0" rIns="0">
            <a:spAutoFit/>
          </a:bodyPr>
          <a:lstStyle/>
          <a:p>
            <a:pPr algn="just" marL="380048" indent="-190024" lvl="1">
              <a:lnSpc>
                <a:spcPts val="3780"/>
              </a:lnSpc>
              <a:buFont typeface="Arial"/>
              <a:buChar char="•"/>
            </a:pPr>
            <a:r>
              <a:rPr lang="en-US" sz="2100">
                <a:solidFill>
                  <a:srgbClr val="1A1A2E"/>
                </a:solidFill>
                <a:latin typeface="Times New Roman"/>
                <a:ea typeface="Times New Roman"/>
                <a:cs typeface="Times New Roman"/>
                <a:sym typeface="Times New Roman"/>
              </a:rPr>
              <a:t>We sincerely express our gratitude to the Project In-Charges (Dr. P. Rama Santosh Naidu &amp; Mr. R. Ravi Kumar), Head of the Department (Dr. Aruna Srinivas), Principal, Management, Project Review Panel (Dr. K. Sobha Rani, Mrs. M. Priyanka, Mrs. K. Hymavathi), and our Community Partner (Govt. Junior College, Vizianagaram Town) for their valuable guidance, support, and encouragement throughout this project.</a:t>
            </a:r>
          </a:p>
        </p:txBody>
      </p:sp>
      <p:grpSp>
        <p:nvGrpSpPr>
          <p:cNvPr name="Group 24" id="24"/>
          <p:cNvGrpSpPr/>
          <p:nvPr/>
        </p:nvGrpSpPr>
        <p:grpSpPr>
          <a:xfrm rot="0">
            <a:off x="10972800" y="1920240"/>
            <a:ext cx="6515100" cy="7475220"/>
            <a:chOff x="0" y="0"/>
            <a:chExt cx="8686800" cy="9966960"/>
          </a:xfrm>
        </p:grpSpPr>
        <p:sp>
          <p:nvSpPr>
            <p:cNvPr name="Freeform 25" id="25" descr="/home/claude/batch7d/img_opt/r2_10.jpg"/>
            <p:cNvSpPr/>
            <p:nvPr/>
          </p:nvSpPr>
          <p:spPr>
            <a:xfrm flipH="false" flipV="false" rot="0">
              <a:off x="0" y="0"/>
              <a:ext cx="8686800" cy="9966960"/>
            </a:xfrm>
            <a:custGeom>
              <a:avLst/>
              <a:gdLst/>
              <a:ahLst/>
              <a:cxnLst/>
              <a:rect r="r" b="b" t="t" l="l"/>
              <a:pathLst>
                <a:path h="9966960" w="8686800">
                  <a:moveTo>
                    <a:pt x="0" y="0"/>
                  </a:moveTo>
                  <a:lnTo>
                    <a:pt x="8686800" y="0"/>
                  </a:lnTo>
                  <a:lnTo>
                    <a:pt x="8686800" y="9966960"/>
                  </a:lnTo>
                  <a:lnTo>
                    <a:pt x="0" y="9966960"/>
                  </a:lnTo>
                  <a:lnTo>
                    <a:pt x="0" y="0"/>
                  </a:lnTo>
                  <a:close/>
                </a:path>
              </a:pathLst>
            </a:custGeom>
            <a:blipFill>
              <a:blip r:embed="rId4"/>
              <a:stretch>
                <a:fillRect l="0" t="0" r="-103976" b="0"/>
              </a:stretch>
            </a:blipFill>
          </p:spPr>
        </p:sp>
      </p:grpSp>
      <p:grpSp>
        <p:nvGrpSpPr>
          <p:cNvPr name="Group 26" id="26"/>
          <p:cNvGrpSpPr/>
          <p:nvPr/>
        </p:nvGrpSpPr>
        <p:grpSpPr>
          <a:xfrm rot="0">
            <a:off x="822960" y="9669780"/>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2 — Final Evaluation · Week 8–16 of Sem V (as scheduled by Admin)</a:t>
              </a:r>
            </a:p>
          </p:txBody>
        </p:sp>
      </p:grpSp>
      <p:grpSp>
        <p:nvGrpSpPr>
          <p:cNvPr name="Group 29" id="29"/>
          <p:cNvGrpSpPr/>
          <p:nvPr/>
        </p:nvGrpSpPr>
        <p:grpSpPr>
          <a:xfrm rot="0">
            <a:off x="16500348" y="9669780"/>
            <a:ext cx="1371600" cy="411480"/>
            <a:chOff x="0" y="0"/>
            <a:chExt cx="1828800" cy="548640"/>
          </a:xfrm>
        </p:grpSpPr>
        <p:sp>
          <p:nvSpPr>
            <p:cNvPr name="Freeform 30" id="30"/>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1" id="31"/>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21 of 21</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DAHXBSsM7no</dc:identifier>
  <dcterms:modified xsi:type="dcterms:W3CDTF">2011-08-01T06:04:30Z</dcterms:modified>
  <cp:revision>1</cp:revision>
  <dc:title>BATCH-13D_FinalReview_v5.pptx</dc:title>
</cp:coreProperties>
</file>