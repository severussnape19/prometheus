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8" roundtripDataSignature="AMtx7mi6He/VdhvXovv71AMraJMVg6tn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1CF5D3-905E-44C4-9D50-C204F2D7BFB2}">
  <a:tblStyle styleId="{0A1CF5D3-905E-44C4-9D50-C204F2D7BFB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C4A5BE9-D7C8-47AD-A5E8-40AC20D3A15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609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6096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1580813"/>
            <a:ext cx="2971800" cy="6096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9719b5f17328916_0_0:notes"/>
          <p:cNvSpPr/>
          <p:nvPr>
            <p:ph idx="2" type="sldImg"/>
          </p:nvPr>
        </p:nvSpPr>
        <p:spPr>
          <a:xfrm>
            <a:off x="-635000" y="914400"/>
            <a:ext cx="81279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h9719b5f17328916_0_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h9719b5f17328916_0_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4: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4: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5: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6: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6: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9: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2: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2: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3: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3: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4: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4: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5: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5: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6: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6: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7: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7: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7: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8: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8: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9: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9: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9: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20: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0: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1: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1:notes"/>
          <p:cNvSpPr txBox="1"/>
          <p:nvPr>
            <p:ph idx="12" type="sldNum"/>
          </p:nvPr>
        </p:nvSpPr>
        <p:spPr>
          <a:xfrm>
            <a:off x="3884613" y="11580813"/>
            <a:ext cx="2971800" cy="609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drive.google.com/file/d/1lu6VI--asz2HR2t7W0UV3xY52DIgKV2V/view" TargetMode="Externa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1"/>
          <p:cNvSpPr/>
          <p:nvPr/>
        </p:nvSpPr>
        <p:spPr>
          <a:xfrm>
            <a:off x="731520" y="640080"/>
            <a:ext cx="106984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EA898"/>
              </a:buClr>
              <a:buSzPts val="1200"/>
              <a:buFont typeface="Courier New"/>
              <a:buNone/>
            </a:pPr>
            <a:r>
              <a:rPr b="1" lang="en-US" sz="2200">
                <a:solidFill>
                  <a:schemeClr val="lt1"/>
                </a:solidFill>
                <a:latin typeface="Times New Roman"/>
                <a:ea typeface="Times New Roman"/>
                <a:cs typeface="Times New Roman"/>
                <a:sym typeface="Times New Roman"/>
              </a:rPr>
              <a:t>DEPARTMENT OF CSE — MVGR COLLEGE OF ENGINEERING (A)</a:t>
            </a:r>
            <a:endParaRPr i="0" sz="2200" u="none" cap="none" strike="noStrike">
              <a:solidFill>
                <a:schemeClr val="lt1"/>
              </a:solidFill>
              <a:latin typeface="Times New Roman"/>
              <a:ea typeface="Times New Roman"/>
              <a:cs typeface="Times New Roman"/>
              <a:sym typeface="Times New Roman"/>
            </a:endParaRPr>
          </a:p>
        </p:txBody>
      </p:sp>
      <p:sp>
        <p:nvSpPr>
          <p:cNvPr id="17" name="Google Shape;17;p1"/>
          <p:cNvSpPr/>
          <p:nvPr/>
        </p:nvSpPr>
        <p:spPr>
          <a:xfrm>
            <a:off x="731520" y="1554480"/>
            <a:ext cx="10698480" cy="1554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chemeClr val="accent4"/>
                </a:solidFill>
                <a:latin typeface="Times New Roman"/>
                <a:ea typeface="Times New Roman"/>
                <a:cs typeface="Times New Roman"/>
                <a:sym typeface="Times New Roman"/>
              </a:rPr>
              <a:t>Financial Literacy Programme</a:t>
            </a:r>
            <a:br>
              <a:rPr b="1" i="0" lang="en-US" sz="3200" u="none" cap="none" strike="noStrike">
                <a:solidFill>
                  <a:schemeClr val="accent4"/>
                </a:solidFill>
                <a:latin typeface="Times New Roman"/>
                <a:ea typeface="Times New Roman"/>
                <a:cs typeface="Times New Roman"/>
                <a:sym typeface="Times New Roman"/>
              </a:rPr>
            </a:br>
            <a:endParaRPr i="0" sz="3200" u="none" cap="none" strike="noStrike">
              <a:solidFill>
                <a:schemeClr val="accent4"/>
              </a:solidFill>
              <a:latin typeface="Times New Roman"/>
              <a:ea typeface="Times New Roman"/>
              <a:cs typeface="Times New Roman"/>
              <a:sym typeface="Times New Roman"/>
            </a:endParaRPr>
          </a:p>
          <a:p>
            <a:pPr indent="0" lvl="0" marL="0" marR="0" rtl="0" algn="l">
              <a:spcBef>
                <a:spcPts val="0"/>
              </a:spcBef>
              <a:spcAft>
                <a:spcPts val="0"/>
              </a:spcAft>
              <a:buClr>
                <a:srgbClr val="FFFFFF"/>
              </a:buClr>
              <a:buSzPts val="3200"/>
              <a:buFont typeface="Cambria"/>
              <a:buNone/>
            </a:pPr>
            <a:r>
              <a:rPr b="1" i="0" lang="en-US" sz="3200" u="none" cap="none" strike="noStrike">
                <a:solidFill>
                  <a:schemeClr val="accent4"/>
                </a:solidFill>
                <a:latin typeface="Times New Roman"/>
                <a:ea typeface="Times New Roman"/>
                <a:cs typeface="Times New Roman"/>
                <a:sym typeface="Times New Roman"/>
              </a:rPr>
              <a:t>For Rural Youth</a:t>
            </a:r>
            <a:br>
              <a:rPr b="1" i="0" lang="en-US" sz="3200" u="none" cap="none" strike="noStrike">
                <a:solidFill>
                  <a:schemeClr val="accent4"/>
                </a:solidFill>
                <a:latin typeface="Times New Roman"/>
                <a:ea typeface="Times New Roman"/>
                <a:cs typeface="Times New Roman"/>
                <a:sym typeface="Times New Roman"/>
              </a:rPr>
            </a:br>
            <a:endParaRPr i="0" sz="3200" u="none" cap="none" strike="noStrike">
              <a:solidFill>
                <a:schemeClr val="accent4"/>
              </a:solidFill>
              <a:latin typeface="Times New Roman"/>
              <a:ea typeface="Times New Roman"/>
              <a:cs typeface="Times New Roman"/>
              <a:sym typeface="Times New Roman"/>
            </a:endParaRPr>
          </a:p>
        </p:txBody>
      </p:sp>
      <p:sp>
        <p:nvSpPr>
          <p:cNvPr id="18" name="Google Shape;18;p1"/>
          <p:cNvSpPr/>
          <p:nvPr/>
        </p:nvSpPr>
        <p:spPr>
          <a:xfrm>
            <a:off x="731520" y="3200400"/>
            <a:ext cx="10058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i="0" lang="en-US" u="none" cap="none" strike="noStrike">
                <a:solidFill>
                  <a:srgbClr val="CADCFC"/>
                </a:solidFill>
                <a:latin typeface="Times New Roman"/>
                <a:ea typeface="Times New Roman"/>
                <a:cs typeface="Times New Roman"/>
                <a:sym typeface="Times New Roman"/>
              </a:rPr>
              <a:t>Community Project Review Presentation · PS090 · Education · BATCH-13D, Section D</a:t>
            </a:r>
            <a:endParaRPr i="0" u="none" cap="none" strike="noStrike">
              <a:solidFill>
                <a:schemeClr val="dk1"/>
              </a:solidFill>
              <a:latin typeface="Times New Roman"/>
              <a:ea typeface="Times New Roman"/>
              <a:cs typeface="Times New Roman"/>
              <a:sym typeface="Times New Roman"/>
            </a:endParaRPr>
          </a:p>
        </p:txBody>
      </p:sp>
      <p:sp>
        <p:nvSpPr>
          <p:cNvPr id="19" name="Google Shape;19;p1"/>
          <p:cNvSpPr/>
          <p:nvPr/>
        </p:nvSpPr>
        <p:spPr>
          <a:xfrm>
            <a:off x="73152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2</a:t>
            </a:r>
            <a:endParaRPr i="0" sz="3000" u="none" cap="none" strike="noStrike">
              <a:solidFill>
                <a:schemeClr val="dk1"/>
              </a:solidFill>
              <a:latin typeface="Times New Roman"/>
              <a:ea typeface="Times New Roman"/>
              <a:cs typeface="Times New Roman"/>
              <a:sym typeface="Times New Roman"/>
            </a:endParaRPr>
          </a:p>
        </p:txBody>
      </p:sp>
      <p:sp>
        <p:nvSpPr>
          <p:cNvPr id="20" name="Google Shape;20;p1"/>
          <p:cNvSpPr/>
          <p:nvPr/>
        </p:nvSpPr>
        <p:spPr>
          <a:xfrm>
            <a:off x="73152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REVIEWS</a:t>
            </a:r>
            <a:endParaRPr b="0" i="0" sz="900" u="none" cap="none" strike="noStrike">
              <a:solidFill>
                <a:schemeClr val="dk1"/>
              </a:solidFill>
              <a:latin typeface="Calibri"/>
              <a:ea typeface="Calibri"/>
              <a:cs typeface="Calibri"/>
              <a:sym typeface="Calibri"/>
            </a:endParaRPr>
          </a:p>
        </p:txBody>
      </p:sp>
      <p:sp>
        <p:nvSpPr>
          <p:cNvPr id="21" name="Google Shape;21;p1"/>
          <p:cNvSpPr/>
          <p:nvPr/>
        </p:nvSpPr>
        <p:spPr>
          <a:xfrm>
            <a:off x="333756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4</a:t>
            </a:r>
            <a:endParaRPr i="0" sz="3000" u="none" cap="none" strike="noStrike">
              <a:solidFill>
                <a:schemeClr val="dk1"/>
              </a:solidFill>
              <a:latin typeface="Times New Roman"/>
              <a:ea typeface="Times New Roman"/>
              <a:cs typeface="Times New Roman"/>
              <a:sym typeface="Times New Roman"/>
            </a:endParaRPr>
          </a:p>
        </p:txBody>
      </p:sp>
      <p:sp>
        <p:nvSpPr>
          <p:cNvPr id="22" name="Google Shape;22;p1"/>
          <p:cNvSpPr/>
          <p:nvPr/>
        </p:nvSpPr>
        <p:spPr>
          <a:xfrm>
            <a:off x="333756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TEAM MEMBERS</a:t>
            </a:r>
            <a:endParaRPr b="0" i="0" sz="900" u="none" cap="none" strike="noStrike">
              <a:solidFill>
                <a:schemeClr val="dk1"/>
              </a:solidFill>
              <a:latin typeface="Calibri"/>
              <a:ea typeface="Calibri"/>
              <a:cs typeface="Calibri"/>
              <a:sym typeface="Calibri"/>
            </a:endParaRPr>
          </a:p>
        </p:txBody>
      </p:sp>
      <p:sp>
        <p:nvSpPr>
          <p:cNvPr id="23" name="Google Shape;23;p1"/>
          <p:cNvSpPr/>
          <p:nvPr/>
        </p:nvSpPr>
        <p:spPr>
          <a:xfrm>
            <a:off x="594360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50</a:t>
            </a:r>
            <a:endParaRPr i="0" sz="3000" u="none" cap="none" strike="noStrike">
              <a:solidFill>
                <a:schemeClr val="dk1"/>
              </a:solidFill>
              <a:latin typeface="Times New Roman"/>
              <a:ea typeface="Times New Roman"/>
              <a:cs typeface="Times New Roman"/>
              <a:sym typeface="Times New Roman"/>
            </a:endParaRPr>
          </a:p>
        </p:txBody>
      </p:sp>
      <p:sp>
        <p:nvSpPr>
          <p:cNvPr id="24" name="Google Shape;24;p1"/>
          <p:cNvSpPr/>
          <p:nvPr/>
        </p:nvSpPr>
        <p:spPr>
          <a:xfrm>
            <a:off x="594360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TOTAL MARKS</a:t>
            </a:r>
            <a:endParaRPr b="0" i="0" sz="900" u="none" cap="none" strike="noStrike">
              <a:solidFill>
                <a:schemeClr val="dk1"/>
              </a:solidFill>
              <a:latin typeface="Calibri"/>
              <a:ea typeface="Calibri"/>
              <a:cs typeface="Calibri"/>
              <a:sym typeface="Calibri"/>
            </a:endParaRPr>
          </a:p>
        </p:txBody>
      </p:sp>
      <p:sp>
        <p:nvSpPr>
          <p:cNvPr id="25" name="Google Shape;25;p1"/>
          <p:cNvSpPr/>
          <p:nvPr/>
        </p:nvSpPr>
        <p:spPr>
          <a:xfrm>
            <a:off x="8549640" y="4297680"/>
            <a:ext cx="23774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B429"/>
              </a:buClr>
              <a:buSzPts val="3000"/>
              <a:buFont typeface="Cambria"/>
              <a:buNone/>
            </a:pPr>
            <a:r>
              <a:rPr b="1" i="0" lang="en-US" sz="3000" u="none" cap="none" strike="noStrike">
                <a:solidFill>
                  <a:srgbClr val="F0B429"/>
                </a:solidFill>
                <a:latin typeface="Times New Roman"/>
                <a:ea typeface="Times New Roman"/>
                <a:cs typeface="Times New Roman"/>
                <a:sym typeface="Times New Roman"/>
              </a:rPr>
              <a:t>37</a:t>
            </a:r>
            <a:endParaRPr i="0" sz="3000" u="none" cap="none" strike="noStrike">
              <a:solidFill>
                <a:schemeClr val="dk1"/>
              </a:solidFill>
              <a:latin typeface="Times New Roman"/>
              <a:ea typeface="Times New Roman"/>
              <a:cs typeface="Times New Roman"/>
              <a:sym typeface="Times New Roman"/>
            </a:endParaRPr>
          </a:p>
        </p:txBody>
      </p:sp>
      <p:sp>
        <p:nvSpPr>
          <p:cNvPr id="26" name="Google Shape;26;p1"/>
          <p:cNvSpPr/>
          <p:nvPr/>
        </p:nvSpPr>
        <p:spPr>
          <a:xfrm>
            <a:off x="8549640" y="4937760"/>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B8CC"/>
              </a:buClr>
              <a:buSzPts val="900"/>
              <a:buFont typeface="Courier New"/>
              <a:buNone/>
            </a:pPr>
            <a:r>
              <a:rPr b="0" i="0" lang="en-US" sz="900" u="none" cap="none" strike="noStrike">
                <a:solidFill>
                  <a:srgbClr val="AAB8CC"/>
                </a:solidFill>
                <a:latin typeface="Courier New"/>
                <a:ea typeface="Courier New"/>
                <a:cs typeface="Courier New"/>
                <a:sym typeface="Courier New"/>
              </a:rPr>
              <a:t>PARTICIPANTS</a:t>
            </a:r>
            <a:endParaRPr b="0" i="0" sz="900" u="none" cap="none" strike="noStrike">
              <a:solidFill>
                <a:schemeClr val="dk1"/>
              </a:solidFill>
              <a:latin typeface="Calibri"/>
              <a:ea typeface="Calibri"/>
              <a:cs typeface="Calibri"/>
              <a:sym typeface="Calibri"/>
            </a:endParaRPr>
          </a:p>
        </p:txBody>
      </p:sp>
      <p:sp>
        <p:nvSpPr>
          <p:cNvPr id="27" name="Google Shape;27;p1"/>
          <p:cNvSpPr/>
          <p:nvPr/>
        </p:nvSpPr>
        <p:spPr>
          <a:xfrm>
            <a:off x="731520" y="5760720"/>
            <a:ext cx="10698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lang="en-US" sz="1200">
                <a:solidFill>
                  <a:srgbClr val="CADCFC"/>
                </a:solidFill>
                <a:latin typeface="Times New Roman"/>
                <a:ea typeface="Times New Roman"/>
                <a:cs typeface="Times New Roman"/>
                <a:sym typeface="Times New Roman"/>
              </a:rPr>
              <a:t>Project In-charge: Dr. P. Rama Santosh Naidu &amp; Mr. R. Ravi Kumar, Dept. of CSE  ·  Community Partner: Govt. Junior College, Vizianagaram Town</a:t>
            </a:r>
            <a:endParaRPr i="0" sz="1200" u="none" cap="none" strike="noStrike">
              <a:solidFill>
                <a:schemeClr val="dk1"/>
              </a:solidFill>
              <a:latin typeface="Times New Roman"/>
              <a:ea typeface="Times New Roman"/>
              <a:cs typeface="Times New Roman"/>
              <a:sym typeface="Times New Roman"/>
            </a:endParaRPr>
          </a:p>
        </p:txBody>
      </p:sp>
      <p:sp>
        <p:nvSpPr>
          <p:cNvPr id="28" name="Google Shape;28;p1"/>
          <p:cNvSpPr/>
          <p:nvPr/>
        </p:nvSpPr>
        <p:spPr>
          <a:xfrm>
            <a:off x="731520" y="6263640"/>
            <a:ext cx="10698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1000"/>
              <a:buFont typeface="Calibri"/>
              <a:buNone/>
            </a:pPr>
            <a:r>
              <a:rPr i="0" lang="en-US" sz="1000" u="none" cap="none" strike="noStrike">
                <a:solidFill>
                  <a:srgbClr val="8896AB"/>
                </a:solidFill>
                <a:latin typeface="Times New Roman"/>
                <a:ea typeface="Times New Roman"/>
                <a:cs typeface="Times New Roman"/>
                <a:sym typeface="Times New Roman"/>
              </a:rPr>
              <a:t>2024–2028 Batch · B.Tech CSE · MVGR College </a:t>
            </a:r>
            <a:r>
              <a:rPr lang="en-US" sz="1000">
                <a:solidFill>
                  <a:srgbClr val="8896AB"/>
                </a:solidFill>
                <a:latin typeface="Times New Roman"/>
                <a:ea typeface="Times New Roman"/>
                <a:cs typeface="Times New Roman"/>
                <a:sym typeface="Times New Roman"/>
              </a:rPr>
              <a:t>of Engineering</a:t>
            </a:r>
            <a:r>
              <a:rPr i="0" lang="en-US" sz="1000" u="none" cap="none" strike="noStrike">
                <a:solidFill>
                  <a:srgbClr val="8896AB"/>
                </a:solidFill>
                <a:latin typeface="Times New Roman"/>
                <a:ea typeface="Times New Roman"/>
                <a:cs typeface="Times New Roman"/>
                <a:sym typeface="Times New Roman"/>
              </a:rPr>
              <a:t> (A)</a:t>
            </a:r>
            <a:endParaRPr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2"/>
          <p:cNvSpPr/>
          <p:nvPr/>
        </p:nvSpPr>
        <p:spPr>
          <a:xfrm>
            <a:off x="640080" y="502920"/>
            <a:ext cx="10515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200"/>
              <a:buFont typeface="Courier New"/>
              <a:buNone/>
            </a:pPr>
            <a:r>
              <a:rPr b="1" i="0" lang="en-US" sz="1200" u="none" cap="none" strike="noStrike">
                <a:solidFill>
                  <a:srgbClr val="0E7490"/>
                </a:solidFill>
                <a:latin typeface="Times New Roman"/>
                <a:ea typeface="Times New Roman"/>
                <a:cs typeface="Times New Roman"/>
                <a:sym typeface="Times New Roman"/>
              </a:rPr>
              <a:t>HOW THIS DECK IS ORGANISED</a:t>
            </a:r>
            <a:endParaRPr i="0" sz="1200" u="none" cap="none" strike="noStrike">
              <a:solidFill>
                <a:schemeClr val="dk1"/>
              </a:solidFill>
              <a:latin typeface="Times New Roman"/>
              <a:ea typeface="Times New Roman"/>
              <a:cs typeface="Times New Roman"/>
              <a:sym typeface="Times New Roman"/>
            </a:endParaRPr>
          </a:p>
        </p:txBody>
      </p:sp>
      <p:sp>
        <p:nvSpPr>
          <p:cNvPr id="35" name="Google Shape;35;p2"/>
          <p:cNvSpPr/>
          <p:nvPr/>
        </p:nvSpPr>
        <p:spPr>
          <a:xfrm>
            <a:off x="640080" y="82296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500"/>
              <a:buFont typeface="Cambria"/>
              <a:buNone/>
            </a:pPr>
            <a:r>
              <a:rPr b="1" i="0" lang="en-US" sz="2500" u="none" cap="none" strike="noStrike">
                <a:solidFill>
                  <a:srgbClr val="1E2761"/>
                </a:solidFill>
                <a:latin typeface="Times New Roman"/>
                <a:ea typeface="Times New Roman"/>
                <a:cs typeface="Times New Roman"/>
                <a:sym typeface="Times New Roman"/>
              </a:rPr>
              <a:t>One Continuous Presentation, Start to Finish</a:t>
            </a:r>
            <a:endParaRPr i="0" sz="2500" u="none" cap="none" strike="noStrike">
              <a:solidFill>
                <a:schemeClr val="dk1"/>
              </a:solidFill>
              <a:latin typeface="Times New Roman"/>
              <a:ea typeface="Times New Roman"/>
              <a:cs typeface="Times New Roman"/>
              <a:sym typeface="Times New Roman"/>
            </a:endParaRPr>
          </a:p>
        </p:txBody>
      </p:sp>
      <p:sp>
        <p:nvSpPr>
          <p:cNvPr id="36" name="Google Shape;36;p2"/>
          <p:cNvSpPr/>
          <p:nvPr/>
        </p:nvSpPr>
        <p:spPr>
          <a:xfrm>
            <a:off x="640080" y="169164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40080" y="169164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01</a:t>
            </a:r>
            <a:endParaRPr i="0" sz="1400" u="none" cap="none" strike="noStrike">
              <a:solidFill>
                <a:schemeClr val="dk1"/>
              </a:solidFill>
              <a:latin typeface="Times New Roman"/>
              <a:ea typeface="Times New Roman"/>
              <a:cs typeface="Times New Roman"/>
              <a:sym typeface="Times New Roman"/>
            </a:endParaRPr>
          </a:p>
        </p:txBody>
      </p:sp>
      <p:sp>
        <p:nvSpPr>
          <p:cNvPr id="38" name="Google Shape;38;p2"/>
          <p:cNvSpPr/>
          <p:nvPr/>
        </p:nvSpPr>
        <p:spPr>
          <a:xfrm>
            <a:off x="1691640" y="173736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A single, continuous deck</a:t>
            </a:r>
            <a:endParaRPr i="0" sz="1600" u="none" cap="none" strike="noStrike">
              <a:solidFill>
                <a:schemeClr val="dk1"/>
              </a:solidFill>
              <a:latin typeface="Times New Roman"/>
              <a:ea typeface="Times New Roman"/>
              <a:cs typeface="Times New Roman"/>
              <a:sym typeface="Times New Roman"/>
            </a:endParaRPr>
          </a:p>
        </p:txBody>
      </p:sp>
      <p:sp>
        <p:nvSpPr>
          <p:cNvPr id="39" name="Google Shape;39;p2"/>
          <p:cNvSpPr/>
          <p:nvPr/>
        </p:nvSpPr>
        <p:spPr>
          <a:xfrm>
            <a:off x="1691640" y="213055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This presentation flows straight from Review 1 into Review 2 (Final) with no restart in between — our project identity is introduced once, on the Project Cover, and every slide after it builds on that.</a:t>
            </a:r>
            <a:endParaRPr i="0" sz="1250" u="none" cap="none" strike="noStrike">
              <a:solidFill>
                <a:schemeClr val="dk1"/>
              </a:solidFill>
              <a:latin typeface="Times New Roman"/>
              <a:ea typeface="Times New Roman"/>
              <a:cs typeface="Times New Roman"/>
              <a:sym typeface="Times New Roman"/>
            </a:endParaRPr>
          </a:p>
        </p:txBody>
      </p:sp>
      <p:sp>
        <p:nvSpPr>
          <p:cNvPr id="40" name="Google Shape;40;p2"/>
          <p:cNvSpPr/>
          <p:nvPr/>
        </p:nvSpPr>
        <p:spPr>
          <a:xfrm>
            <a:off x="640080" y="310896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40080" y="310896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02</a:t>
            </a:r>
            <a:endParaRPr i="0" sz="1400" u="none" cap="none" strike="noStrike">
              <a:solidFill>
                <a:schemeClr val="dk1"/>
              </a:solidFill>
              <a:latin typeface="Times New Roman"/>
              <a:ea typeface="Times New Roman"/>
              <a:cs typeface="Times New Roman"/>
              <a:sym typeface="Times New Roman"/>
            </a:endParaRPr>
          </a:p>
        </p:txBody>
      </p:sp>
      <p:sp>
        <p:nvSpPr>
          <p:cNvPr id="42" name="Google Shape;42;p2"/>
          <p:cNvSpPr/>
          <p:nvPr/>
        </p:nvSpPr>
        <p:spPr>
          <a:xfrm>
            <a:off x="1691640" y="315468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Two reviews only</a:t>
            </a:r>
            <a:endParaRPr i="0" sz="1600" u="none" cap="none" strike="noStrike">
              <a:solidFill>
                <a:schemeClr val="dk1"/>
              </a:solidFill>
              <a:latin typeface="Times New Roman"/>
              <a:ea typeface="Times New Roman"/>
              <a:cs typeface="Times New Roman"/>
              <a:sym typeface="Times New Roman"/>
            </a:endParaRPr>
          </a:p>
        </p:txBody>
      </p:sp>
      <p:sp>
        <p:nvSpPr>
          <p:cNvPr id="43" name="Google Shape;43;p2"/>
          <p:cNvSpPr/>
          <p:nvPr/>
        </p:nvSpPr>
        <p:spPr>
          <a:xfrm>
            <a:off x="1691640" y="354787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Review 1 (10 marks) — Problem Identification &amp; Planning, already completed. Review 2 (40 marks, Final) — Progress, Execution &amp; Final Evaluation: Report(/20) + Viva(/15) + Cert(/5).</a:t>
            </a:r>
            <a:endParaRPr i="0" sz="1250" u="none" cap="none" strike="noStrike">
              <a:solidFill>
                <a:schemeClr val="dk1"/>
              </a:solidFill>
              <a:latin typeface="Times New Roman"/>
              <a:ea typeface="Times New Roman"/>
              <a:cs typeface="Times New Roman"/>
              <a:sym typeface="Times New Roman"/>
            </a:endParaRPr>
          </a:p>
        </p:txBody>
      </p:sp>
      <p:sp>
        <p:nvSpPr>
          <p:cNvPr id="44" name="Google Shape;44;p2"/>
          <p:cNvSpPr/>
          <p:nvPr/>
        </p:nvSpPr>
        <p:spPr>
          <a:xfrm>
            <a:off x="640080" y="4526280"/>
            <a:ext cx="566928" cy="566928"/>
          </a:xfrm>
          <a:prstGeom prst="roundRect">
            <a:avLst>
              <a:gd fmla="val 12903"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40080" y="452628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ourier New"/>
              <a:buNone/>
            </a:pPr>
            <a:r>
              <a:rPr b="1" i="0" lang="en-US" sz="1400" u="none" cap="none" strike="noStrike">
                <a:solidFill>
                  <a:srgbClr val="FFFFFF"/>
                </a:solidFill>
                <a:latin typeface="Times New Roman"/>
                <a:ea typeface="Times New Roman"/>
                <a:cs typeface="Times New Roman"/>
                <a:sym typeface="Times New Roman"/>
              </a:rPr>
              <a:t>03</a:t>
            </a:r>
            <a:endParaRPr i="0" sz="1400" u="none" cap="none" strike="noStrike">
              <a:solidFill>
                <a:schemeClr val="dk1"/>
              </a:solidFill>
              <a:latin typeface="Times New Roman"/>
              <a:ea typeface="Times New Roman"/>
              <a:cs typeface="Times New Roman"/>
              <a:sym typeface="Times New Roman"/>
            </a:endParaRPr>
          </a:p>
        </p:txBody>
      </p:sp>
      <p:sp>
        <p:nvSpPr>
          <p:cNvPr id="46" name="Google Shape;46;p2"/>
          <p:cNvSpPr/>
          <p:nvPr/>
        </p:nvSpPr>
        <p:spPr>
          <a:xfrm>
            <a:off x="1691640" y="457200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Times New Roman"/>
                <a:ea typeface="Times New Roman"/>
                <a:cs typeface="Times New Roman"/>
                <a:sym typeface="Times New Roman"/>
              </a:rPr>
              <a:t>"Cert" covers our proof of work</a:t>
            </a:r>
            <a:endParaRPr i="0" sz="1600" u="none" cap="none" strike="noStrike">
              <a:solidFill>
                <a:schemeClr val="dk1"/>
              </a:solidFill>
              <a:latin typeface="Times New Roman"/>
              <a:ea typeface="Times New Roman"/>
              <a:cs typeface="Times New Roman"/>
              <a:sym typeface="Times New Roman"/>
            </a:endParaRPr>
          </a:p>
        </p:txBody>
      </p:sp>
      <p:sp>
        <p:nvSpPr>
          <p:cNvPr id="47" name="Google Shape;47;p2"/>
          <p:cNvSpPr/>
          <p:nvPr/>
        </p:nvSpPr>
        <p:spPr>
          <a:xfrm>
            <a:off x="1691640" y="4965192"/>
            <a:ext cx="96012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5B6478"/>
              </a:buClr>
              <a:buSzPts val="1250"/>
              <a:buFont typeface="Calibri"/>
              <a:buNone/>
            </a:pPr>
            <a:r>
              <a:rPr i="0" lang="en-US" sz="1250" u="none" cap="none" strike="noStrike">
                <a:solidFill>
                  <a:srgbClr val="5B6478"/>
                </a:solidFill>
                <a:latin typeface="Times New Roman"/>
                <a:ea typeface="Times New Roman"/>
                <a:cs typeface="Times New Roman"/>
                <a:sym typeface="Times New Roman"/>
              </a:rPr>
              <a:t>Our community-partner certificate where issued, and otherwise our survey reports, field photographs and documentation, stand as proof of the work completed.</a:t>
            </a:r>
            <a:endParaRPr i="0" sz="1250" u="none" cap="none" strike="noStrike">
              <a:solidFill>
                <a:schemeClr val="dk1"/>
              </a:solidFill>
              <a:latin typeface="Times New Roman"/>
              <a:ea typeface="Times New Roman"/>
              <a:cs typeface="Times New Roman"/>
              <a:sym typeface="Times New Roman"/>
            </a:endParaRPr>
          </a:p>
        </p:txBody>
      </p:sp>
      <p:sp>
        <p:nvSpPr>
          <p:cNvPr id="48" name="Google Shape;48;p2"/>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Financial Literacy Programme · BATCH-13D · MVGR CSE</a:t>
            </a:r>
            <a:endParaRPr b="0" i="0" sz="900" u="none" cap="none" strike="noStrike">
              <a:solidFill>
                <a:schemeClr val="dk1"/>
              </a:solidFill>
              <a:latin typeface="Calibri"/>
              <a:ea typeface="Calibri"/>
              <a:cs typeface="Calibri"/>
              <a:sym typeface="Calibri"/>
            </a:endParaRPr>
          </a:p>
        </p:txBody>
      </p:sp>
      <p:sp>
        <p:nvSpPr>
          <p:cNvPr id="49" name="Google Shape;49;p2"/>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h9719b5f17328916_0_0"/>
          <p:cNvSpPr/>
          <p:nvPr/>
        </p:nvSpPr>
        <p:spPr>
          <a:xfrm>
            <a:off x="640080" y="502920"/>
            <a:ext cx="105156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E7490"/>
              </a:buClr>
              <a:buSzPts val="1200"/>
              <a:buFont typeface="Courier New"/>
              <a:buNone/>
            </a:pPr>
            <a:r>
              <a:rPr b="1" i="0" lang="en-US" sz="1200" u="none" cap="none" strike="noStrike">
                <a:solidFill>
                  <a:srgbClr val="0E7490"/>
                </a:solidFill>
                <a:latin typeface="Courier New"/>
                <a:ea typeface="Courier New"/>
                <a:cs typeface="Courier New"/>
                <a:sym typeface="Courier New"/>
              </a:rPr>
              <a:t>TABLE OF CONTENTS</a:t>
            </a:r>
            <a:endParaRPr b="0" i="0" sz="1200" u="none" cap="none" strike="noStrike">
              <a:solidFill>
                <a:schemeClr val="dk1"/>
              </a:solidFill>
              <a:latin typeface="Calibri"/>
              <a:ea typeface="Calibri"/>
              <a:cs typeface="Calibri"/>
              <a:sym typeface="Calibri"/>
            </a:endParaRPr>
          </a:p>
        </p:txBody>
      </p:sp>
      <p:sp>
        <p:nvSpPr>
          <p:cNvPr id="56" name="Google Shape;56;h9719b5f17328916_0_0"/>
          <p:cNvSpPr/>
          <p:nvPr/>
        </p:nvSpPr>
        <p:spPr>
          <a:xfrm>
            <a:off x="640080" y="822960"/>
            <a:ext cx="105156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600"/>
              <a:buFont typeface="Cambria"/>
              <a:buNone/>
            </a:pPr>
            <a:r>
              <a:rPr b="1" i="0" lang="en-US" sz="2600" u="none" cap="none" strike="noStrike">
                <a:solidFill>
                  <a:srgbClr val="1E2761"/>
                </a:solidFill>
                <a:latin typeface="Cambria"/>
                <a:ea typeface="Cambria"/>
                <a:cs typeface="Cambria"/>
                <a:sym typeface="Cambria"/>
              </a:rPr>
              <a:t>What's Inside This Framework</a:t>
            </a:r>
            <a:endParaRPr b="0" i="0" sz="2600" u="none" cap="none" strike="noStrike">
              <a:solidFill>
                <a:schemeClr val="dk1"/>
              </a:solidFill>
              <a:latin typeface="Calibri"/>
              <a:ea typeface="Calibri"/>
              <a:cs typeface="Calibri"/>
              <a:sym typeface="Calibri"/>
            </a:endParaRPr>
          </a:p>
        </p:txBody>
      </p:sp>
      <p:graphicFrame>
        <p:nvGraphicFramePr>
          <p:cNvPr id="57" name="Google Shape;57;h9719b5f17328916_0_0"/>
          <p:cNvGraphicFramePr/>
          <p:nvPr/>
        </p:nvGraphicFramePr>
        <p:xfrm>
          <a:off x="640080" y="1600200"/>
          <a:ext cx="3000000" cy="3000000"/>
        </p:xfrm>
        <a:graphic>
          <a:graphicData uri="http://schemas.openxmlformats.org/drawingml/2006/table">
            <a:tbl>
              <a:tblPr>
                <a:noFill/>
                <a:tableStyleId>{0A1CF5D3-905E-44C4-9D50-C204F2D7BFB2}</a:tableStyleId>
              </a:tblPr>
              <a:tblGrid>
                <a:gridCol w="731525"/>
                <a:gridCol w="1737350"/>
                <a:gridCol w="4572000"/>
                <a:gridCol w="2011675"/>
                <a:gridCol w="914400"/>
                <a:gridCol w="914400"/>
              </a:tblGrid>
              <a:tr h="384050">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Section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Title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When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Marks</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c>
                  <a:txBody>
                    <a:bodyPr/>
                    <a:lstStyle/>
                    <a:p>
                      <a:pPr indent="0" lvl="0" marL="0" marR="0" rtl="0" algn="l">
                        <a:lnSpc>
                          <a:spcPct val="100000"/>
                        </a:lnSpc>
                        <a:spcBef>
                          <a:spcPts val="0"/>
                        </a:spcBef>
                        <a:spcAft>
                          <a:spcPts val="0"/>
                        </a:spcAft>
                        <a:buClr>
                          <a:srgbClr val="FFFFFF"/>
                        </a:buClr>
                        <a:buSzPts val="1100"/>
                        <a:buFont typeface="Calibri"/>
                        <a:buNone/>
                      </a:pPr>
                      <a:r>
                        <a:rPr b="1" lang="en-US" sz="1100" u="none" cap="none" strike="noStrike">
                          <a:solidFill>
                            <a:srgbClr val="FFFFFF"/>
                          </a:solidFill>
                        </a:rPr>
                        <a:t>Slides (guide)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solidFill>
                      <a:srgbClr val="1E2761"/>
                    </a:solidFill>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Project Cover</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Shared identity — appears once</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Review 1</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Problem Identification &amp; Planning</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Week 2–3 of Sem V</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8</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02</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Review 2 · Final</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Progress, Execution &amp; Final Evaluation</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Week 8–16 of Sem V</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40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A1A2E"/>
                        </a:buClr>
                        <a:buSzPts val="1100"/>
                        <a:buFont typeface="Calibri"/>
                        <a:buNone/>
                      </a:pPr>
                      <a:r>
                        <a:rPr lang="en-US" sz="1100" u="none" cap="none" strike="noStrike">
                          <a:solidFill>
                            <a:srgbClr val="1A1A2E"/>
                          </a:solidFill>
                        </a:rPr>
                        <a:t>10</a:t>
                      </a:r>
                      <a:endParaRPr sz="1100" u="none" cap="none" strike="noStrike"/>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58" name="Google Shape;58;h9719b5f17328916_0_0"/>
          <p:cNvSpPr/>
          <p:nvPr/>
        </p:nvSpPr>
        <p:spPr>
          <a:xfrm>
            <a:off x="914400" y="3246120"/>
            <a:ext cx="103785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B6478"/>
              </a:buClr>
              <a:buSzPts val="1200"/>
              <a:buFont typeface="Calibri"/>
              <a:buNone/>
            </a:pPr>
            <a:r>
              <a:rPr b="0" i="1" lang="en-US" sz="1200" u="none" cap="none" strike="noStrike">
                <a:solidFill>
                  <a:srgbClr val="5B6478"/>
                </a:solidFill>
                <a:latin typeface="Calibri"/>
                <a:ea typeface="Calibri"/>
                <a:cs typeface="Calibri"/>
                <a:sym typeface="Calibri"/>
              </a:rPr>
              <a:t>Total: 50 marks across 2 reviews  ·  Review 2 is FINAL — Report(/20) + Viva(/15) + Cert(/5).</a:t>
            </a:r>
            <a:endParaRPr b="0" i="0" sz="1200" u="none" cap="none" strike="noStrike">
              <a:solidFill>
                <a:schemeClr val="dk1"/>
              </a:solidFill>
              <a:latin typeface="Calibri"/>
              <a:ea typeface="Calibri"/>
              <a:cs typeface="Calibri"/>
              <a:sym typeface="Calibri"/>
            </a:endParaRPr>
          </a:p>
        </p:txBody>
      </p:sp>
      <p:sp>
        <p:nvSpPr>
          <p:cNvPr id="59" name="Google Shape;59;h9719b5f17328916_0_0"/>
          <p:cNvSpPr/>
          <p:nvPr/>
        </p:nvSpPr>
        <p:spPr>
          <a:xfrm>
            <a:off x="914400" y="3611880"/>
            <a:ext cx="10378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B6478"/>
              </a:buClr>
              <a:buSzPts val="1100"/>
              <a:buFont typeface="Calibri"/>
              <a:buNone/>
            </a:pPr>
            <a:r>
              <a:rPr b="0" i="1" lang="en-US" sz="1100" u="none" cap="none" strike="noStrike">
                <a:solidFill>
                  <a:srgbClr val="5B6478"/>
                </a:solidFill>
                <a:latin typeface="Calibri"/>
                <a:ea typeface="Calibri"/>
                <a:cs typeface="Calibri"/>
                <a:sym typeface="Calibri"/>
              </a:rPr>
              <a:t>"Cert" = the certificate issued by your community partner, OR — where one is not issued — your online/offline survey reports, photos, or other proof of work.</a:t>
            </a:r>
            <a:endParaRPr b="0" i="0" sz="1100" u="none" cap="none" strike="noStrike">
              <a:solidFill>
                <a:schemeClr val="dk1"/>
              </a:solidFill>
              <a:latin typeface="Calibri"/>
              <a:ea typeface="Calibri"/>
              <a:cs typeface="Calibri"/>
              <a:sym typeface="Calibri"/>
            </a:endParaRPr>
          </a:p>
        </p:txBody>
      </p:sp>
      <p:sp>
        <p:nvSpPr>
          <p:cNvPr id="60" name="Google Shape;60;h9719b5f17328916_0_0"/>
          <p:cNvSpPr/>
          <p:nvPr/>
        </p:nvSpPr>
        <p:spPr>
          <a:xfrm>
            <a:off x="548640" y="6446520"/>
            <a:ext cx="73152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Community Project Review Presentation Framework · MVGR CSE</a:t>
            </a:r>
            <a:endParaRPr b="0" i="0" sz="900" u="none" cap="none" strike="noStrike">
              <a:solidFill>
                <a:schemeClr val="dk1"/>
              </a:solidFill>
              <a:latin typeface="Calibri"/>
              <a:ea typeface="Calibri"/>
              <a:cs typeface="Calibri"/>
              <a:sym typeface="Calibri"/>
            </a:endParaRPr>
          </a:p>
        </p:txBody>
      </p:sp>
      <p:sp>
        <p:nvSpPr>
          <p:cNvPr id="61" name="Google Shape;61;h9719b5f17328916_0_0"/>
          <p:cNvSpPr/>
          <p:nvPr/>
        </p:nvSpPr>
        <p:spPr>
          <a:xfrm>
            <a:off x="11000232" y="6446520"/>
            <a:ext cx="914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3 of 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4"/>
          <p:cNvSpPr/>
          <p:nvPr/>
        </p:nvSpPr>
        <p:spPr>
          <a:xfrm>
            <a:off x="0" y="0"/>
            <a:ext cx="12191695" cy="1508760"/>
          </a:xfrm>
          <a:prstGeom prst="rect">
            <a:avLst/>
          </a:prstGeom>
          <a:solidFill>
            <a:srgbClr val="F7F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batch7d/img_opt/logo.jpg" id="68" name="Google Shape;68;p4"/>
          <p:cNvPicPr preferRelativeResize="0"/>
          <p:nvPr/>
        </p:nvPicPr>
        <p:blipFill rotWithShape="1">
          <a:blip r:embed="rId3">
            <a:alphaModFix/>
          </a:blip>
          <a:srcRect b="0" l="0" r="0" t="0"/>
          <a:stretch/>
        </p:blipFill>
        <p:spPr>
          <a:xfrm>
            <a:off x="256032" y="137160"/>
            <a:ext cx="1234440" cy="1234440"/>
          </a:xfrm>
          <a:prstGeom prst="rect">
            <a:avLst/>
          </a:prstGeom>
          <a:noFill/>
          <a:ln>
            <a:noFill/>
          </a:ln>
        </p:spPr>
      </p:pic>
      <p:sp>
        <p:nvSpPr>
          <p:cNvPr id="69" name="Google Shape;69;p4"/>
          <p:cNvSpPr/>
          <p:nvPr/>
        </p:nvSpPr>
        <p:spPr>
          <a:xfrm>
            <a:off x="1691650" y="640069"/>
            <a:ext cx="10058400" cy="804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250"/>
              <a:buFont typeface="Calibri"/>
              <a:buNone/>
            </a:pPr>
            <a:r>
              <a:rPr b="1" i="0" lang="en-US" sz="2200" u="none" cap="none" strike="noStrike">
                <a:solidFill>
                  <a:srgbClr val="1E2761"/>
                </a:solidFill>
                <a:latin typeface="Times New Roman"/>
                <a:ea typeface="Times New Roman"/>
                <a:cs typeface="Times New Roman"/>
                <a:sym typeface="Times New Roman"/>
              </a:rPr>
              <a:t>DEPARTMENT OF COMPUTER SCIENCE &amp; ENGINEERING</a:t>
            </a:r>
            <a:endParaRPr b="1" i="0" sz="2200" u="none" cap="none" strike="noStrike">
              <a:solidFill>
                <a:srgbClr val="1E2761"/>
              </a:solidFill>
              <a:latin typeface="Times New Roman"/>
              <a:ea typeface="Times New Roman"/>
              <a:cs typeface="Times New Roman"/>
              <a:sym typeface="Times New Roman"/>
            </a:endParaRPr>
          </a:p>
          <a:p>
            <a:pPr indent="0" lvl="0" marL="0" rtl="0" algn="ctr">
              <a:spcBef>
                <a:spcPts val="0"/>
              </a:spcBef>
              <a:spcAft>
                <a:spcPts val="0"/>
              </a:spcAft>
              <a:buClr>
                <a:srgbClr val="1E2761"/>
              </a:buClr>
              <a:buSzPts val="1250"/>
              <a:buFont typeface="Calibri"/>
              <a:buNone/>
            </a:pPr>
            <a:r>
              <a:rPr b="1" lang="en-US" sz="2200">
                <a:solidFill>
                  <a:srgbClr val="1E2761"/>
                </a:solidFill>
                <a:latin typeface="Times New Roman"/>
                <a:ea typeface="Times New Roman"/>
                <a:cs typeface="Times New Roman"/>
                <a:sym typeface="Times New Roman"/>
              </a:rPr>
              <a:t>MVGR COLLEGE OF ENGINEERING (A)  ·  </a:t>
            </a:r>
            <a:endParaRPr b="1" sz="2200">
              <a:solidFill>
                <a:srgbClr val="1E2761"/>
              </a:solidFill>
              <a:latin typeface="Times New Roman"/>
              <a:ea typeface="Times New Roman"/>
              <a:cs typeface="Times New Roman"/>
              <a:sym typeface="Times New Roman"/>
            </a:endParaRPr>
          </a:p>
        </p:txBody>
      </p:sp>
      <p:sp>
        <p:nvSpPr>
          <p:cNvPr id="70" name="Google Shape;70;p4"/>
          <p:cNvSpPr/>
          <p:nvPr/>
        </p:nvSpPr>
        <p:spPr>
          <a:xfrm>
            <a:off x="548640" y="1783080"/>
            <a:ext cx="11064240" cy="105156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777240" y="1874520"/>
            <a:ext cx="81381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mbria"/>
              <a:buNone/>
            </a:pPr>
            <a:r>
              <a:rPr b="1" i="0" lang="en-US" sz="2000" u="none" cap="none" strike="noStrike">
                <a:solidFill>
                  <a:srgbClr val="FFFFFF"/>
                </a:solidFill>
                <a:latin typeface="Times New Roman"/>
                <a:ea typeface="Times New Roman"/>
                <a:cs typeface="Times New Roman"/>
                <a:sym typeface="Times New Roman"/>
              </a:rPr>
              <a:t>Financial Literacy Programme For Rural Youth</a:t>
            </a:r>
            <a:endParaRPr i="0" sz="2000" u="none" cap="none" strike="noStrike">
              <a:solidFill>
                <a:schemeClr val="dk1"/>
              </a:solidFill>
              <a:latin typeface="Times New Roman"/>
              <a:ea typeface="Times New Roman"/>
              <a:cs typeface="Times New Roman"/>
              <a:sym typeface="Times New Roman"/>
            </a:endParaRPr>
          </a:p>
        </p:txBody>
      </p:sp>
      <p:sp>
        <p:nvSpPr>
          <p:cNvPr id="72" name="Google Shape;72;p4"/>
          <p:cNvSpPr/>
          <p:nvPr/>
        </p:nvSpPr>
        <p:spPr>
          <a:xfrm>
            <a:off x="777240" y="2377440"/>
            <a:ext cx="81381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50"/>
              <a:buFont typeface="Calibri"/>
              <a:buNone/>
            </a:pPr>
            <a:r>
              <a:rPr i="0" lang="en-US" sz="1200" u="none" cap="none" strike="noStrike">
                <a:solidFill>
                  <a:srgbClr val="CADCFC"/>
                </a:solidFill>
                <a:latin typeface="Times New Roman"/>
                <a:ea typeface="Times New Roman"/>
                <a:cs typeface="Times New Roman"/>
                <a:sym typeface="Times New Roman"/>
              </a:rPr>
              <a:t>Short Form: PS090   ·   Domain: Education</a:t>
            </a:r>
            <a:endParaRPr i="0" sz="1200" u="none" cap="none" strike="noStrike">
              <a:solidFill>
                <a:schemeClr val="dk1"/>
              </a:solidFill>
              <a:latin typeface="Times New Roman"/>
              <a:ea typeface="Times New Roman"/>
              <a:cs typeface="Times New Roman"/>
              <a:sym typeface="Times New Roman"/>
            </a:endParaRPr>
          </a:p>
        </p:txBody>
      </p:sp>
      <p:sp>
        <p:nvSpPr>
          <p:cNvPr id="73" name="Google Shape;73;p4"/>
          <p:cNvSpPr/>
          <p:nvPr/>
        </p:nvSpPr>
        <p:spPr>
          <a:xfrm>
            <a:off x="9052560" y="1965960"/>
            <a:ext cx="2377440" cy="502920"/>
          </a:xfrm>
          <a:prstGeom prst="rect">
            <a:avLst/>
          </a:prstGeom>
          <a:solidFill>
            <a:srgbClr val="141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9052560" y="1965960"/>
            <a:ext cx="237744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PROJECT OVERVIEW</a:t>
            </a:r>
            <a:endParaRPr i="0" sz="1000" u="none" cap="none" strike="noStrike">
              <a:solidFill>
                <a:schemeClr val="dk1"/>
              </a:solidFill>
              <a:latin typeface="Times New Roman"/>
              <a:ea typeface="Times New Roman"/>
              <a:cs typeface="Times New Roman"/>
              <a:sym typeface="Times New Roman"/>
            </a:endParaRPr>
          </a:p>
        </p:txBody>
      </p:sp>
      <p:sp>
        <p:nvSpPr>
          <p:cNvPr id="75" name="Google Shape;75;p4"/>
          <p:cNvSpPr/>
          <p:nvPr/>
        </p:nvSpPr>
        <p:spPr>
          <a:xfrm>
            <a:off x="9052560" y="2514600"/>
            <a:ext cx="2377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Entered once — carried through every slide</a:t>
            </a:r>
            <a:endParaRPr b="0" i="0" sz="900" u="none" cap="none" strike="noStrike">
              <a:solidFill>
                <a:schemeClr val="dk1"/>
              </a:solidFill>
              <a:latin typeface="Calibri"/>
              <a:ea typeface="Calibri"/>
              <a:cs typeface="Calibri"/>
              <a:sym typeface="Calibri"/>
            </a:endParaRPr>
          </a:p>
        </p:txBody>
      </p:sp>
      <p:sp>
        <p:nvSpPr>
          <p:cNvPr id="76" name="Google Shape;76;p4"/>
          <p:cNvSpPr/>
          <p:nvPr/>
        </p:nvSpPr>
        <p:spPr>
          <a:xfrm>
            <a:off x="548640" y="306324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Times New Roman"/>
                <a:ea typeface="Times New Roman"/>
                <a:cs typeface="Times New Roman"/>
                <a:sym typeface="Times New Roman"/>
              </a:rPr>
              <a:t>Equipping rural Class XII students with foundational financial literacy — savings, UPI safety, insurance &amp; govt. schemes, and financial planning — with actionable next steps.</a:t>
            </a:r>
            <a:endParaRPr i="0" sz="1500" u="none" cap="none" strike="noStrike">
              <a:solidFill>
                <a:schemeClr val="dk1"/>
              </a:solidFill>
              <a:latin typeface="Times New Roman"/>
              <a:ea typeface="Times New Roman"/>
              <a:cs typeface="Times New Roman"/>
              <a:sym typeface="Times New Roman"/>
            </a:endParaRPr>
          </a:p>
        </p:txBody>
      </p:sp>
      <p:sp>
        <p:nvSpPr>
          <p:cNvPr id="77" name="Google Shape;77;p4"/>
          <p:cNvSpPr/>
          <p:nvPr/>
        </p:nvSpPr>
        <p:spPr>
          <a:xfrm>
            <a:off x="548640" y="3566160"/>
            <a:ext cx="6537960" cy="210312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777240" y="3703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BATCH MEMBER DETAILS</a:t>
            </a:r>
            <a:endParaRPr i="0" u="none" cap="none" strike="noStrike">
              <a:solidFill>
                <a:schemeClr val="dk1"/>
              </a:solidFill>
              <a:latin typeface="Times New Roman"/>
              <a:ea typeface="Times New Roman"/>
              <a:cs typeface="Times New Roman"/>
              <a:sym typeface="Times New Roman"/>
            </a:endParaRPr>
          </a:p>
        </p:txBody>
      </p:sp>
      <p:graphicFrame>
        <p:nvGraphicFramePr>
          <p:cNvPr id="79" name="Google Shape;79;p4"/>
          <p:cNvGraphicFramePr/>
          <p:nvPr/>
        </p:nvGraphicFramePr>
        <p:xfrm>
          <a:off x="777240" y="4005072"/>
          <a:ext cx="3000000" cy="3000000"/>
        </p:xfrm>
        <a:graphic>
          <a:graphicData uri="http://schemas.openxmlformats.org/drawingml/2006/table">
            <a:tbl>
              <a:tblPr>
                <a:noFill/>
                <a:tableStyleId>{CC4A5BE9-D7C8-47AD-A5E8-40AC20D3A15B}</a:tableStyleId>
              </a:tblPr>
              <a:tblGrid>
                <a:gridCol w="4251950"/>
                <a:gridCol w="1828800"/>
              </a:tblGrid>
              <a:tr h="310900">
                <a:tc>
                  <a:txBody>
                    <a:bodyPr/>
                    <a:lstStyle/>
                    <a:p>
                      <a:pPr indent="0" lvl="0" marL="0" marR="0" rtl="0" algn="l">
                        <a:spcBef>
                          <a:spcPts val="0"/>
                        </a:spcBef>
                        <a:spcAft>
                          <a:spcPts val="0"/>
                        </a:spcAft>
                        <a:buClr>
                          <a:srgbClr val="1E2761"/>
                        </a:buClr>
                        <a:buSzPts val="1000"/>
                        <a:buFont typeface="Calibri"/>
                        <a:buNone/>
                      </a:pPr>
                      <a:r>
                        <a:rPr b="1" lang="en-US" u="none" cap="none" strike="noStrike">
                          <a:solidFill>
                            <a:srgbClr val="1E2761"/>
                          </a:solidFill>
                          <a:latin typeface="Times New Roman"/>
                          <a:ea typeface="Times New Roman"/>
                          <a:cs typeface="Times New Roman"/>
                          <a:sym typeface="Times New Roman"/>
                        </a:rPr>
                        <a:t>Name</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E2761"/>
                        </a:buClr>
                        <a:buSzPts val="1000"/>
                        <a:buFont typeface="Calibri"/>
                        <a:buNone/>
                      </a:pPr>
                      <a:r>
                        <a:rPr b="1" lang="en-US" u="none" cap="none" strike="noStrike">
                          <a:solidFill>
                            <a:srgbClr val="1E2761"/>
                          </a:solidFill>
                          <a:latin typeface="Times New Roman"/>
                          <a:ea typeface="Times New Roman"/>
                          <a:cs typeface="Times New Roman"/>
                          <a:sym typeface="Times New Roman"/>
                        </a:rPr>
                        <a:t>Roll No.</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Pitta Venkata Suri Reddy (Batch Leader)</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24331A05N4</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Pontapalli Rohith</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24331A05N6</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Pentakota Lalith Lakshya</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24331A05M8</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r h="310900">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Polaki Likitha</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950"/>
                        <a:buFont typeface="Calibri"/>
                        <a:buNone/>
                      </a:pPr>
                      <a:r>
                        <a:rPr lang="en-US" u="none" cap="none" strike="noStrike">
                          <a:solidFill>
                            <a:srgbClr val="1A1A2E"/>
                          </a:solidFill>
                          <a:latin typeface="Times New Roman"/>
                          <a:ea typeface="Times New Roman"/>
                          <a:cs typeface="Times New Roman"/>
                          <a:sym typeface="Times New Roman"/>
                        </a:rPr>
                        <a:t>25335A0520</a:t>
                      </a:r>
                      <a:endParaRPr u="none" cap="none" strike="noStrike">
                        <a:latin typeface="Times New Roman"/>
                        <a:ea typeface="Times New Roman"/>
                        <a:cs typeface="Times New Roman"/>
                        <a:sym typeface="Times New Roman"/>
                      </a:endParaRPr>
                    </a:p>
                  </a:txBody>
                  <a:tcPr marT="45725" marB="45725" marR="91450" marL="91450">
                    <a:lnL cap="flat" cmpd="sng" w="9525">
                      <a:solidFill>
                        <a:srgbClr val="E3E8F2"/>
                      </a:solidFill>
                      <a:prstDash val="solid"/>
                      <a:round/>
                      <a:headEnd len="sm" w="sm" type="none"/>
                      <a:tailEnd len="sm" w="sm" type="none"/>
                    </a:lnL>
                    <a:lnR cap="flat" cmpd="sng" w="9525">
                      <a:solidFill>
                        <a:srgbClr val="E3E8F2"/>
                      </a:solidFill>
                      <a:prstDash val="solid"/>
                      <a:round/>
                      <a:headEnd len="sm" w="sm" type="none"/>
                      <a:tailEnd len="sm" w="sm" type="none"/>
                    </a:lnR>
                    <a:lnT cap="flat" cmpd="sng" w="9525">
                      <a:solidFill>
                        <a:srgbClr val="E3E8F2"/>
                      </a:solidFill>
                      <a:prstDash val="solid"/>
                      <a:round/>
                      <a:headEnd len="sm" w="sm" type="none"/>
                      <a:tailEnd len="sm" w="sm" type="none"/>
                    </a:lnT>
                    <a:lnB cap="flat" cmpd="sng" w="9525">
                      <a:solidFill>
                        <a:srgbClr val="E3E8F2"/>
                      </a:solidFill>
                      <a:prstDash val="solid"/>
                      <a:round/>
                      <a:headEnd len="sm" w="sm" type="none"/>
                      <a:tailEnd len="sm" w="sm" type="none"/>
                    </a:lnB>
                  </a:tcPr>
                </a:tc>
              </a:tr>
            </a:tbl>
          </a:graphicData>
        </a:graphic>
      </p:graphicFrame>
      <p:sp>
        <p:nvSpPr>
          <p:cNvPr id="80" name="Google Shape;80;p4"/>
          <p:cNvSpPr/>
          <p:nvPr/>
        </p:nvSpPr>
        <p:spPr>
          <a:xfrm>
            <a:off x="7315200" y="3566160"/>
            <a:ext cx="4343400" cy="2103120"/>
          </a:xfrm>
          <a:prstGeom prst="rect">
            <a:avLst/>
          </a:prstGeom>
          <a:solidFill>
            <a:srgbClr val="FBFC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7201700" y="3749050"/>
            <a:ext cx="441120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80952"/>
              </a:lnSpc>
              <a:spcBef>
                <a:spcPts val="0"/>
              </a:spcBef>
              <a:spcAft>
                <a:spcPts val="0"/>
              </a:spcAft>
              <a:buClr>
                <a:srgbClr val="0E7490"/>
              </a:buClr>
              <a:buSzPts val="850"/>
              <a:buFont typeface="Calibri"/>
              <a:buNone/>
            </a:pPr>
            <a:r>
              <a:rPr b="1" i="0" lang="en-US" u="none" cap="none" strike="noStrike">
                <a:solidFill>
                  <a:srgbClr val="0E7490"/>
                </a:solidFill>
                <a:latin typeface="Times New Roman"/>
                <a:ea typeface="Times New Roman"/>
                <a:cs typeface="Times New Roman"/>
                <a:sym typeface="Times New Roman"/>
              </a:rPr>
              <a:t xml:space="preserve">BATCH ID   BATCH-13D · Sec D</a:t>
            </a:r>
            <a:br>
              <a:rPr i="0" lang="en-US" u="none" cap="none" strike="noStrike">
                <a:solidFill>
                  <a:srgbClr val="1A1A2E"/>
                </a:solidFill>
                <a:latin typeface="Times New Roman"/>
                <a:ea typeface="Times New Roman"/>
                <a:cs typeface="Times New Roman"/>
                <a:sym typeface="Times New Roman"/>
              </a:rPr>
            </a:br>
            <a:endParaRPr i="0" u="none" cap="none" strike="noStrike">
              <a:solidFill>
                <a:srgbClr val="1A1A2E"/>
              </a:solidFill>
              <a:latin typeface="Times New Roman"/>
              <a:ea typeface="Times New Roman"/>
              <a:cs typeface="Times New Roman"/>
              <a:sym typeface="Times New Roman"/>
            </a:endParaRPr>
          </a:p>
          <a:p>
            <a:pPr indent="0" lvl="0" marL="0" marR="0" rtl="0" algn="l">
              <a:lnSpc>
                <a:spcPct val="180952"/>
              </a:lnSpc>
              <a:spcBef>
                <a:spcPts val="0"/>
              </a:spcBef>
              <a:spcAft>
                <a:spcPts val="0"/>
              </a:spcAft>
              <a:buClr>
                <a:srgbClr val="0E7490"/>
              </a:buClr>
              <a:buSzPts val="850"/>
              <a:buFont typeface="Calibri"/>
              <a:buNone/>
            </a:pPr>
            <a:r>
              <a:rPr i="0" lang="en-US" u="none" cap="none" strike="noStrike">
                <a:solidFill>
                  <a:srgbClr val="1A1A2E"/>
                </a:solidFill>
                <a:latin typeface="Times New Roman"/>
                <a:ea typeface="Times New Roman"/>
                <a:cs typeface="Times New Roman"/>
                <a:sym typeface="Times New Roman"/>
              </a:rPr>
              <a:t>PROJECT IN-CHARGE   Dr. P. Rama Santosh Naidu &amp; Mr. R. Ravi Kumar</a:t>
            </a:r>
            <a:br>
              <a:rPr i="0" lang="en-US" u="none" cap="none" strike="noStrike">
                <a:solidFill>
                  <a:srgbClr val="1A1A2E"/>
                </a:solidFill>
                <a:latin typeface="Times New Roman"/>
                <a:ea typeface="Times New Roman"/>
                <a:cs typeface="Times New Roman"/>
                <a:sym typeface="Times New Roman"/>
              </a:rPr>
            </a:br>
            <a:endParaRPr i="0" u="none" cap="none" strike="noStrike">
              <a:solidFill>
                <a:schemeClr val="dk1"/>
              </a:solidFill>
              <a:latin typeface="Times New Roman"/>
              <a:ea typeface="Times New Roman"/>
              <a:cs typeface="Times New Roman"/>
              <a:sym typeface="Times New Roman"/>
            </a:endParaRPr>
          </a:p>
          <a:p>
            <a:pPr indent="0" lvl="0" marL="0" marR="0" rtl="0" algn="l">
              <a:lnSpc>
                <a:spcPct val="180952"/>
              </a:lnSpc>
              <a:spcBef>
                <a:spcPts val="0"/>
              </a:spcBef>
              <a:spcAft>
                <a:spcPts val="0"/>
              </a:spcAft>
              <a:buClr>
                <a:srgbClr val="0E7490"/>
              </a:buClr>
              <a:buSzPts val="850"/>
              <a:buFont typeface="Calibri"/>
              <a:buNone/>
            </a:pPr>
            <a:r>
              <a:rPr i="0" lang="en-US" u="none" cap="none" strike="noStrike">
                <a:solidFill>
                  <a:srgbClr val="1A1A2E"/>
                </a:solidFill>
                <a:latin typeface="Times New Roman"/>
                <a:ea typeface="Times New Roman"/>
                <a:cs typeface="Times New Roman"/>
                <a:sym typeface="Times New Roman"/>
              </a:rPr>
              <a:t>COMMUNITY PARTNER   Govt. Junior College, Vizianagaram Town (Code: 02197)</a:t>
            </a:r>
            <a:br>
              <a:rPr i="0" lang="en-US" u="none" cap="none" strike="noStrike">
                <a:solidFill>
                  <a:srgbClr val="1A1A2E"/>
                </a:solidFill>
                <a:latin typeface="Times New Roman"/>
                <a:ea typeface="Times New Roman"/>
                <a:cs typeface="Times New Roman"/>
                <a:sym typeface="Times New Roman"/>
              </a:rPr>
            </a:br>
            <a:endParaRPr i="0" u="none" cap="none" strike="noStrike">
              <a:solidFill>
                <a:schemeClr val="dk1"/>
              </a:solidFill>
              <a:latin typeface="Times New Roman"/>
              <a:ea typeface="Times New Roman"/>
              <a:cs typeface="Times New Roman"/>
              <a:sym typeface="Times New Roman"/>
            </a:endParaRPr>
          </a:p>
        </p:txBody>
      </p:sp>
      <p:sp>
        <p:nvSpPr>
          <p:cNvPr id="82" name="Google Shape;82;p4"/>
          <p:cNvSpPr/>
          <p:nvPr/>
        </p:nvSpPr>
        <p:spPr>
          <a:xfrm>
            <a:off x="548640" y="5806440"/>
            <a:ext cx="11064240" cy="384048"/>
          </a:xfrm>
          <a:prstGeom prst="rect">
            <a:avLst/>
          </a:prstGeom>
          <a:solidFill>
            <a:srgbClr val="FFF7EC"/>
          </a:solidFill>
          <a:ln cap="flat" cmpd="sng" w="9525">
            <a:solidFill>
              <a:srgbClr val="F0B4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731520" y="5806440"/>
            <a:ext cx="10698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050"/>
              <a:buFont typeface="Calibri"/>
              <a:buNone/>
            </a:pPr>
            <a:r>
              <a:rPr b="1" i="0" lang="en-US" sz="1200" u="none" cap="none" strike="noStrike">
                <a:solidFill>
                  <a:srgbClr val="1E2761"/>
                </a:solidFill>
                <a:latin typeface="Times New Roman"/>
                <a:ea typeface="Times New Roman"/>
                <a:cs typeface="Times New Roman"/>
                <a:sym typeface="Times New Roman"/>
              </a:rPr>
              <a:t xml:space="preserve">  ☑  Review 1 — PLANNING GATE     →     ☑  Review 2 — FINAL EVALUATION GATE  </a:t>
            </a:r>
            <a:endParaRPr i="0" sz="1200" u="none" cap="none" strike="noStrike">
              <a:solidFill>
                <a:schemeClr val="dk1"/>
              </a:solidFill>
              <a:latin typeface="Times New Roman"/>
              <a:ea typeface="Times New Roman"/>
              <a:cs typeface="Times New Roman"/>
              <a:sym typeface="Times New Roman"/>
            </a:endParaRPr>
          </a:p>
        </p:txBody>
      </p:sp>
      <p:sp>
        <p:nvSpPr>
          <p:cNvPr id="84" name="Google Shape;84;p4"/>
          <p:cNvSpPr/>
          <p:nvPr/>
        </p:nvSpPr>
        <p:spPr>
          <a:xfrm>
            <a:off x="548640" y="6236208"/>
            <a:ext cx="11064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850"/>
              <a:buFont typeface="Calibri"/>
              <a:buNone/>
            </a:pPr>
            <a:r>
              <a:rPr i="1" lang="en-US" sz="1000" u="none" cap="none" strike="noStrike">
                <a:solidFill>
                  <a:srgbClr val="8896AB"/>
                </a:solidFill>
                <a:latin typeface="Times New Roman"/>
                <a:ea typeface="Times New Roman"/>
                <a:cs typeface="Times New Roman"/>
                <a:sym typeface="Times New Roman"/>
              </a:rPr>
              <a:t>Both reviews complete — this deck covers the full project from planning to final execution.</a:t>
            </a:r>
            <a:endParaRPr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5"/>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01</a:t>
            </a:r>
            <a:endParaRPr i="0" sz="1500" u="none" cap="none" strike="noStrike">
              <a:solidFill>
                <a:schemeClr val="dk1"/>
              </a:solidFill>
              <a:latin typeface="Times New Roman"/>
              <a:ea typeface="Times New Roman"/>
              <a:cs typeface="Times New Roman"/>
              <a:sym typeface="Times New Roman"/>
            </a:endParaRPr>
          </a:p>
        </p:txBody>
      </p:sp>
      <p:sp>
        <p:nvSpPr>
          <p:cNvPr id="92" name="Google Shape;92;p5"/>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Problem Statement Recap</a:t>
            </a:r>
            <a:endParaRPr i="0" sz="2200" u="none" cap="none" strike="noStrike">
              <a:solidFill>
                <a:schemeClr val="dk1"/>
              </a:solidFill>
              <a:latin typeface="Times New Roman"/>
              <a:ea typeface="Times New Roman"/>
              <a:cs typeface="Times New Roman"/>
              <a:sym typeface="Times New Roman"/>
            </a:endParaRPr>
          </a:p>
        </p:txBody>
      </p:sp>
      <p:sp>
        <p:nvSpPr>
          <p:cNvPr id="93" name="Google Shape;93;p5"/>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1 OF 8 · DECK SLIDE 5 OF 21</a:t>
            </a:r>
            <a:endParaRPr i="0" sz="1000" u="none" cap="none" strike="noStrike">
              <a:solidFill>
                <a:schemeClr val="dk1"/>
              </a:solidFill>
              <a:latin typeface="Times New Roman"/>
              <a:ea typeface="Times New Roman"/>
              <a:cs typeface="Times New Roman"/>
              <a:sym typeface="Times New Roman"/>
            </a:endParaRPr>
          </a:p>
        </p:txBody>
      </p:sp>
      <p:sp>
        <p:nvSpPr>
          <p:cNvPr id="94" name="Google Shape;94;p5"/>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96" name="Google Shape;96;p5"/>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AT A GLANCE</a:t>
            </a:r>
            <a:endParaRPr i="0" u="none" cap="none" strike="noStrike">
              <a:solidFill>
                <a:schemeClr val="dk1"/>
              </a:solidFill>
              <a:latin typeface="Times New Roman"/>
              <a:ea typeface="Times New Roman"/>
              <a:cs typeface="Times New Roman"/>
              <a:sym typeface="Times New Roman"/>
            </a:endParaRPr>
          </a:p>
        </p:txBody>
      </p:sp>
      <p:sp>
        <p:nvSpPr>
          <p:cNvPr id="98" name="Google Shape;98;p5"/>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49250" lvl="0" marL="342900" marR="0" rtl="0" algn="l">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PS090 · Financial Literacy Programme For Rural Youth</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Domain: Education</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BATCH-13D · Section D · 4 Members</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Partner: Govt. Junior College, Vizianagaram Town</a:t>
            </a:r>
            <a:endParaRPr i="0" u="none" cap="none" strike="noStrike">
              <a:solidFill>
                <a:schemeClr val="dk1"/>
              </a:solidFill>
              <a:latin typeface="Times New Roman"/>
              <a:ea typeface="Times New Roman"/>
              <a:cs typeface="Times New Roman"/>
              <a:sym typeface="Times New Roman"/>
            </a:endParaRPr>
          </a:p>
          <a:p>
            <a:pPr indent="-349250" lvl="0" marL="342900" marR="0" rtl="0" algn="l">
              <a:lnSpc>
                <a:spcPct val="150000"/>
              </a:lnSpc>
              <a:spcBef>
                <a:spcPts val="600"/>
              </a:spcBef>
              <a:spcAft>
                <a:spcPts val="0"/>
              </a:spcAft>
              <a:buClr>
                <a:srgbClr val="1A1A2E"/>
              </a:buClr>
              <a:buSzPts val="1400"/>
              <a:buFont typeface="Calibri"/>
              <a:buChar char="•"/>
            </a:pPr>
            <a:r>
              <a:rPr i="0" lang="en-US" u="none" cap="none" strike="noStrike">
                <a:solidFill>
                  <a:srgbClr val="1A1A2E"/>
                </a:solidFill>
                <a:latin typeface="Times New Roman"/>
                <a:ea typeface="Times New Roman"/>
                <a:cs typeface="Times New Roman"/>
                <a:sym typeface="Times New Roman"/>
              </a:rPr>
              <a:t>Guides: Dr. P. Rama Santosh Naidu &amp; Mr. R. Ravi Kumar, Dept. of CSE</a:t>
            </a:r>
            <a:endParaRPr b="0" i="0" u="none" cap="none" strike="noStrike">
              <a:solidFill>
                <a:schemeClr val="dk1"/>
              </a:solidFill>
              <a:latin typeface="Calibri"/>
              <a:ea typeface="Calibri"/>
              <a:cs typeface="Calibri"/>
              <a:sym typeface="Calibri"/>
            </a:endParaRPr>
          </a:p>
        </p:txBody>
      </p:sp>
      <p:pic>
        <p:nvPicPr>
          <p:cNvPr descr="/home/claude/batch7d/img_opt/r1_1.jpg" id="99" name="Google Shape;99;p5"/>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00" name="Google Shape;100;p5"/>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01" name="Google Shape;101;p5"/>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6"/>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02</a:t>
            </a:r>
            <a:endParaRPr i="0" sz="1500" u="none" cap="none" strike="noStrike">
              <a:solidFill>
                <a:schemeClr val="dk1"/>
              </a:solidFill>
              <a:latin typeface="Times New Roman"/>
              <a:ea typeface="Times New Roman"/>
              <a:cs typeface="Times New Roman"/>
              <a:sym typeface="Times New Roman"/>
            </a:endParaRPr>
          </a:p>
        </p:txBody>
      </p:sp>
      <p:sp>
        <p:nvSpPr>
          <p:cNvPr id="109" name="Google Shape;109;p6"/>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Problem Statement &amp; Community Partner</a:t>
            </a:r>
            <a:endParaRPr i="0" sz="2200" u="none" cap="none" strike="noStrike">
              <a:solidFill>
                <a:schemeClr val="dk1"/>
              </a:solidFill>
              <a:latin typeface="Times New Roman"/>
              <a:ea typeface="Times New Roman"/>
              <a:cs typeface="Times New Roman"/>
              <a:sym typeface="Times New Roman"/>
            </a:endParaRPr>
          </a:p>
        </p:txBody>
      </p:sp>
      <p:sp>
        <p:nvSpPr>
          <p:cNvPr id="110" name="Google Shape;110;p6"/>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2 OF 8 · DECK SLIDE 6 OF 21</a:t>
            </a:r>
            <a:endParaRPr i="0" sz="1000" u="none" cap="none" strike="noStrike">
              <a:solidFill>
                <a:schemeClr val="dk1"/>
              </a:solidFill>
              <a:latin typeface="Times New Roman"/>
              <a:ea typeface="Times New Roman"/>
              <a:cs typeface="Times New Roman"/>
              <a:sym typeface="Times New Roman"/>
            </a:endParaRPr>
          </a:p>
        </p:txBody>
      </p:sp>
      <p:sp>
        <p:nvSpPr>
          <p:cNvPr id="111" name="Google Shape;111;p6"/>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13" name="Google Shape;113;p6"/>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AT A GLANCE</a:t>
            </a:r>
            <a:endParaRPr i="0" u="none" cap="none" strike="noStrike">
              <a:solidFill>
                <a:schemeClr val="dk1"/>
              </a:solidFill>
              <a:latin typeface="Times New Roman"/>
              <a:ea typeface="Times New Roman"/>
              <a:cs typeface="Times New Roman"/>
              <a:sym typeface="Times New Roman"/>
            </a:endParaRPr>
          </a:p>
        </p:txBody>
      </p:sp>
      <p:sp>
        <p:nvSpPr>
          <p:cNvPr id="115" name="Google Shape;115;p6"/>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Class XII students in rural Vizianagaram have no formal exposure to financial concepts — savings, banking, UPI payments, insurance, or financial planning.</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They are highly vulnerable to UPI fraud, phishing scams, and predatory financial schemes due to limited financial awareness.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Lack of financial planning knowledge affects their ability to manage scholarships, income, and financial decisions post-school.</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Target Community: 37 Class XII students · Govt. Junior College, Vizianagaram Town · 26-09-2026</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2.jpg" id="116" name="Google Shape;116;p6"/>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17" name="Google Shape;117;p6"/>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18" name="Google Shape;118;p6"/>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6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7"/>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03</a:t>
            </a:r>
            <a:endParaRPr i="0" sz="1500" u="none" cap="none" strike="noStrike">
              <a:solidFill>
                <a:schemeClr val="dk1"/>
              </a:solidFill>
              <a:latin typeface="Times New Roman"/>
              <a:ea typeface="Times New Roman"/>
              <a:cs typeface="Times New Roman"/>
              <a:sym typeface="Times New Roman"/>
            </a:endParaRPr>
          </a:p>
        </p:txBody>
      </p:sp>
      <p:sp>
        <p:nvSpPr>
          <p:cNvPr id="126" name="Google Shape;126;p7"/>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Why This Matters (Background &amp; Significance)</a:t>
            </a:r>
            <a:endParaRPr i="0" sz="2200" u="none" cap="none" strike="noStrike">
              <a:solidFill>
                <a:schemeClr val="dk1"/>
              </a:solidFill>
              <a:latin typeface="Times New Roman"/>
              <a:ea typeface="Times New Roman"/>
              <a:cs typeface="Times New Roman"/>
              <a:sym typeface="Times New Roman"/>
            </a:endParaRPr>
          </a:p>
        </p:txBody>
      </p:sp>
      <p:sp>
        <p:nvSpPr>
          <p:cNvPr id="127" name="Google Shape;127;p7"/>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3 OF 8 · DECK SLIDE 7 OF 21</a:t>
            </a:r>
            <a:endParaRPr i="0" sz="1000" u="none" cap="none" strike="noStrike">
              <a:solidFill>
                <a:schemeClr val="dk1"/>
              </a:solidFill>
              <a:latin typeface="Times New Roman"/>
              <a:ea typeface="Times New Roman"/>
              <a:cs typeface="Times New Roman"/>
              <a:sym typeface="Times New Roman"/>
            </a:endParaRPr>
          </a:p>
        </p:txBody>
      </p:sp>
      <p:sp>
        <p:nvSpPr>
          <p:cNvPr id="128" name="Google Shape;128;p7"/>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30" name="Google Shape;130;p7"/>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WHY THIS MATTERS</a:t>
            </a:r>
            <a:endParaRPr i="0" u="none" cap="none" strike="noStrike">
              <a:solidFill>
                <a:schemeClr val="dk1"/>
              </a:solidFill>
              <a:latin typeface="Times New Roman"/>
              <a:ea typeface="Times New Roman"/>
              <a:cs typeface="Times New Roman"/>
              <a:sym typeface="Times New Roman"/>
            </a:endParaRPr>
          </a:p>
        </p:txBody>
      </p:sp>
      <p:sp>
        <p:nvSpPr>
          <p:cNvPr id="132" name="Google Shape;132;p7"/>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Our preliminary survey confirmed that most Class XII rural students own mobile phones and may use UPI — but have zero formal financial education, making them easy targets for fraud and poor financial decisions.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Many students are unaware of basic banking (savings accounts, zero-balance Jan Dhan), safe digital payment practices (OTP scams, fake QR codes), insurance basics, or government schemes like PM Scholarship directly applicable to them.</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This gap between owning a mobile phone and having financial confidence motivated this project — providing actionable knowledge before they enter the financial world.</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3.jpg" id="133" name="Google Shape;133;p7"/>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34" name="Google Shape;134;p7"/>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35" name="Google Shape;135;p7"/>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7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8"/>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04</a:t>
            </a:r>
            <a:endParaRPr i="0" sz="1500" u="none" cap="none" strike="noStrike">
              <a:solidFill>
                <a:schemeClr val="dk1"/>
              </a:solidFill>
              <a:latin typeface="Times New Roman"/>
              <a:ea typeface="Times New Roman"/>
              <a:cs typeface="Times New Roman"/>
              <a:sym typeface="Times New Roman"/>
            </a:endParaRPr>
          </a:p>
        </p:txBody>
      </p:sp>
      <p:sp>
        <p:nvSpPr>
          <p:cNvPr id="143" name="Google Shape;143;p8"/>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Objectives</a:t>
            </a:r>
            <a:endParaRPr i="0" sz="2200" u="none" cap="none" strike="noStrike">
              <a:solidFill>
                <a:schemeClr val="dk1"/>
              </a:solidFill>
              <a:latin typeface="Times New Roman"/>
              <a:ea typeface="Times New Roman"/>
              <a:cs typeface="Times New Roman"/>
              <a:sym typeface="Times New Roman"/>
            </a:endParaRPr>
          </a:p>
        </p:txBody>
      </p:sp>
      <p:sp>
        <p:nvSpPr>
          <p:cNvPr id="144" name="Google Shape;144;p8"/>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850" u="none" cap="none" strike="noStrike">
                <a:solidFill>
                  <a:srgbClr val="0E7490"/>
                </a:solidFill>
                <a:latin typeface="Courier New"/>
                <a:ea typeface="Courier New"/>
                <a:cs typeface="Courier New"/>
                <a:sym typeface="Courier New"/>
              </a:rPr>
              <a:t>REVIEW 1 · SLIDE 4 OF 8 · DECK SLIDE 8 OF 21</a:t>
            </a:r>
            <a:endParaRPr b="0" i="0" sz="850" u="none" cap="none" strike="noStrike">
              <a:solidFill>
                <a:schemeClr val="dk1"/>
              </a:solidFill>
              <a:latin typeface="Calibri"/>
              <a:ea typeface="Calibri"/>
              <a:cs typeface="Calibri"/>
              <a:sym typeface="Calibri"/>
            </a:endParaRPr>
          </a:p>
        </p:txBody>
      </p:sp>
      <p:sp>
        <p:nvSpPr>
          <p:cNvPr id="145" name="Google Shape;145;p8"/>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47" name="Google Shape;147;p8"/>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u="none" cap="none" strike="noStrike">
                <a:solidFill>
                  <a:srgbClr val="0E7490"/>
                </a:solidFill>
                <a:latin typeface="Times New Roman"/>
                <a:ea typeface="Times New Roman"/>
                <a:cs typeface="Times New Roman"/>
                <a:sym typeface="Times New Roman"/>
              </a:rPr>
              <a:t>OBJECTIVES</a:t>
            </a:r>
            <a:endParaRPr i="0" u="none" cap="none" strike="noStrike">
              <a:solidFill>
                <a:schemeClr val="dk1"/>
              </a:solidFill>
              <a:latin typeface="Times New Roman"/>
              <a:ea typeface="Times New Roman"/>
              <a:cs typeface="Times New Roman"/>
              <a:sym typeface="Times New Roman"/>
            </a:endParaRPr>
          </a:p>
        </p:txBody>
      </p:sp>
      <p:sp>
        <p:nvSpPr>
          <p:cNvPr id="149" name="Google Shape;149;p8"/>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Assess the baseline financial literacy of 37 rural Class XII students through a structured 15-mark MCQ pre-test.</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Deliver four structured modules: (1) Savings &amp; Banking  (2) UPI &amp; Digital Payments Safety  (3) Insurance &amp; Govt. Schemes  (4) Financial Planning &amp; Budgeting.</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Create awareness of UPI fraud, OTP scams, fake QR codes, phishing, and predatory lending through interactive sessions and real-world examples.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Measure knowledge gain through an identical 15-mark post-test and compare individual and class-average scores.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Distribute an actionable financial literacy handout so students can immediately apply their learning.</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4.jpg" id="150" name="Google Shape;150;p8"/>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51" name="Google Shape;151;p8"/>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52" name="Google Shape;152;p8"/>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8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9"/>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05</a:t>
            </a:r>
            <a:endParaRPr i="0" sz="1500" u="none" cap="none" strike="noStrike">
              <a:solidFill>
                <a:schemeClr val="dk1"/>
              </a:solidFill>
              <a:latin typeface="Times New Roman"/>
              <a:ea typeface="Times New Roman"/>
              <a:cs typeface="Times New Roman"/>
              <a:sym typeface="Times New Roman"/>
            </a:endParaRPr>
          </a:p>
        </p:txBody>
      </p:sp>
      <p:sp>
        <p:nvSpPr>
          <p:cNvPr id="160" name="Google Shape;160;p9"/>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Methodology — Online Data Collection Plan</a:t>
            </a:r>
            <a:endParaRPr i="0" sz="2200" u="none" cap="none" strike="noStrike">
              <a:solidFill>
                <a:schemeClr val="dk1"/>
              </a:solidFill>
              <a:latin typeface="Times New Roman"/>
              <a:ea typeface="Times New Roman"/>
              <a:cs typeface="Times New Roman"/>
              <a:sym typeface="Times New Roman"/>
            </a:endParaRPr>
          </a:p>
        </p:txBody>
      </p:sp>
      <p:sp>
        <p:nvSpPr>
          <p:cNvPr id="161" name="Google Shape;161;p9"/>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5 OF 8 · DECK SLIDE 9 OF 21</a:t>
            </a:r>
            <a:endParaRPr i="0" sz="1000" u="none" cap="none" strike="noStrike">
              <a:solidFill>
                <a:schemeClr val="dk1"/>
              </a:solidFill>
              <a:latin typeface="Times New Roman"/>
              <a:ea typeface="Times New Roman"/>
              <a:cs typeface="Times New Roman"/>
              <a:sym typeface="Times New Roman"/>
            </a:endParaRPr>
          </a:p>
        </p:txBody>
      </p:sp>
      <p:sp>
        <p:nvSpPr>
          <p:cNvPr id="162" name="Google Shape;162;p9"/>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64" name="Google Shape;164;p9"/>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sz="1000" u="none" cap="none" strike="noStrike">
                <a:solidFill>
                  <a:srgbClr val="0E7490"/>
                </a:solidFill>
                <a:latin typeface="Times New Roman"/>
                <a:ea typeface="Times New Roman"/>
                <a:cs typeface="Times New Roman"/>
                <a:sym typeface="Times New Roman"/>
              </a:rPr>
              <a:t>ONLINE / SECONDARY DATA</a:t>
            </a:r>
            <a:endParaRPr i="0" sz="1000" u="none" cap="none" strike="noStrike">
              <a:solidFill>
                <a:schemeClr val="dk1"/>
              </a:solidFill>
              <a:latin typeface="Times New Roman"/>
              <a:ea typeface="Times New Roman"/>
              <a:cs typeface="Times New Roman"/>
              <a:sym typeface="Times New Roman"/>
            </a:endParaRPr>
          </a:p>
        </p:txBody>
      </p:sp>
      <p:sp>
        <p:nvSpPr>
          <p:cNvPr id="166" name="Google Shape;166;p9"/>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RBI Financial Literacy Guidelines — structured content on savings, banking, and responsible money management for rural and youth audiences.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SEBI Investor Education Resources — investor awareness and simple financial planning content for first-time participants.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NPCI/UPI Safety Advisories — official guidance on safe UPI usage, OTP protection, and how to identify phishing links and fake payment requests.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CERT-In Cyber Safety Resources — advisories on phishing, online fraud, fake QR codes, and digital financial crime affecting mobile banking users.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 structured classroom-based training approach was used with printed MCQ assessments (not Google Forms) since the target community was rural Class XII students.</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5.jpg" id="167" name="Google Shape;167;p9"/>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168" name="Google Shape;168;p9"/>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69" name="Google Shape;169;p9"/>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9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0"/>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06</a:t>
            </a:r>
            <a:endParaRPr i="0" sz="1500" u="none" cap="none" strike="noStrike">
              <a:solidFill>
                <a:schemeClr val="dk1"/>
              </a:solidFill>
              <a:latin typeface="Times New Roman"/>
              <a:ea typeface="Times New Roman"/>
              <a:cs typeface="Times New Roman"/>
              <a:sym typeface="Times New Roman"/>
            </a:endParaRPr>
          </a:p>
        </p:txBody>
      </p:sp>
      <p:sp>
        <p:nvSpPr>
          <p:cNvPr id="177" name="Google Shape;177;p10"/>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Methodology — Offline Field Work Plan</a:t>
            </a:r>
            <a:endParaRPr i="0" sz="2200" u="none" cap="none" strike="noStrike">
              <a:solidFill>
                <a:schemeClr val="dk1"/>
              </a:solidFill>
              <a:latin typeface="Times New Roman"/>
              <a:ea typeface="Times New Roman"/>
              <a:cs typeface="Times New Roman"/>
              <a:sym typeface="Times New Roman"/>
            </a:endParaRPr>
          </a:p>
        </p:txBody>
      </p:sp>
      <p:sp>
        <p:nvSpPr>
          <p:cNvPr id="178" name="Google Shape;178;p10"/>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6 OF 8 · DECK SLIDE 10 OF 21</a:t>
            </a:r>
            <a:endParaRPr i="0" sz="1000" u="none" cap="none" strike="noStrike">
              <a:solidFill>
                <a:schemeClr val="dk1"/>
              </a:solidFill>
              <a:latin typeface="Times New Roman"/>
              <a:ea typeface="Times New Roman"/>
              <a:cs typeface="Times New Roman"/>
              <a:sym typeface="Times New Roman"/>
            </a:endParaRPr>
          </a:p>
        </p:txBody>
      </p:sp>
      <p:sp>
        <p:nvSpPr>
          <p:cNvPr id="179" name="Google Shape;179;p10"/>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181" name="Google Shape;181;p10"/>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1000"/>
              <a:buFont typeface="Courier New"/>
              <a:buNone/>
            </a:pPr>
            <a:r>
              <a:rPr b="1" i="0" lang="en-US" sz="1000" u="none" cap="none" strike="noStrike">
                <a:solidFill>
                  <a:srgbClr val="0E7490"/>
                </a:solidFill>
                <a:latin typeface="Courier New"/>
                <a:ea typeface="Courier New"/>
                <a:cs typeface="Courier New"/>
                <a:sym typeface="Courier New"/>
              </a:rPr>
              <a:t>OFFLINE FIELD WORK PLAN</a:t>
            </a:r>
            <a:endParaRPr b="0" i="0" sz="1000" u="none" cap="none" strike="noStrike">
              <a:solidFill>
                <a:schemeClr val="dk1"/>
              </a:solidFill>
              <a:latin typeface="Calibri"/>
              <a:ea typeface="Calibri"/>
              <a:cs typeface="Calibri"/>
              <a:sym typeface="Calibri"/>
            </a:endParaRPr>
          </a:p>
        </p:txBody>
      </p:sp>
      <p:sp>
        <p:nvSpPr>
          <p:cNvPr id="183" name="Google Shape;183;p10"/>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1 — Baseline Assessment: 15-mark MCQ pre-test administered to all 37 Class XII students to measure baseline financial knowledge before the session.</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2 — 4-Module Training: Module 1 (Savings &amp; Banking) → Module 2 (UPI &amp; Digital Payments Safety) → Module 3 (Insurance &amp; Govt. Schemes) → Module 4 (Financial Planning &amp; Budgeting) — delivered interactively with real-world case examples.</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Phase 3 — Post-Evaluation: identical 15-mark MCQ post-test administered after all 4 modules; individual student scores recorded and compared for knowledge gain measurement.</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Visit: Govt. Junior College, Vizianagaram Town — 37 Class XII students — 26-09-2026 (approved non-working day).</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1_6.jpg" id="184" name="Google Shape;184;p10"/>
          <p:cNvPicPr preferRelativeResize="0"/>
          <p:nvPr/>
        </p:nvPicPr>
        <p:blipFill rotWithShape="1">
          <a:blip r:embed="rId3">
            <a:alphaModFix/>
          </a:blip>
          <a:srcRect b="0" l="0" r="0" t="0"/>
          <a:stretch/>
        </p:blipFill>
        <p:spPr>
          <a:xfrm>
            <a:off x="7315200" y="1585825"/>
            <a:ext cx="4343400" cy="4416550"/>
          </a:xfrm>
          <a:prstGeom prst="rect">
            <a:avLst/>
          </a:prstGeom>
          <a:noFill/>
          <a:ln>
            <a:noFill/>
          </a:ln>
        </p:spPr>
      </p:pic>
      <p:sp>
        <p:nvSpPr>
          <p:cNvPr id="185" name="Google Shape;185;p10"/>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186" name="Google Shape;186;p10"/>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10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1"/>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07</a:t>
            </a:r>
            <a:endParaRPr i="0" sz="1500" u="none" cap="none" strike="noStrike">
              <a:solidFill>
                <a:schemeClr val="dk1"/>
              </a:solidFill>
              <a:latin typeface="Times New Roman"/>
              <a:ea typeface="Times New Roman"/>
              <a:cs typeface="Times New Roman"/>
              <a:sym typeface="Times New Roman"/>
            </a:endParaRPr>
          </a:p>
        </p:txBody>
      </p:sp>
      <p:sp>
        <p:nvSpPr>
          <p:cNvPr id="194" name="Google Shape;194;p11"/>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Timeline &amp; Expected Deliverable</a:t>
            </a:r>
            <a:endParaRPr i="0" sz="2200" u="none" cap="none" strike="noStrike">
              <a:solidFill>
                <a:schemeClr val="dk1"/>
              </a:solidFill>
              <a:latin typeface="Times New Roman"/>
              <a:ea typeface="Times New Roman"/>
              <a:cs typeface="Times New Roman"/>
              <a:sym typeface="Times New Roman"/>
            </a:endParaRPr>
          </a:p>
        </p:txBody>
      </p:sp>
      <p:sp>
        <p:nvSpPr>
          <p:cNvPr id="195" name="Google Shape;195;p11"/>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7 OF 8 · DECK SLIDE 11 OF 21</a:t>
            </a:r>
            <a:endParaRPr i="0" sz="1000" u="none" cap="none" strike="noStrike">
              <a:solidFill>
                <a:schemeClr val="dk1"/>
              </a:solidFill>
              <a:latin typeface="Times New Roman"/>
              <a:ea typeface="Times New Roman"/>
              <a:cs typeface="Times New Roman"/>
              <a:sym typeface="Times New Roman"/>
            </a:endParaRPr>
          </a:p>
        </p:txBody>
      </p:sp>
      <p:sp>
        <p:nvSpPr>
          <p:cNvPr id="196" name="Google Shape;196;p11"/>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202" name="Google Shape;202;p11"/>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203" name="Google Shape;203;p11"/>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11 of 21</a:t>
            </a:r>
            <a:endParaRPr b="0" i="0" sz="900" u="none" cap="none" strike="noStrike">
              <a:solidFill>
                <a:schemeClr val="dk1"/>
              </a:solidFill>
              <a:latin typeface="Calibri"/>
              <a:ea typeface="Calibri"/>
              <a:cs typeface="Calibri"/>
              <a:sym typeface="Calibri"/>
            </a:endParaRPr>
          </a:p>
        </p:txBody>
      </p:sp>
      <p:sp>
        <p:nvSpPr>
          <p:cNvPr id="204" name="Rectangle 203"/>
          <p:cNvSpPr/>
          <p:nvPr/>
        </p:nvSpPr>
        <p:spPr>
          <a:xfrm>
            <a:off x="548640" y="1280160"/>
            <a:ext cx="10972800" cy="4983480"/>
          </a:xfrm>
          <a:prstGeom prst="rect">
            <a:avLst/>
          </a:prstGeom>
          <a:solidFill>
            <a:srgbClr val="F6F8FC"/>
          </a:solidFill>
          <a:ln>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86384" y="1417320"/>
            <a:ext cx="5852160" cy="274320"/>
          </a:xfrm>
          <a:prstGeom prst="rect">
            <a:avLst/>
          </a:prstGeom>
          <a:noFill/>
        </p:spPr>
        <p:txBody>
          <a:bodyPr wrap="square" lIns="0" rIns="0" tIns="0" bIns="0" anchor="t">
            <a:spAutoFit/>
          </a:bodyPr>
          <a:lstStyle/>
          <a:p>
            <a:pPr algn="l"/>
            <a:r>
              <a:rPr sz="1000" b="1">
                <a:solidFill>
                  <a:srgbClr val="0E7490"/>
                </a:solidFill>
                <a:latin typeface="Courier New"/>
              </a:rPr>
              <a:t>REVIEW-WISE PLAN</a:t>
            </a:r>
          </a:p>
        </p:txBody>
      </p:sp>
      <p:sp>
        <p:nvSpPr>
          <p:cNvPr id="206" name="Rounded Rectangle 205"/>
          <p:cNvSpPr/>
          <p:nvPr/>
        </p:nvSpPr>
        <p:spPr>
          <a:xfrm>
            <a:off x="786384" y="1810512"/>
            <a:ext cx="10497312" cy="658368"/>
          </a:xfrm>
          <a:prstGeom prst="roundRect">
            <a:avLst/>
          </a:prstGeom>
          <a:solidFill>
            <a:srgbClr val="E6F3F7"/>
          </a:solidFill>
          <a:ln>
            <a:solidFill>
              <a:srgbClr val="E6F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960120" y="1911095"/>
            <a:ext cx="2331720" cy="228600"/>
          </a:xfrm>
          <a:prstGeom prst="rect">
            <a:avLst/>
          </a:prstGeom>
          <a:noFill/>
        </p:spPr>
        <p:txBody>
          <a:bodyPr wrap="square" lIns="0" rIns="0" tIns="0" bIns="0" anchor="t">
            <a:spAutoFit/>
          </a:bodyPr>
          <a:lstStyle/>
          <a:p>
            <a:pPr algn="l"/>
            <a:r>
              <a:rPr sz="1100" b="1">
                <a:solidFill>
                  <a:srgbClr val="0E7490"/>
                </a:solidFill>
                <a:latin typeface="Times New Roman"/>
              </a:rPr>
              <a:t>FIELD VISIT  ·  26-09-2026</a:t>
            </a:r>
          </a:p>
        </p:txBody>
      </p:sp>
      <p:sp>
        <p:nvSpPr>
          <p:cNvPr id="208" name="TextBox 207"/>
          <p:cNvSpPr txBox="1"/>
          <p:nvPr/>
        </p:nvSpPr>
        <p:spPr>
          <a:xfrm>
            <a:off x="3310128" y="1892807"/>
            <a:ext cx="7680960" cy="292608"/>
          </a:xfrm>
          <a:prstGeom prst="rect">
            <a:avLst/>
          </a:prstGeom>
          <a:noFill/>
        </p:spPr>
        <p:txBody>
          <a:bodyPr wrap="square" lIns="0" rIns="0" tIns="0" bIns="0" anchor="t">
            <a:spAutoFit/>
          </a:bodyPr>
          <a:lstStyle/>
          <a:p>
            <a:pPr algn="l"/>
            <a:r>
              <a:rPr sz="1050" b="0">
                <a:solidFill>
                  <a:srgbClr val="1A1A2E"/>
                </a:solidFill>
                <a:latin typeface="Times New Roman"/>
              </a:rPr>
              <a:t>Govt. Junior College, Vizianagaram Town  ·  37 Class XII students  ·  approved non-working day</a:t>
            </a:r>
          </a:p>
        </p:txBody>
      </p:sp>
      <p:sp>
        <p:nvSpPr>
          <p:cNvPr id="209" name="Rounded Rectangle 208"/>
          <p:cNvSpPr/>
          <p:nvPr/>
        </p:nvSpPr>
        <p:spPr>
          <a:xfrm>
            <a:off x="786384" y="2761488"/>
            <a:ext cx="5074920" cy="2468880"/>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786384" y="2761488"/>
            <a:ext cx="64008" cy="2468880"/>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950976" y="2880360"/>
            <a:ext cx="4818888" cy="310896"/>
          </a:xfrm>
          <a:prstGeom prst="rect">
            <a:avLst/>
          </a:prstGeom>
          <a:noFill/>
        </p:spPr>
        <p:txBody>
          <a:bodyPr wrap="square" lIns="0" rIns="0" tIns="0" bIns="0" anchor="t">
            <a:spAutoFit/>
          </a:bodyPr>
          <a:lstStyle/>
          <a:p>
            <a:pPr algn="l"/>
            <a:r>
              <a:rPr sz="1300" b="1">
                <a:solidFill>
                  <a:srgbClr val="0E7490"/>
                </a:solidFill>
                <a:latin typeface="Times New Roman"/>
              </a:rPr>
              <a:t>REVIEW 1  ·  PLANNING</a:t>
            </a:r>
          </a:p>
        </p:txBody>
      </p:sp>
      <p:sp>
        <p:nvSpPr>
          <p:cNvPr id="212" name="TextBox 211"/>
          <p:cNvSpPr txBox="1"/>
          <p:nvPr/>
        </p:nvSpPr>
        <p:spPr>
          <a:xfrm>
            <a:off x="5294376" y="2871216"/>
            <a:ext cx="411480" cy="256032"/>
          </a:xfrm>
          <a:prstGeom prst="rect">
            <a:avLst/>
          </a:prstGeom>
          <a:noFill/>
        </p:spPr>
        <p:txBody>
          <a:bodyPr wrap="square" lIns="0" rIns="0" tIns="0" bIns="0" anchor="t">
            <a:spAutoFit/>
          </a:bodyPr>
          <a:lstStyle/>
          <a:p>
            <a:pPr algn="r"/>
            <a:r>
              <a:rPr sz="1000" b="1">
                <a:solidFill>
                  <a:srgbClr val="6E7F9A"/>
                </a:solidFill>
                <a:latin typeface="Times New Roman"/>
              </a:rPr>
              <a:t>01</a:t>
            </a:r>
          </a:p>
        </p:txBody>
      </p:sp>
      <p:sp>
        <p:nvSpPr>
          <p:cNvPr id="213" name="TextBox 212"/>
          <p:cNvSpPr txBox="1"/>
          <p:nvPr/>
        </p:nvSpPr>
        <p:spPr>
          <a:xfrm>
            <a:off x="950976" y="3236976"/>
            <a:ext cx="4800600" cy="1901952"/>
          </a:xfrm>
          <a:prstGeom prst="rect">
            <a:avLst/>
          </a:prstGeom>
          <a:noFill/>
        </p:spPr>
        <p:txBody>
          <a:bodyPr wrap="square" lIns="0" rIns="0" tIns="0" bIns="0" anchor="t">
            <a:spAutoFit/>
          </a:bodyPr>
          <a:lstStyle/>
          <a:p>
            <a:pPr algn="l"/>
            <a:r>
              <a:rPr sz="1050" b="0">
                <a:solidFill>
                  <a:srgbClr val="1A1A2E"/>
                </a:solidFill>
                <a:latin typeface="Times New Roman"/>
              </a:rPr>
              <a:t>Community survey and needs assessment
Literature review and 15-mark pre-test design
Four-module content and training material</a:t>
            </a:r>
          </a:p>
        </p:txBody>
      </p:sp>
      <p:sp>
        <p:nvSpPr>
          <p:cNvPr id="214" name="Rounded Rectangle 213"/>
          <p:cNvSpPr/>
          <p:nvPr/>
        </p:nvSpPr>
        <p:spPr>
          <a:xfrm>
            <a:off x="6144768" y="2761488"/>
            <a:ext cx="5138928" cy="2468880"/>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6144768" y="2761488"/>
            <a:ext cx="64008" cy="2468880"/>
          </a:xfrm>
          <a:prstGeom prst="rect">
            <a:avLst/>
          </a:prstGeom>
          <a:solidFill>
            <a:srgbClr val="B45309"/>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309359" y="2880360"/>
            <a:ext cx="4882896" cy="310896"/>
          </a:xfrm>
          <a:prstGeom prst="rect">
            <a:avLst/>
          </a:prstGeom>
          <a:noFill/>
        </p:spPr>
        <p:txBody>
          <a:bodyPr wrap="square" lIns="0" rIns="0" tIns="0" bIns="0" anchor="t">
            <a:spAutoFit/>
          </a:bodyPr>
          <a:lstStyle/>
          <a:p>
            <a:pPr algn="l"/>
            <a:r>
              <a:rPr sz="1300" b="1">
                <a:solidFill>
                  <a:srgbClr val="B45309"/>
                </a:solidFill>
                <a:latin typeface="Times New Roman"/>
              </a:rPr>
              <a:t>REVIEW 2  ·  FINAL</a:t>
            </a:r>
          </a:p>
        </p:txBody>
      </p:sp>
      <p:sp>
        <p:nvSpPr>
          <p:cNvPr id="217" name="TextBox 216"/>
          <p:cNvSpPr txBox="1"/>
          <p:nvPr/>
        </p:nvSpPr>
        <p:spPr>
          <a:xfrm>
            <a:off x="10716768" y="2871216"/>
            <a:ext cx="411480" cy="256032"/>
          </a:xfrm>
          <a:prstGeom prst="rect">
            <a:avLst/>
          </a:prstGeom>
          <a:noFill/>
        </p:spPr>
        <p:txBody>
          <a:bodyPr wrap="square" lIns="0" rIns="0" tIns="0" bIns="0" anchor="t">
            <a:spAutoFit/>
          </a:bodyPr>
          <a:lstStyle/>
          <a:p>
            <a:pPr algn="r"/>
            <a:r>
              <a:rPr sz="1000" b="1">
                <a:solidFill>
                  <a:srgbClr val="6E7F9A"/>
                </a:solidFill>
                <a:latin typeface="Times New Roman"/>
              </a:rPr>
              <a:t>02</a:t>
            </a:r>
          </a:p>
        </p:txBody>
      </p:sp>
      <p:sp>
        <p:nvSpPr>
          <p:cNvPr id="218" name="TextBox 217"/>
          <p:cNvSpPr txBox="1"/>
          <p:nvPr/>
        </p:nvSpPr>
        <p:spPr>
          <a:xfrm>
            <a:off x="6309359" y="3236976"/>
            <a:ext cx="4864608" cy="1901952"/>
          </a:xfrm>
          <a:prstGeom prst="rect">
            <a:avLst/>
          </a:prstGeom>
          <a:noFill/>
        </p:spPr>
        <p:txBody>
          <a:bodyPr wrap="square" lIns="0" rIns="0" tIns="0" bIns="0" anchor="t">
            <a:spAutoFit/>
          </a:bodyPr>
          <a:lstStyle/>
          <a:p>
            <a:pPr algn="l"/>
            <a:r>
              <a:rPr sz="1050" b="0">
                <a:solidFill>
                  <a:srgbClr val="1A1A2E"/>
                </a:solidFill>
                <a:latin typeface="Times New Roman"/>
              </a:rPr>
              <a:t>Field visit + four-module financial literacy session
15-mark pre/post tests, score analysis and documentation
Handout distributed to all 37 students</a:t>
            </a:r>
          </a:p>
        </p:txBody>
      </p:sp>
      <p:sp>
        <p:nvSpPr>
          <p:cNvPr id="219" name="Rounded Rectangle 218"/>
          <p:cNvSpPr/>
          <p:nvPr/>
        </p:nvSpPr>
        <p:spPr>
          <a:xfrm>
            <a:off x="786384" y="5504688"/>
            <a:ext cx="10497312" cy="457200"/>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960120" y="5596128"/>
            <a:ext cx="1828800" cy="182880"/>
          </a:xfrm>
          <a:prstGeom prst="rect">
            <a:avLst/>
          </a:prstGeom>
          <a:noFill/>
        </p:spPr>
        <p:txBody>
          <a:bodyPr wrap="square" lIns="0" rIns="0" tIns="0" bIns="0" anchor="t">
            <a:spAutoFit/>
          </a:bodyPr>
          <a:lstStyle/>
          <a:p>
            <a:pPr algn="l"/>
            <a:r>
              <a:rPr sz="950" b="1">
                <a:solidFill>
                  <a:srgbClr val="0E7490"/>
                </a:solidFill>
                <a:latin typeface="Times New Roman"/>
              </a:rPr>
              <a:t>COMMUNITY DELIVERABLE</a:t>
            </a:r>
          </a:p>
        </p:txBody>
      </p:sp>
      <p:sp>
        <p:nvSpPr>
          <p:cNvPr id="221" name="TextBox 220"/>
          <p:cNvSpPr txBox="1"/>
          <p:nvPr/>
        </p:nvSpPr>
        <p:spPr>
          <a:xfrm>
            <a:off x="2743200" y="5577840"/>
            <a:ext cx="8183879" cy="228600"/>
          </a:xfrm>
          <a:prstGeom prst="rect">
            <a:avLst/>
          </a:prstGeom>
          <a:noFill/>
        </p:spPr>
        <p:txBody>
          <a:bodyPr wrap="square" lIns="0" rIns="0" tIns="0" bIns="0" anchor="t">
            <a:spAutoFit/>
          </a:bodyPr>
          <a:lstStyle/>
          <a:p>
            <a:pPr algn="l"/>
            <a:r>
              <a:rPr sz="1050" b="1">
                <a:solidFill>
                  <a:srgbClr val="1A1A2E"/>
                </a:solidFill>
                <a:latin typeface="Times New Roman"/>
              </a:rPr>
              <a:t>4-module session + actionable personal finance handout</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2"/>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08</a:t>
            </a:r>
            <a:endParaRPr i="0" sz="1500" u="none" cap="none" strike="noStrike">
              <a:solidFill>
                <a:schemeClr val="dk1"/>
              </a:solidFill>
              <a:latin typeface="Times New Roman"/>
              <a:ea typeface="Times New Roman"/>
              <a:cs typeface="Times New Roman"/>
              <a:sym typeface="Times New Roman"/>
            </a:endParaRPr>
          </a:p>
        </p:txBody>
      </p:sp>
      <p:sp>
        <p:nvSpPr>
          <p:cNvPr id="211" name="Google Shape;211;p12"/>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Team Roles &amp; Responsibilities</a:t>
            </a:r>
            <a:endParaRPr i="0" sz="2200" u="none" cap="none" strike="noStrike">
              <a:solidFill>
                <a:schemeClr val="dk1"/>
              </a:solidFill>
              <a:latin typeface="Times New Roman"/>
              <a:ea typeface="Times New Roman"/>
              <a:cs typeface="Times New Roman"/>
              <a:sym typeface="Times New Roman"/>
            </a:endParaRPr>
          </a:p>
        </p:txBody>
      </p:sp>
      <p:sp>
        <p:nvSpPr>
          <p:cNvPr id="212" name="Google Shape;212;p12"/>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7490"/>
              </a:buClr>
              <a:buSzPts val="850"/>
              <a:buFont typeface="Courier New"/>
              <a:buNone/>
            </a:pPr>
            <a:r>
              <a:rPr b="1" i="0" lang="en-US" sz="1000" u="none" cap="none" strike="noStrike">
                <a:solidFill>
                  <a:srgbClr val="0E7490"/>
                </a:solidFill>
                <a:latin typeface="Times New Roman"/>
                <a:ea typeface="Times New Roman"/>
                <a:cs typeface="Times New Roman"/>
                <a:sym typeface="Times New Roman"/>
              </a:rPr>
              <a:t>REVIEW 1 · SLIDE 8 OF 8 · DECK SLIDE 12 OF 21</a:t>
            </a:r>
            <a:endParaRPr i="0" sz="1000" u="none" cap="none" strike="noStrike">
              <a:solidFill>
                <a:schemeClr val="dk1"/>
              </a:solidFill>
              <a:latin typeface="Times New Roman"/>
              <a:ea typeface="Times New Roman"/>
              <a:cs typeface="Times New Roman"/>
              <a:sym typeface="Times New Roman"/>
            </a:endParaRPr>
          </a:p>
        </p:txBody>
      </p:sp>
      <p:sp>
        <p:nvSpPr>
          <p:cNvPr id="213" name="Google Shape;213;p12"/>
          <p:cNvSpPr/>
          <p:nvPr/>
        </p:nvSpPr>
        <p:spPr>
          <a:xfrm>
            <a:off x="9281160" y="365760"/>
            <a:ext cx="2377440" cy="548640"/>
          </a:xfrm>
          <a:prstGeom prst="rect">
            <a:avLst/>
          </a:prstGeom>
          <a:solidFill>
            <a:srgbClr val="0E74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PLANNING GATE</a:t>
            </a:r>
            <a:endParaRPr i="0" sz="1000" u="none" cap="none" strike="noStrike">
              <a:solidFill>
                <a:schemeClr val="dk1"/>
              </a:solidFill>
              <a:latin typeface="Times New Roman"/>
              <a:ea typeface="Times New Roman"/>
              <a:cs typeface="Times New Roman"/>
              <a:sym typeface="Times New Roman"/>
            </a:endParaRPr>
          </a:p>
        </p:txBody>
      </p:sp>
      <p:sp>
        <p:nvSpPr>
          <p:cNvPr id="218" name="Google Shape;218;p12"/>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1 — Problem Identification &amp; Planning · Week 2–3 of Sem V</a:t>
            </a:r>
            <a:endParaRPr b="0" i="0" sz="900" u="none" cap="none" strike="noStrike">
              <a:solidFill>
                <a:schemeClr val="dk1"/>
              </a:solidFill>
              <a:latin typeface="Calibri"/>
              <a:ea typeface="Calibri"/>
              <a:cs typeface="Calibri"/>
              <a:sym typeface="Calibri"/>
            </a:endParaRPr>
          </a:p>
        </p:txBody>
      </p:sp>
      <p:sp>
        <p:nvSpPr>
          <p:cNvPr id="219" name="Google Shape;219;p12"/>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12 of 21</a:t>
            </a:r>
            <a:endParaRPr b="0" i="0" sz="900" u="none" cap="none" strike="noStrike">
              <a:solidFill>
                <a:schemeClr val="dk1"/>
              </a:solidFill>
              <a:latin typeface="Calibri"/>
              <a:ea typeface="Calibri"/>
              <a:cs typeface="Calibri"/>
              <a:sym typeface="Calibri"/>
            </a:endParaRPr>
          </a:p>
        </p:txBody>
      </p:sp>
      <p:sp>
        <p:nvSpPr>
          <p:cNvPr id="220" name="Rectangle 219"/>
          <p:cNvSpPr/>
          <p:nvPr/>
        </p:nvSpPr>
        <p:spPr>
          <a:xfrm>
            <a:off x="548640" y="1280160"/>
            <a:ext cx="10972800" cy="4983480"/>
          </a:xfrm>
          <a:prstGeom prst="rect">
            <a:avLst/>
          </a:prstGeom>
          <a:solidFill>
            <a:srgbClr val="F6F8FC"/>
          </a:solidFill>
          <a:ln>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786384" y="1417320"/>
            <a:ext cx="6080760" cy="274320"/>
          </a:xfrm>
          <a:prstGeom prst="rect">
            <a:avLst/>
          </a:prstGeom>
          <a:noFill/>
        </p:spPr>
        <p:txBody>
          <a:bodyPr wrap="square" lIns="0" rIns="0" tIns="0" bIns="0" anchor="t">
            <a:spAutoFit/>
          </a:bodyPr>
          <a:lstStyle/>
          <a:p>
            <a:pPr algn="l"/>
            <a:r>
              <a:rPr sz="1000" b="1">
                <a:solidFill>
                  <a:srgbClr val="0E7490"/>
                </a:solidFill>
                <a:latin typeface="Courier New"/>
              </a:rPr>
              <a:t>TEAM</a:t>
            </a:r>
          </a:p>
        </p:txBody>
      </p:sp>
      <p:sp>
        <p:nvSpPr>
          <p:cNvPr id="222" name="Rounded Rectangle 221"/>
          <p:cNvSpPr/>
          <p:nvPr/>
        </p:nvSpPr>
        <p:spPr>
          <a:xfrm>
            <a:off x="786384" y="1847088"/>
            <a:ext cx="5138928" cy="1719072"/>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932688" y="1965960"/>
            <a:ext cx="347472" cy="228600"/>
          </a:xfrm>
          <a:prstGeom prst="rect">
            <a:avLst/>
          </a:prstGeom>
          <a:noFill/>
        </p:spPr>
        <p:txBody>
          <a:bodyPr wrap="square" lIns="0" rIns="0" tIns="0" bIns="0" anchor="t">
            <a:spAutoFit/>
          </a:bodyPr>
          <a:lstStyle/>
          <a:p>
            <a:pPr algn="l"/>
            <a:r>
              <a:rPr sz="1000" b="1">
                <a:solidFill>
                  <a:srgbClr val="0E7490"/>
                </a:solidFill>
                <a:latin typeface="Times New Roman"/>
              </a:rPr>
              <a:t>01</a:t>
            </a:r>
          </a:p>
        </p:txBody>
      </p:sp>
      <p:sp>
        <p:nvSpPr>
          <p:cNvPr id="224" name="TextBox 223"/>
          <p:cNvSpPr txBox="1"/>
          <p:nvPr/>
        </p:nvSpPr>
        <p:spPr>
          <a:xfrm>
            <a:off x="1353312" y="1956816"/>
            <a:ext cx="4370832" cy="256032"/>
          </a:xfrm>
          <a:prstGeom prst="rect">
            <a:avLst/>
          </a:prstGeom>
          <a:noFill/>
        </p:spPr>
        <p:txBody>
          <a:bodyPr wrap="square" lIns="0" rIns="0" tIns="0" bIns="0" anchor="t">
            <a:spAutoFit/>
          </a:bodyPr>
          <a:lstStyle/>
          <a:p>
            <a:pPr algn="l"/>
            <a:r>
              <a:rPr sz="1150" b="1">
                <a:solidFill>
                  <a:srgbClr val="1E2761"/>
                </a:solidFill>
                <a:latin typeface="Times New Roman"/>
              </a:rPr>
              <a:t>PITTA VENKATA SURI REDDY</a:t>
            </a:r>
          </a:p>
        </p:txBody>
      </p:sp>
      <p:sp>
        <p:nvSpPr>
          <p:cNvPr id="225" name="TextBox 224"/>
          <p:cNvSpPr txBox="1"/>
          <p:nvPr/>
        </p:nvSpPr>
        <p:spPr>
          <a:xfrm>
            <a:off x="1353312" y="2240280"/>
            <a:ext cx="4370832" cy="201168"/>
          </a:xfrm>
          <a:prstGeom prst="rect">
            <a:avLst/>
          </a:prstGeom>
          <a:noFill/>
        </p:spPr>
        <p:txBody>
          <a:bodyPr wrap="square" lIns="0" rIns="0" tIns="0" bIns="0" anchor="t">
            <a:spAutoFit/>
          </a:bodyPr>
          <a:lstStyle/>
          <a:p>
            <a:pPr algn="l"/>
            <a:r>
              <a:rPr sz="950" b="0">
                <a:solidFill>
                  <a:srgbClr val="6E7F9A"/>
                </a:solidFill>
                <a:latin typeface="Times New Roman"/>
              </a:rPr>
              <a:t>24331A05N4</a:t>
            </a:r>
          </a:p>
        </p:txBody>
      </p:sp>
      <p:sp>
        <p:nvSpPr>
          <p:cNvPr id="226" name="TextBox 225"/>
          <p:cNvSpPr txBox="1"/>
          <p:nvPr/>
        </p:nvSpPr>
        <p:spPr>
          <a:xfrm>
            <a:off x="950976" y="2560320"/>
            <a:ext cx="4663440" cy="256032"/>
          </a:xfrm>
          <a:prstGeom prst="rect">
            <a:avLst/>
          </a:prstGeom>
          <a:noFill/>
        </p:spPr>
        <p:txBody>
          <a:bodyPr wrap="square" lIns="0" rIns="0" tIns="0" bIns="0" anchor="t">
            <a:spAutoFit/>
          </a:bodyPr>
          <a:lstStyle/>
          <a:p>
            <a:pPr algn="l"/>
            <a:r>
              <a:rPr sz="1050" b="1">
                <a:solidFill>
                  <a:srgbClr val="0E7490"/>
                </a:solidFill>
                <a:latin typeface="Times New Roman"/>
              </a:rPr>
              <a:t>Batch Leader · Module 1</a:t>
            </a:r>
          </a:p>
        </p:txBody>
      </p:sp>
      <p:sp>
        <p:nvSpPr>
          <p:cNvPr id="227" name="TextBox 226"/>
          <p:cNvSpPr txBox="1"/>
          <p:nvPr/>
        </p:nvSpPr>
        <p:spPr>
          <a:xfrm>
            <a:off x="950976" y="2852928"/>
            <a:ext cx="4663440" cy="576072"/>
          </a:xfrm>
          <a:prstGeom prst="rect">
            <a:avLst/>
          </a:prstGeom>
          <a:noFill/>
        </p:spPr>
        <p:txBody>
          <a:bodyPr wrap="square" lIns="0" rIns="0" tIns="0" bIns="0" anchor="t">
            <a:spAutoFit/>
          </a:bodyPr>
          <a:lstStyle/>
          <a:p>
            <a:pPr algn="l"/>
            <a:r>
              <a:rPr sz="950" b="0">
                <a:solidFill>
                  <a:srgbClr val="1A1A2E"/>
                </a:solidFill>
                <a:latin typeface="Times New Roman"/>
              </a:rPr>
              <a:t>Leads the team; delivers Savings &amp; Banking; prepares reports and presentations</a:t>
            </a:r>
          </a:p>
        </p:txBody>
      </p:sp>
      <p:sp>
        <p:nvSpPr>
          <p:cNvPr id="228" name="Rounded Rectangle 227"/>
          <p:cNvSpPr/>
          <p:nvPr/>
        </p:nvSpPr>
        <p:spPr>
          <a:xfrm>
            <a:off x="6144768" y="1847088"/>
            <a:ext cx="5138928" cy="1719072"/>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6291072" y="1965960"/>
            <a:ext cx="347472" cy="228600"/>
          </a:xfrm>
          <a:prstGeom prst="rect">
            <a:avLst/>
          </a:prstGeom>
          <a:noFill/>
        </p:spPr>
        <p:txBody>
          <a:bodyPr wrap="square" lIns="0" rIns="0" tIns="0" bIns="0" anchor="t">
            <a:spAutoFit/>
          </a:bodyPr>
          <a:lstStyle/>
          <a:p>
            <a:pPr algn="l"/>
            <a:r>
              <a:rPr sz="1000" b="1">
                <a:solidFill>
                  <a:srgbClr val="0E7490"/>
                </a:solidFill>
                <a:latin typeface="Times New Roman"/>
              </a:rPr>
              <a:t>02</a:t>
            </a:r>
          </a:p>
        </p:txBody>
      </p:sp>
      <p:sp>
        <p:nvSpPr>
          <p:cNvPr id="230" name="TextBox 229"/>
          <p:cNvSpPr txBox="1"/>
          <p:nvPr/>
        </p:nvSpPr>
        <p:spPr>
          <a:xfrm>
            <a:off x="6711696" y="1956816"/>
            <a:ext cx="4370832" cy="256032"/>
          </a:xfrm>
          <a:prstGeom prst="rect">
            <a:avLst/>
          </a:prstGeom>
          <a:noFill/>
        </p:spPr>
        <p:txBody>
          <a:bodyPr wrap="square" lIns="0" rIns="0" tIns="0" bIns="0" anchor="t">
            <a:spAutoFit/>
          </a:bodyPr>
          <a:lstStyle/>
          <a:p>
            <a:pPr algn="l"/>
            <a:r>
              <a:rPr sz="1150" b="1">
                <a:solidFill>
                  <a:srgbClr val="1E2761"/>
                </a:solidFill>
                <a:latin typeface="Times New Roman"/>
              </a:rPr>
              <a:t>PONTAPALLI ROHITH</a:t>
            </a:r>
          </a:p>
        </p:txBody>
      </p:sp>
      <p:sp>
        <p:nvSpPr>
          <p:cNvPr id="231" name="TextBox 230"/>
          <p:cNvSpPr txBox="1"/>
          <p:nvPr/>
        </p:nvSpPr>
        <p:spPr>
          <a:xfrm>
            <a:off x="6711696" y="2240280"/>
            <a:ext cx="4370832" cy="201168"/>
          </a:xfrm>
          <a:prstGeom prst="rect">
            <a:avLst/>
          </a:prstGeom>
          <a:noFill/>
        </p:spPr>
        <p:txBody>
          <a:bodyPr wrap="square" lIns="0" rIns="0" tIns="0" bIns="0" anchor="t">
            <a:spAutoFit/>
          </a:bodyPr>
          <a:lstStyle/>
          <a:p>
            <a:pPr algn="l"/>
            <a:r>
              <a:rPr sz="950" b="0">
                <a:solidFill>
                  <a:srgbClr val="6E7F9A"/>
                </a:solidFill>
                <a:latin typeface="Times New Roman"/>
              </a:rPr>
              <a:t>24331A05N6</a:t>
            </a:r>
          </a:p>
        </p:txBody>
      </p:sp>
      <p:sp>
        <p:nvSpPr>
          <p:cNvPr id="232" name="TextBox 231"/>
          <p:cNvSpPr txBox="1"/>
          <p:nvPr/>
        </p:nvSpPr>
        <p:spPr>
          <a:xfrm>
            <a:off x="6309359" y="2560320"/>
            <a:ext cx="4663440" cy="256032"/>
          </a:xfrm>
          <a:prstGeom prst="rect">
            <a:avLst/>
          </a:prstGeom>
          <a:noFill/>
        </p:spPr>
        <p:txBody>
          <a:bodyPr wrap="square" lIns="0" rIns="0" tIns="0" bIns="0" anchor="t">
            <a:spAutoFit/>
          </a:bodyPr>
          <a:lstStyle/>
          <a:p>
            <a:pPr algn="l"/>
            <a:r>
              <a:rPr sz="1050" b="1">
                <a:solidFill>
                  <a:srgbClr val="0E7490"/>
                </a:solidFill>
                <a:latin typeface="Times New Roman"/>
              </a:rPr>
              <a:t>Session Lead · Module 2</a:t>
            </a:r>
          </a:p>
        </p:txBody>
      </p:sp>
      <p:sp>
        <p:nvSpPr>
          <p:cNvPr id="233" name="TextBox 232"/>
          <p:cNvSpPr txBox="1"/>
          <p:nvPr/>
        </p:nvSpPr>
        <p:spPr>
          <a:xfrm>
            <a:off x="6309359" y="2852928"/>
            <a:ext cx="4663440" cy="576072"/>
          </a:xfrm>
          <a:prstGeom prst="rect">
            <a:avLst/>
          </a:prstGeom>
          <a:noFill/>
        </p:spPr>
        <p:txBody>
          <a:bodyPr wrap="square" lIns="0" rIns="0" tIns="0" bIns="0" anchor="t">
            <a:spAutoFit/>
          </a:bodyPr>
          <a:lstStyle/>
          <a:p>
            <a:pPr algn="l"/>
            <a:r>
              <a:rPr sz="950" b="0">
                <a:solidFill>
                  <a:srgbClr val="1A1A2E"/>
                </a:solidFill>
                <a:latin typeface="Times New Roman"/>
              </a:rPr>
              <a:t>Delivers UPI &amp; Digital Payments Safety; manages device demos and real-time Q&amp;A</a:t>
            </a:r>
          </a:p>
        </p:txBody>
      </p:sp>
      <p:sp>
        <p:nvSpPr>
          <p:cNvPr id="234" name="Rounded Rectangle 233"/>
          <p:cNvSpPr/>
          <p:nvPr/>
        </p:nvSpPr>
        <p:spPr>
          <a:xfrm>
            <a:off x="786384" y="3813048"/>
            <a:ext cx="5138928" cy="1719072"/>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32688" y="3931920"/>
            <a:ext cx="347472" cy="228600"/>
          </a:xfrm>
          <a:prstGeom prst="rect">
            <a:avLst/>
          </a:prstGeom>
          <a:noFill/>
        </p:spPr>
        <p:txBody>
          <a:bodyPr wrap="square" lIns="0" rIns="0" tIns="0" bIns="0" anchor="t">
            <a:spAutoFit/>
          </a:bodyPr>
          <a:lstStyle/>
          <a:p>
            <a:pPr algn="l"/>
            <a:r>
              <a:rPr sz="1000" b="1">
                <a:solidFill>
                  <a:srgbClr val="B45309"/>
                </a:solidFill>
                <a:latin typeface="Times New Roman"/>
              </a:rPr>
              <a:t>03</a:t>
            </a:r>
          </a:p>
        </p:txBody>
      </p:sp>
      <p:sp>
        <p:nvSpPr>
          <p:cNvPr id="236" name="TextBox 235"/>
          <p:cNvSpPr txBox="1"/>
          <p:nvPr/>
        </p:nvSpPr>
        <p:spPr>
          <a:xfrm>
            <a:off x="1353312" y="3922776"/>
            <a:ext cx="4370832" cy="256032"/>
          </a:xfrm>
          <a:prstGeom prst="rect">
            <a:avLst/>
          </a:prstGeom>
          <a:noFill/>
        </p:spPr>
        <p:txBody>
          <a:bodyPr wrap="square" lIns="0" rIns="0" tIns="0" bIns="0" anchor="t">
            <a:spAutoFit/>
          </a:bodyPr>
          <a:lstStyle/>
          <a:p>
            <a:pPr algn="l"/>
            <a:r>
              <a:rPr sz="1150" b="1">
                <a:solidFill>
                  <a:srgbClr val="1E2761"/>
                </a:solidFill>
                <a:latin typeface="Times New Roman"/>
              </a:rPr>
              <a:t>PENTAKOTA LALITH LAKSHYA</a:t>
            </a:r>
          </a:p>
        </p:txBody>
      </p:sp>
      <p:sp>
        <p:nvSpPr>
          <p:cNvPr id="237" name="TextBox 236"/>
          <p:cNvSpPr txBox="1"/>
          <p:nvPr/>
        </p:nvSpPr>
        <p:spPr>
          <a:xfrm>
            <a:off x="1353312" y="4206240"/>
            <a:ext cx="4370832" cy="201168"/>
          </a:xfrm>
          <a:prstGeom prst="rect">
            <a:avLst/>
          </a:prstGeom>
          <a:noFill/>
        </p:spPr>
        <p:txBody>
          <a:bodyPr wrap="square" lIns="0" rIns="0" tIns="0" bIns="0" anchor="t">
            <a:spAutoFit/>
          </a:bodyPr>
          <a:lstStyle/>
          <a:p>
            <a:pPr algn="l"/>
            <a:r>
              <a:rPr sz="950" b="0">
                <a:solidFill>
                  <a:srgbClr val="6E7F9A"/>
                </a:solidFill>
                <a:latin typeface="Times New Roman"/>
              </a:rPr>
              <a:t>24331A05M8</a:t>
            </a:r>
          </a:p>
        </p:txBody>
      </p:sp>
      <p:sp>
        <p:nvSpPr>
          <p:cNvPr id="238" name="TextBox 237"/>
          <p:cNvSpPr txBox="1"/>
          <p:nvPr/>
        </p:nvSpPr>
        <p:spPr>
          <a:xfrm>
            <a:off x="950976" y="4526280"/>
            <a:ext cx="4663440" cy="256032"/>
          </a:xfrm>
          <a:prstGeom prst="rect">
            <a:avLst/>
          </a:prstGeom>
          <a:noFill/>
        </p:spPr>
        <p:txBody>
          <a:bodyPr wrap="square" lIns="0" rIns="0" tIns="0" bIns="0" anchor="t">
            <a:spAutoFit/>
          </a:bodyPr>
          <a:lstStyle/>
          <a:p>
            <a:pPr algn="l"/>
            <a:r>
              <a:rPr sz="1050" b="1">
                <a:solidFill>
                  <a:srgbClr val="B45309"/>
                </a:solidFill>
                <a:latin typeface="Times New Roman"/>
              </a:rPr>
              <a:t>Community Engagement · Module 3</a:t>
            </a:r>
          </a:p>
        </p:txBody>
      </p:sp>
      <p:sp>
        <p:nvSpPr>
          <p:cNvPr id="239" name="TextBox 238"/>
          <p:cNvSpPr txBox="1"/>
          <p:nvPr/>
        </p:nvSpPr>
        <p:spPr>
          <a:xfrm>
            <a:off x="950976" y="4818888"/>
            <a:ext cx="4663440" cy="576072"/>
          </a:xfrm>
          <a:prstGeom prst="rect">
            <a:avLst/>
          </a:prstGeom>
          <a:noFill/>
        </p:spPr>
        <p:txBody>
          <a:bodyPr wrap="square" lIns="0" rIns="0" tIns="0" bIns="0" anchor="t">
            <a:spAutoFit/>
          </a:bodyPr>
          <a:lstStyle/>
          <a:p>
            <a:pPr algn="l"/>
            <a:r>
              <a:rPr sz="950" b="0">
                <a:solidFill>
                  <a:srgbClr val="1A1A2E"/>
                </a:solidFill>
                <a:latin typeface="Times New Roman"/>
              </a:rPr>
              <a:t>Delivers Insurance &amp; Govt. Schemes; coordinates student participation and feedback</a:t>
            </a:r>
          </a:p>
        </p:txBody>
      </p:sp>
      <p:sp>
        <p:nvSpPr>
          <p:cNvPr id="240" name="Rounded Rectangle 239"/>
          <p:cNvSpPr/>
          <p:nvPr/>
        </p:nvSpPr>
        <p:spPr>
          <a:xfrm>
            <a:off x="6144768" y="3813048"/>
            <a:ext cx="5138928" cy="1719072"/>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6291072" y="3931920"/>
            <a:ext cx="347472" cy="228600"/>
          </a:xfrm>
          <a:prstGeom prst="rect">
            <a:avLst/>
          </a:prstGeom>
          <a:noFill/>
        </p:spPr>
        <p:txBody>
          <a:bodyPr wrap="square" lIns="0" rIns="0" tIns="0" bIns="0" anchor="t">
            <a:spAutoFit/>
          </a:bodyPr>
          <a:lstStyle/>
          <a:p>
            <a:pPr algn="l"/>
            <a:r>
              <a:rPr sz="1000" b="1">
                <a:solidFill>
                  <a:srgbClr val="B45309"/>
                </a:solidFill>
                <a:latin typeface="Times New Roman"/>
              </a:rPr>
              <a:t>04</a:t>
            </a:r>
          </a:p>
        </p:txBody>
      </p:sp>
      <p:sp>
        <p:nvSpPr>
          <p:cNvPr id="242" name="TextBox 241"/>
          <p:cNvSpPr txBox="1"/>
          <p:nvPr/>
        </p:nvSpPr>
        <p:spPr>
          <a:xfrm>
            <a:off x="6711696" y="3922776"/>
            <a:ext cx="4370832" cy="256032"/>
          </a:xfrm>
          <a:prstGeom prst="rect">
            <a:avLst/>
          </a:prstGeom>
          <a:noFill/>
        </p:spPr>
        <p:txBody>
          <a:bodyPr wrap="square" lIns="0" rIns="0" tIns="0" bIns="0" anchor="t">
            <a:spAutoFit/>
          </a:bodyPr>
          <a:lstStyle/>
          <a:p>
            <a:pPr algn="l"/>
            <a:r>
              <a:rPr sz="1150" b="1">
                <a:solidFill>
                  <a:srgbClr val="1E2761"/>
                </a:solidFill>
                <a:latin typeface="Times New Roman"/>
              </a:rPr>
              <a:t>POLAKI LIKITHA</a:t>
            </a:r>
          </a:p>
        </p:txBody>
      </p:sp>
      <p:sp>
        <p:nvSpPr>
          <p:cNvPr id="243" name="TextBox 242"/>
          <p:cNvSpPr txBox="1"/>
          <p:nvPr/>
        </p:nvSpPr>
        <p:spPr>
          <a:xfrm>
            <a:off x="6711696" y="4206240"/>
            <a:ext cx="4370832" cy="201168"/>
          </a:xfrm>
          <a:prstGeom prst="rect">
            <a:avLst/>
          </a:prstGeom>
          <a:noFill/>
        </p:spPr>
        <p:txBody>
          <a:bodyPr wrap="square" lIns="0" rIns="0" tIns="0" bIns="0" anchor="t">
            <a:spAutoFit/>
          </a:bodyPr>
          <a:lstStyle/>
          <a:p>
            <a:pPr algn="l"/>
            <a:r>
              <a:rPr sz="950" b="0">
                <a:solidFill>
                  <a:srgbClr val="6E7F9A"/>
                </a:solidFill>
                <a:latin typeface="Times New Roman"/>
              </a:rPr>
              <a:t>25335A0520</a:t>
            </a:r>
          </a:p>
        </p:txBody>
      </p:sp>
      <p:sp>
        <p:nvSpPr>
          <p:cNvPr id="244" name="TextBox 243"/>
          <p:cNvSpPr txBox="1"/>
          <p:nvPr/>
        </p:nvSpPr>
        <p:spPr>
          <a:xfrm>
            <a:off x="6309359" y="4526280"/>
            <a:ext cx="4663440" cy="256032"/>
          </a:xfrm>
          <a:prstGeom prst="rect">
            <a:avLst/>
          </a:prstGeom>
          <a:noFill/>
        </p:spPr>
        <p:txBody>
          <a:bodyPr wrap="square" lIns="0" rIns="0" tIns="0" bIns="0" anchor="t">
            <a:spAutoFit/>
          </a:bodyPr>
          <a:lstStyle/>
          <a:p>
            <a:pPr algn="l"/>
            <a:r>
              <a:rPr sz="1050" b="1">
                <a:solidFill>
                  <a:srgbClr val="B45309"/>
                </a:solidFill>
                <a:latin typeface="Times New Roman"/>
              </a:rPr>
              <a:t>Data Analysis Lead · Module 4</a:t>
            </a:r>
          </a:p>
        </p:txBody>
      </p:sp>
      <p:sp>
        <p:nvSpPr>
          <p:cNvPr id="245" name="TextBox 244"/>
          <p:cNvSpPr txBox="1"/>
          <p:nvPr/>
        </p:nvSpPr>
        <p:spPr>
          <a:xfrm>
            <a:off x="6309359" y="4818888"/>
            <a:ext cx="4663440" cy="576072"/>
          </a:xfrm>
          <a:prstGeom prst="rect">
            <a:avLst/>
          </a:prstGeom>
          <a:noFill/>
        </p:spPr>
        <p:txBody>
          <a:bodyPr wrap="square" lIns="0" rIns="0" tIns="0" bIns="0" anchor="t">
            <a:spAutoFit/>
          </a:bodyPr>
          <a:lstStyle/>
          <a:p>
            <a:pPr algn="l"/>
            <a:r>
              <a:rPr sz="950" b="0">
                <a:solidFill>
                  <a:srgbClr val="1A1A2E"/>
                </a:solidFill>
                <a:latin typeface="Times New Roman"/>
              </a:rPr>
              <a:t>Delivers Financial Planning &amp; Budgeting; administers pre/post-test and analyses scores</a:t>
            </a:r>
          </a:p>
        </p:txBody>
      </p:sp>
      <p:sp>
        <p:nvSpPr>
          <p:cNvPr id="246" name="TextBox 245"/>
          <p:cNvSpPr txBox="1"/>
          <p:nvPr/>
        </p:nvSpPr>
        <p:spPr>
          <a:xfrm>
            <a:off x="786384" y="5760720"/>
            <a:ext cx="10424160" cy="274320"/>
          </a:xfrm>
          <a:prstGeom prst="rect">
            <a:avLst/>
          </a:prstGeom>
          <a:noFill/>
        </p:spPr>
        <p:txBody>
          <a:bodyPr wrap="square" lIns="0" rIns="0" tIns="0" bIns="0" anchor="t">
            <a:spAutoFit/>
          </a:bodyPr>
          <a:lstStyle/>
          <a:p>
            <a:pPr algn="ctr"/>
            <a:r>
              <a:rPr sz="1000" b="0">
                <a:solidFill>
                  <a:srgbClr val="6E7F9A"/>
                </a:solidFill>
                <a:latin typeface="Times New Roman"/>
              </a:rPr>
              <a:t>All four members contributed to field delivery, documentation, and final project completion.</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3"/>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01</a:t>
            </a:r>
            <a:endParaRPr i="0" sz="1500" u="none" cap="none" strike="noStrike">
              <a:solidFill>
                <a:schemeClr val="dk1"/>
              </a:solidFill>
              <a:latin typeface="Times New Roman"/>
              <a:ea typeface="Times New Roman"/>
              <a:cs typeface="Times New Roman"/>
              <a:sym typeface="Times New Roman"/>
            </a:endParaRPr>
          </a:p>
        </p:txBody>
      </p:sp>
      <p:sp>
        <p:nvSpPr>
          <p:cNvPr id="227" name="Google Shape;227;p13"/>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Review 1 Feedback Actioned</a:t>
            </a:r>
            <a:endParaRPr i="0" sz="2200" u="none" cap="none" strike="noStrike">
              <a:solidFill>
                <a:schemeClr val="dk1"/>
              </a:solidFill>
              <a:latin typeface="Times New Roman"/>
              <a:ea typeface="Times New Roman"/>
              <a:cs typeface="Times New Roman"/>
              <a:sym typeface="Times New Roman"/>
            </a:endParaRPr>
          </a:p>
        </p:txBody>
      </p:sp>
      <p:sp>
        <p:nvSpPr>
          <p:cNvPr id="228" name="Google Shape;228;p13"/>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1 OF 9 · DECK SLIDE 13 OF 21</a:t>
            </a:r>
            <a:endParaRPr i="0" sz="1000" u="none" cap="none" strike="noStrike">
              <a:solidFill>
                <a:schemeClr val="dk1"/>
              </a:solidFill>
              <a:latin typeface="Times New Roman"/>
              <a:ea typeface="Times New Roman"/>
              <a:cs typeface="Times New Roman"/>
              <a:sym typeface="Times New Roman"/>
            </a:endParaRPr>
          </a:p>
        </p:txBody>
      </p:sp>
      <p:sp>
        <p:nvSpPr>
          <p:cNvPr id="229" name="Google Shape;229;p13"/>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31" name="Google Shape;231;p13"/>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PROGRESS SINCE REVIEW 1</a:t>
            </a:r>
            <a:endParaRPr i="0" u="none" cap="none" strike="noStrike">
              <a:solidFill>
                <a:schemeClr val="dk1"/>
              </a:solidFill>
              <a:latin typeface="Times New Roman"/>
              <a:ea typeface="Times New Roman"/>
              <a:cs typeface="Times New Roman"/>
              <a:sym typeface="Times New Roman"/>
            </a:endParaRPr>
          </a:p>
        </p:txBody>
      </p:sp>
      <p:sp>
        <p:nvSpPr>
          <p:cNvPr id="233" name="Google Shape;233;p13"/>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Progress since Review 1: 100% complete. All 4 modules delivered, pre- and post-tests administered, all 37 student scores recorded and analysed.</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Feedback from Review 1: finalise community partner, confirm student count, and design a measurable pre/post assessment.</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Action taken: confirmed Govt. Junior College, Vizianagaram Town as partner; enrolled 37 Class XII students; designed 15-mark MCQ pre-test and identical post-test to measure knowledge gain.</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Outcome: Pre-test avg 5.1/15 (34%) → Post-test avg 12.9/15 (86%). Every student improved. +7.8 marks, +152% knowledge gain — a clear, measurable impact.</a:t>
            </a:r>
            <a:endParaRPr i="0" u="none" cap="none" strike="noStrike">
              <a:solidFill>
                <a:schemeClr val="dk1"/>
              </a:solidFill>
              <a:latin typeface="Times New Roman"/>
              <a:ea typeface="Times New Roman"/>
              <a:cs typeface="Times New Roman"/>
              <a:sym typeface="Times New Roman"/>
            </a:endParaRPr>
          </a:p>
        </p:txBody>
      </p:sp>
      <p:sp>
        <p:nvSpPr>
          <p:cNvPr id="235" name="Google Shape;235;p13"/>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36" name="Google Shape;236;p13"/>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13 of 21</a:t>
            </a:r>
            <a:endParaRPr b="0" i="0" sz="900" u="none" cap="none" strike="noStrike">
              <a:solidFill>
                <a:schemeClr val="dk1"/>
              </a:solidFill>
              <a:latin typeface="Calibri"/>
              <a:ea typeface="Calibri"/>
              <a:cs typeface="Calibri"/>
              <a:sym typeface="Calibri"/>
            </a:endParaRPr>
          </a:p>
        </p:txBody>
      </p:sp>
      <p:graphicFrame>
        <p:nvGraphicFramePr>
          <p:cNvPr id="237" name="Table 236"/>
          <p:cNvGraphicFramePr>
            <a:graphicFrameLocks noGrp="1"/>
          </p:cNvGraphicFramePr>
          <p:nvPr/>
        </p:nvGraphicFramePr>
        <p:xfrm>
          <a:off x="6583680" y="1188720"/>
          <a:ext cx="4114800" cy="4572000"/>
        </p:xfrm>
        <a:graphic>
          <a:graphicData uri="http://schemas.openxmlformats.org/drawingml/2006/table">
            <a:tbl>
              <a:tblPr firstRow="1" bandRow="1">
                <a:tableStyleId>{5C22544A-7EE6-4342-B048-85BDC9FD1C3A}</a:tableStyleId>
              </a:tblPr>
              <a:tblGrid>
                <a:gridCol w="1828800"/>
                <a:gridCol w="2286000"/>
              </a:tblGrid>
              <a:tr h="914400">
                <a:tc>
                  <a:txBody>
                    <a:bodyPr/>
                    <a:lstStyle/>
                    <a:p>
                      <a:pPr algn="ctr"/>
                      <a:r>
                        <a:rPr sz="1100" b="1">
                          <a:solidFill>
                            <a:srgbClr val="FFFFFF"/>
                          </a:solidFill>
                        </a:rPr>
                        <a:t>Review 1 Feedback Query</a:t>
                      </a:r>
                    </a:p>
                  </a:txBody>
                  <a:tcPr>
                    <a:solidFill>
                      <a:srgbClr val="0F2043"/>
                    </a:solidFill>
                  </a:tcPr>
                </a:tc>
                <a:tc>
                  <a:txBody>
                    <a:bodyPr/>
                    <a:lstStyle/>
                    <a:p>
                      <a:pPr algn="ctr"/>
                      <a:r>
                        <a:rPr sz="1100" b="1">
                          <a:solidFill>
                            <a:srgbClr val="FFFFFF"/>
                          </a:solidFill>
                        </a:rPr>
                        <a:t>Action Taken &amp; Outcome</a:t>
                      </a:r>
                    </a:p>
                  </a:txBody>
                  <a:tcPr>
                    <a:solidFill>
                      <a:srgbClr val="0F2043"/>
                    </a:solidFill>
                  </a:tcPr>
                </a:tc>
              </a:tr>
              <a:tr h="914400">
                <a:tc>
                  <a:txBody>
                    <a:bodyPr/>
                    <a:lstStyle/>
                    <a:p>
                      <a:r>
                        <a:rPr sz="950" b="1">
                          <a:solidFill>
                            <a:srgbClr val="0F2043"/>
                          </a:solidFill>
                        </a:rPr>
                        <a:t>1. Finalize Community Partner &amp; Cohort</a:t>
                      </a:r>
                    </a:p>
                  </a:txBody>
                  <a:tcPr>
                    <a:solidFill>
                      <a:srgbClr val="F5F7FA"/>
                    </a:solidFill>
                  </a:tcPr>
                </a:tc>
                <a:tc>
                  <a:txBody>
                    <a:bodyPr/>
                    <a:lstStyle/>
                    <a:p>
                      <a:r>
                        <a:rPr sz="900">
                          <a:solidFill>
                            <a:srgbClr val="2F3E46"/>
                          </a:solidFill>
                        </a:rPr>
                        <a:t>Partnered with Govt. Jr. College VZM; enrolled 37 Class XII students (100% participation).</a:t>
                      </a:r>
                    </a:p>
                  </a:txBody>
                  <a:tcPr>
                    <a:solidFill>
                      <a:srgbClr val="FFFFFF"/>
                    </a:solidFill>
                  </a:tcPr>
                </a:tc>
              </a:tr>
              <a:tr h="914400">
                <a:tc>
                  <a:txBody>
                    <a:bodyPr/>
                    <a:lstStyle/>
                    <a:p>
                      <a:r>
                        <a:rPr sz="950" b="1">
                          <a:solidFill>
                            <a:srgbClr val="0F2043"/>
                          </a:solidFill>
                        </a:rPr>
                        <a:t>2. Measurable Assessment Plan</a:t>
                      </a:r>
                    </a:p>
                  </a:txBody>
                  <a:tcPr>
                    <a:solidFill>
                      <a:srgbClr val="F5F7FA"/>
                    </a:solidFill>
                  </a:tcPr>
                </a:tc>
                <a:tc>
                  <a:txBody>
                    <a:bodyPr/>
                    <a:lstStyle/>
                    <a:p>
                      <a:r>
                        <a:rPr sz="900">
                          <a:solidFill>
                            <a:srgbClr val="2F3E46"/>
                          </a:solidFill>
                        </a:rPr>
                        <a:t>Used 15-mark pre/post test. Avg score improved from 34% (5.1) to 86% (12.9) (+152% gain).</a:t>
                      </a:r>
                    </a:p>
                  </a:txBody>
                  <a:tcPr>
                    <a:solidFill>
                      <a:srgbClr val="FFFFFF"/>
                    </a:solidFill>
                  </a:tcPr>
                </a:tc>
              </a:tr>
              <a:tr h="914400">
                <a:tc>
                  <a:txBody>
                    <a:bodyPr/>
                    <a:lstStyle/>
                    <a:p>
                      <a:r>
                        <a:rPr sz="950" b="1">
                          <a:solidFill>
                            <a:srgbClr val="0F2043"/>
                          </a:solidFill>
                        </a:rPr>
                        <a:t>3. Field Evidence &amp; Documentation</a:t>
                      </a:r>
                    </a:p>
                  </a:txBody>
                  <a:tcPr>
                    <a:solidFill>
                      <a:srgbClr val="F5F7FA"/>
                    </a:solidFill>
                  </a:tcPr>
                </a:tc>
                <a:tc>
                  <a:txBody>
                    <a:bodyPr/>
                    <a:lstStyle/>
                    <a:p>
                      <a:r>
                        <a:rPr sz="900">
                          <a:solidFill>
                            <a:srgbClr val="2F3E46"/>
                          </a:solidFill>
                        </a:rPr>
                        <a:t>Completed visit on 26-09-2026. Documented with geotagged photos &amp; partner certificate.</a:t>
                      </a:r>
                    </a:p>
                  </a:txBody>
                  <a:tcPr>
                    <a:solidFill>
                      <a:srgbClr val="FFFFFF"/>
                    </a:solidFill>
                  </a:tcPr>
                </a:tc>
              </a:tr>
              <a:tr h="914400">
                <a:tc>
                  <a:txBody>
                    <a:bodyPr/>
                    <a:lstStyle/>
                    <a:p>
                      <a:r>
                        <a:rPr sz="950" b="1">
                          <a:solidFill>
                            <a:srgbClr val="0F2043"/>
                          </a:solidFill>
                        </a:rPr>
                        <a:t>4. Community Deliverable</a:t>
                      </a:r>
                    </a:p>
                  </a:txBody>
                  <a:tcPr>
                    <a:solidFill>
                      <a:srgbClr val="F5F7FA"/>
                    </a:solidFill>
                  </a:tcPr>
                </a:tc>
                <a:tc>
                  <a:txBody>
                    <a:bodyPr/>
                    <a:lstStyle/>
                    <a:p>
                      <a:r>
                        <a:rPr sz="900">
                          <a:solidFill>
                            <a:srgbClr val="2F3E46"/>
                          </a:solidFill>
                        </a:rPr>
                        <a:t>Designed &amp; distributed personal finance summary handouts to all 37 students.</a:t>
                      </a:r>
                    </a:p>
                  </a:txBody>
                  <a:tcPr>
                    <a:solidFill>
                      <a:srgbClr val="FFFFFF"/>
                    </a:solidFill>
                  </a:tcPr>
                </a:tc>
              </a:tr>
            </a:tbl>
          </a:graphicData>
        </a:graphic>
      </p:graphicFrame>
      <p:graphicFrame>
        <p:nvGraphicFramePr>
          <p:cNvPr id="238" name="Table 237"/>
          <p:cNvGraphicFramePr>
            <a:graphicFrameLocks noGrp="1"/>
          </p:cNvGraphicFramePr>
          <p:nvPr/>
        </p:nvGraphicFramePr>
        <p:xfrm>
          <a:off x="6492240" y="1188720"/>
          <a:ext cx="4297680" cy="4572000"/>
        </p:xfrm>
        <a:graphic>
          <a:graphicData uri="http://schemas.openxmlformats.org/drawingml/2006/table">
            <a:tbl>
              <a:tblPr firstRow="1" bandRow="1">
                <a:tableStyleId>{5C22544A-7EE6-4342-B048-85BDC9FD1C3A}</a:tableStyleId>
              </a:tblPr>
              <a:tblGrid>
                <a:gridCol w="1920240"/>
                <a:gridCol w="2377440"/>
              </a:tblGrid>
              <a:tr h="914400">
                <a:tc>
                  <a:txBody>
                    <a:bodyPr/>
                    <a:lstStyle/>
                    <a:p>
                      <a:pPr algn="ctr"/>
                      <a:r>
                        <a:rPr sz="1100" b="1">
                          <a:solidFill>
                            <a:srgbClr val="FFFFFF"/>
                          </a:solidFill>
                        </a:rPr>
                        <a:t>Review 1 Feedback Query</a:t>
                      </a:r>
                    </a:p>
                  </a:txBody>
                  <a:tcPr>
                    <a:solidFill>
                      <a:srgbClr val="0F2043"/>
                    </a:solidFill>
                  </a:tcPr>
                </a:tc>
                <a:tc>
                  <a:txBody>
                    <a:bodyPr/>
                    <a:lstStyle/>
                    <a:p>
                      <a:pPr algn="ctr"/>
                      <a:r>
                        <a:rPr sz="1100" b="1">
                          <a:solidFill>
                            <a:srgbClr val="FFFFFF"/>
                          </a:solidFill>
                        </a:rPr>
                        <a:t>Action Taken &amp; Outcome</a:t>
                      </a:r>
                    </a:p>
                  </a:txBody>
                  <a:tcPr>
                    <a:solidFill>
                      <a:srgbClr val="0F2043"/>
                    </a:solidFill>
                  </a:tcPr>
                </a:tc>
              </a:tr>
              <a:tr h="914400">
                <a:tc>
                  <a:txBody>
                    <a:bodyPr/>
                    <a:lstStyle/>
                    <a:p>
                      <a:r>
                        <a:rPr sz="950" b="1">
                          <a:solidFill>
                            <a:srgbClr val="0F2043"/>
                          </a:solidFill>
                        </a:rPr>
                        <a:t>1. Finalize Community Partner &amp; Cohort</a:t>
                      </a:r>
                    </a:p>
                  </a:txBody>
                  <a:tcPr>
                    <a:solidFill>
                      <a:srgbClr val="F5F7FA"/>
                    </a:solidFill>
                  </a:tcPr>
                </a:tc>
                <a:tc>
                  <a:txBody>
                    <a:bodyPr/>
                    <a:lstStyle/>
                    <a:p>
                      <a:r>
                        <a:rPr sz="900">
                          <a:solidFill>
                            <a:srgbClr val="2F3E46"/>
                          </a:solidFill>
                        </a:rPr>
                        <a:t>Partnered with Govt. Jr. College VZM; enrolled 37 Class XII students (100% participation).</a:t>
                      </a:r>
                    </a:p>
                  </a:txBody>
                  <a:tcPr>
                    <a:solidFill>
                      <a:srgbClr val="FFFFFF"/>
                    </a:solidFill>
                  </a:tcPr>
                </a:tc>
              </a:tr>
              <a:tr h="914400">
                <a:tc>
                  <a:txBody>
                    <a:bodyPr/>
                    <a:lstStyle/>
                    <a:p>
                      <a:r>
                        <a:rPr sz="950" b="1">
                          <a:solidFill>
                            <a:srgbClr val="0F2043"/>
                          </a:solidFill>
                        </a:rPr>
                        <a:t>2. Measurable Assessment Plan</a:t>
                      </a:r>
                    </a:p>
                  </a:txBody>
                  <a:tcPr>
                    <a:solidFill>
                      <a:srgbClr val="F5F7FA"/>
                    </a:solidFill>
                  </a:tcPr>
                </a:tc>
                <a:tc>
                  <a:txBody>
                    <a:bodyPr/>
                    <a:lstStyle/>
                    <a:p>
                      <a:r>
                        <a:rPr sz="900">
                          <a:solidFill>
                            <a:srgbClr val="2F3E46"/>
                          </a:solidFill>
                        </a:rPr>
                        <a:t>Used 15-mark pre/post test. Avg score improved from 34% (5.1) to 86% (12.9) (+152% gain).</a:t>
                      </a:r>
                    </a:p>
                  </a:txBody>
                  <a:tcPr>
                    <a:solidFill>
                      <a:srgbClr val="FFFFFF"/>
                    </a:solidFill>
                  </a:tcPr>
                </a:tc>
              </a:tr>
              <a:tr h="914400">
                <a:tc>
                  <a:txBody>
                    <a:bodyPr/>
                    <a:lstStyle/>
                    <a:p>
                      <a:r>
                        <a:rPr sz="950" b="1">
                          <a:solidFill>
                            <a:srgbClr val="0F2043"/>
                          </a:solidFill>
                        </a:rPr>
                        <a:t>3. Field Evidence &amp; Documentation</a:t>
                      </a:r>
                    </a:p>
                  </a:txBody>
                  <a:tcPr>
                    <a:solidFill>
                      <a:srgbClr val="F5F7FA"/>
                    </a:solidFill>
                  </a:tcPr>
                </a:tc>
                <a:tc>
                  <a:txBody>
                    <a:bodyPr/>
                    <a:lstStyle/>
                    <a:p>
                      <a:r>
                        <a:rPr sz="900">
                          <a:solidFill>
                            <a:srgbClr val="2F3E46"/>
                          </a:solidFill>
                        </a:rPr>
                        <a:t>Completed visit on 26-09-2026. Documented with geotagged photos &amp; partner certificate.</a:t>
                      </a:r>
                    </a:p>
                  </a:txBody>
                  <a:tcPr>
                    <a:solidFill>
                      <a:srgbClr val="FFFFFF"/>
                    </a:solidFill>
                  </a:tcPr>
                </a:tc>
              </a:tr>
              <a:tr h="914400">
                <a:tc>
                  <a:txBody>
                    <a:bodyPr/>
                    <a:lstStyle/>
                    <a:p>
                      <a:r>
                        <a:rPr sz="950" b="1">
                          <a:solidFill>
                            <a:srgbClr val="0F2043"/>
                          </a:solidFill>
                        </a:rPr>
                        <a:t>4. Community Deliverable</a:t>
                      </a:r>
                    </a:p>
                  </a:txBody>
                  <a:tcPr>
                    <a:solidFill>
                      <a:srgbClr val="F5F7FA"/>
                    </a:solidFill>
                  </a:tcPr>
                </a:tc>
                <a:tc>
                  <a:txBody>
                    <a:bodyPr/>
                    <a:lstStyle/>
                    <a:p>
                      <a:r>
                        <a:rPr sz="900">
                          <a:solidFill>
                            <a:srgbClr val="2F3E46"/>
                          </a:solidFill>
                        </a:rPr>
                        <a:t>Designed &amp; distributed personal finance summary handouts to all 37 students.</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02</a:t>
            </a:r>
            <a:endParaRPr i="0" sz="1500" u="none" cap="none" strike="noStrike">
              <a:solidFill>
                <a:schemeClr val="dk1"/>
              </a:solidFill>
              <a:latin typeface="Times New Roman"/>
              <a:ea typeface="Times New Roman"/>
              <a:cs typeface="Times New Roman"/>
              <a:sym typeface="Times New Roman"/>
            </a:endParaRPr>
          </a:p>
        </p:txBody>
      </p:sp>
      <p:sp>
        <p:nvSpPr>
          <p:cNvPr id="244" name="Google Shape;244;p14"/>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Complete Methodology (Online + Offline) — As Executed</a:t>
            </a:r>
            <a:endParaRPr i="0" sz="2200" u="none" cap="none" strike="noStrike">
              <a:solidFill>
                <a:schemeClr val="dk1"/>
              </a:solidFill>
              <a:latin typeface="Times New Roman"/>
              <a:ea typeface="Times New Roman"/>
              <a:cs typeface="Times New Roman"/>
              <a:sym typeface="Times New Roman"/>
            </a:endParaRPr>
          </a:p>
        </p:txBody>
      </p:sp>
      <p:sp>
        <p:nvSpPr>
          <p:cNvPr id="245" name="Google Shape;245;p14"/>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2 OF 9 · DECK SLIDE 14 OF 21</a:t>
            </a:r>
            <a:endParaRPr i="0" sz="1000" u="none" cap="none" strike="noStrike">
              <a:solidFill>
                <a:schemeClr val="dk1"/>
              </a:solidFill>
              <a:latin typeface="Times New Roman"/>
              <a:ea typeface="Times New Roman"/>
              <a:cs typeface="Times New Roman"/>
              <a:sym typeface="Times New Roman"/>
            </a:endParaRPr>
          </a:p>
        </p:txBody>
      </p:sp>
      <p:sp>
        <p:nvSpPr>
          <p:cNvPr id="246" name="Google Shape;246;p14"/>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48" name="Google Shape;248;p14"/>
          <p:cNvSpPr/>
          <p:nvPr/>
        </p:nvSpPr>
        <p:spPr>
          <a:xfrm>
            <a:off x="548640" y="1280160"/>
            <a:ext cx="1106424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777240" y="1417320"/>
            <a:ext cx="10607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METHODOLOGY — AS EXECUTED</a:t>
            </a:r>
            <a:endParaRPr i="0" u="none" cap="none" strike="noStrike">
              <a:solidFill>
                <a:schemeClr val="dk1"/>
              </a:solidFill>
              <a:latin typeface="Times New Roman"/>
              <a:ea typeface="Times New Roman"/>
              <a:cs typeface="Times New Roman"/>
              <a:sym typeface="Times New Roman"/>
            </a:endParaRPr>
          </a:p>
        </p:txBody>
      </p:sp>
      <p:sp>
        <p:nvSpPr>
          <p:cNvPr id="250" name="Google Shape;250;p14"/>
          <p:cNvSpPr/>
          <p:nvPr/>
        </p:nvSpPr>
        <p:spPr>
          <a:xfrm>
            <a:off x="777240" y="1755648"/>
            <a:ext cx="1060704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Online / secondary data: RBI Financial Literacy Guidelines, SEBI Investor Education, NPCI/UPI Safety Advisories, CERT-In Cyber Safety Resources.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Offline field work: 15-mark printed MCQ pre-test administered; 4 structured financial literacy modules delivered interactively; post-test conducted; student Q&amp;A facilitated; financial literacy handout distributed to all students.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Final field-visit log: 26-09-2026 · Govt. Junior College, Vizianagaram Town · 37 participants · full-day awareness session &amp; assessment · approved non-working day.</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Final sample &amp; response: 37 students, 100% response rate (37/37). Pre-test avg: 5.1/15 (34%). Post-test avg: 12.9/15 (86%). All 37 students improved.</a:t>
            </a:r>
            <a:endParaRPr i="0" u="none" cap="none" strike="noStrike">
              <a:solidFill>
                <a:schemeClr val="dk1"/>
              </a:solidFill>
              <a:latin typeface="Times New Roman"/>
              <a:ea typeface="Times New Roman"/>
              <a:cs typeface="Times New Roman"/>
              <a:sym typeface="Times New Roman"/>
            </a:endParaRPr>
          </a:p>
        </p:txBody>
      </p:sp>
      <p:sp>
        <p:nvSpPr>
          <p:cNvPr id="251" name="Google Shape;251;p14"/>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52" name="Google Shape;252;p14"/>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14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5"/>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03</a:t>
            </a:r>
            <a:endParaRPr i="0" sz="1500" u="none" cap="none" strike="noStrike">
              <a:solidFill>
                <a:schemeClr val="dk1"/>
              </a:solidFill>
              <a:latin typeface="Times New Roman"/>
              <a:ea typeface="Times New Roman"/>
              <a:cs typeface="Times New Roman"/>
              <a:sym typeface="Times New Roman"/>
            </a:endParaRPr>
          </a:p>
        </p:txBody>
      </p:sp>
      <p:sp>
        <p:nvSpPr>
          <p:cNvPr id="260" name="Google Shape;260;p15"/>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Field Work &amp; Community Engagement — Full Summary</a:t>
            </a:r>
            <a:endParaRPr b="0" i="0" sz="2200" u="none" cap="none" strike="noStrike">
              <a:solidFill>
                <a:schemeClr val="dk1"/>
              </a:solidFill>
              <a:latin typeface="Calibri"/>
              <a:ea typeface="Calibri"/>
              <a:cs typeface="Calibri"/>
              <a:sym typeface="Calibri"/>
            </a:endParaRPr>
          </a:p>
        </p:txBody>
      </p:sp>
      <p:sp>
        <p:nvSpPr>
          <p:cNvPr id="261" name="Google Shape;261;p15"/>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3 OF 9 · DECK SLIDE 15 OF 21</a:t>
            </a:r>
            <a:endParaRPr i="0" sz="1000" u="none" cap="none" strike="noStrike">
              <a:solidFill>
                <a:schemeClr val="dk1"/>
              </a:solidFill>
              <a:latin typeface="Times New Roman"/>
              <a:ea typeface="Times New Roman"/>
              <a:cs typeface="Times New Roman"/>
              <a:sym typeface="Times New Roman"/>
            </a:endParaRPr>
          </a:p>
        </p:txBody>
      </p:sp>
      <p:sp>
        <p:nvSpPr>
          <p:cNvPr id="262" name="Google Shape;262;p15"/>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64" name="Google Shape;264;p15"/>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FIELD SUMMARY</a:t>
            </a:r>
            <a:endParaRPr i="0" u="none" cap="none" strike="noStrike">
              <a:solidFill>
                <a:schemeClr val="dk1"/>
              </a:solidFill>
              <a:latin typeface="Times New Roman"/>
              <a:ea typeface="Times New Roman"/>
              <a:cs typeface="Times New Roman"/>
              <a:sym typeface="Times New Roman"/>
            </a:endParaRPr>
          </a:p>
        </p:txBody>
      </p:sp>
      <p:sp>
        <p:nvSpPr>
          <p:cNvPr id="266" name="Google Shape;266;p15"/>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512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activity: full-day financial literacy awareness session at Govt. Junior College, Vizianagaram Town — 37 Class XII students — 26-09-2026, approved non-working day. Team delivered all 4 modules using interactive teaching with real-case fraud examples.</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participation: 37 students actively participated, engaged with module content, asked questions on UPI safety and savings accounts, and completed both pre-test and post-test with 100% response rate.</a:t>
            </a:r>
            <a:endParaRPr i="0" u="none" cap="none" strike="noStrike">
              <a:solidFill>
                <a:schemeClr val="dk1"/>
              </a:solidFill>
              <a:latin typeface="Times New Roman"/>
              <a:ea typeface="Times New Roman"/>
              <a:cs typeface="Times New Roman"/>
              <a:sym typeface="Times New Roman"/>
            </a:endParaRPr>
          </a:p>
          <a:p>
            <a:pPr indent="-36512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Community feedback: students found UPI fraud prevention and govt. schemes modules most impactful. Several were unaware of PM Scholarship before the session. The session-end photograph reflects strong student engagement.</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3.jpg" id="267" name="Google Shape;267;p15"/>
          <p:cNvPicPr preferRelativeResize="0"/>
          <p:nvPr/>
        </p:nvPicPr>
        <p:blipFill rotWithShape="1">
          <a:blip r:embed="rId3">
            <a:alphaModFix/>
          </a:blip>
          <a:srcRect b="0" l="0" r="0" t="0"/>
          <a:stretch/>
        </p:blipFill>
        <p:spPr>
          <a:xfrm>
            <a:off x="7315200" y="1417325"/>
            <a:ext cx="4343400" cy="4637700"/>
          </a:xfrm>
          <a:prstGeom prst="rect">
            <a:avLst/>
          </a:prstGeom>
          <a:noFill/>
          <a:ln>
            <a:noFill/>
          </a:ln>
        </p:spPr>
      </p:pic>
      <p:sp>
        <p:nvSpPr>
          <p:cNvPr id="268" name="Google Shape;268;p15"/>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69" name="Google Shape;269;p15"/>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15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6"/>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04</a:t>
            </a:r>
            <a:endParaRPr i="0" sz="1500" u="none" cap="none" strike="noStrike">
              <a:solidFill>
                <a:schemeClr val="dk1"/>
              </a:solidFill>
              <a:latin typeface="Times New Roman"/>
              <a:ea typeface="Times New Roman"/>
              <a:cs typeface="Times New Roman"/>
              <a:sym typeface="Times New Roman"/>
            </a:endParaRPr>
          </a:p>
        </p:txBody>
      </p:sp>
      <p:sp>
        <p:nvSpPr>
          <p:cNvPr id="277" name="Google Shape;277;p16"/>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Field Evidence — Photos &amp; Documentation</a:t>
            </a:r>
            <a:endParaRPr i="0" sz="2200" u="none" cap="none" strike="noStrike">
              <a:solidFill>
                <a:schemeClr val="dk1"/>
              </a:solidFill>
              <a:latin typeface="Times New Roman"/>
              <a:ea typeface="Times New Roman"/>
              <a:cs typeface="Times New Roman"/>
              <a:sym typeface="Times New Roman"/>
            </a:endParaRPr>
          </a:p>
        </p:txBody>
      </p:sp>
      <p:sp>
        <p:nvSpPr>
          <p:cNvPr id="278" name="Google Shape;278;p16"/>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280" name="Google Shape;280;p16"/>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FIELD EVIDENCE</a:t>
            </a:r>
            <a:endParaRPr i="0" u="none" cap="none" strike="noStrike">
              <a:solidFill>
                <a:schemeClr val="dk1"/>
              </a:solidFill>
              <a:latin typeface="Times New Roman"/>
              <a:ea typeface="Times New Roman"/>
              <a:cs typeface="Times New Roman"/>
              <a:sym typeface="Times New Roman"/>
            </a:endParaRPr>
          </a:p>
        </p:txBody>
      </p:sp>
      <p:sp>
        <p:nvSpPr>
          <p:cNvPr id="282" name="Google Shape;282;p16"/>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Field photographs from the Financial Literacy Programme conducted at Govt. Junior College, Vizianagaram Town on 26-09-2026, documenting session delivery and student engagement.</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The session covered 37 Class XII students — photographs document module delivery, student participation in pre/post assessments, and team presentation in progress on the smart board.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Participation record: 37 students completed both pre-test and post-test and received the financial literacy handout.</a:t>
            </a:r>
            <a:endParaRPr i="0" u="none" cap="none" strike="noStrike">
              <a:solidFill>
                <a:schemeClr val="dk1"/>
              </a:solidFill>
              <a:latin typeface="Times New Roman"/>
              <a:ea typeface="Times New Roman"/>
              <a:cs typeface="Times New Roman"/>
              <a:sym typeface="Times New Roman"/>
            </a:endParaRPr>
          </a:p>
        </p:txBody>
      </p:sp>
      <p:sp>
        <p:nvSpPr>
          <p:cNvPr id="283" name="Google Shape;283;p16"/>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284" name="Google Shape;284;p16"/>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16 of 21</a:t>
            </a:r>
            <a:endParaRPr b="0" i="0" sz="9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17"/>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05</a:t>
            </a:r>
            <a:endParaRPr i="0" sz="1500" u="none" cap="none" strike="noStrike">
              <a:solidFill>
                <a:schemeClr val="dk1"/>
              </a:solidFill>
              <a:latin typeface="Times New Roman"/>
              <a:ea typeface="Times New Roman"/>
              <a:cs typeface="Times New Roman"/>
              <a:sym typeface="Times New Roman"/>
            </a:endParaRPr>
          </a:p>
        </p:txBody>
      </p:sp>
      <p:sp>
        <p:nvSpPr>
          <p:cNvPr id="293" name="Google Shape;293;p17"/>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Data Analysis &amp; Findings</a:t>
            </a:r>
            <a:endParaRPr i="0" sz="2200" u="none" cap="none" strike="noStrike">
              <a:solidFill>
                <a:schemeClr val="dk1"/>
              </a:solidFill>
              <a:latin typeface="Times New Roman"/>
              <a:ea typeface="Times New Roman"/>
              <a:cs typeface="Times New Roman"/>
              <a:sym typeface="Times New Roman"/>
            </a:endParaRPr>
          </a:p>
        </p:txBody>
      </p:sp>
      <p:sp>
        <p:nvSpPr>
          <p:cNvPr id="294" name="Google Shape;294;p17"/>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5 OF 9 · DECK SLIDE 17 OF 21</a:t>
            </a:r>
            <a:endParaRPr i="0" sz="1000" u="none" cap="none" strike="noStrike">
              <a:solidFill>
                <a:schemeClr val="dk1"/>
              </a:solidFill>
              <a:latin typeface="Times New Roman"/>
              <a:ea typeface="Times New Roman"/>
              <a:cs typeface="Times New Roman"/>
              <a:sym typeface="Times New Roman"/>
            </a:endParaRPr>
          </a:p>
        </p:txBody>
      </p:sp>
      <p:sp>
        <p:nvSpPr>
          <p:cNvPr id="295" name="Google Shape;295;p17"/>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01" name="Google Shape;301;p17"/>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02" name="Google Shape;302;p17"/>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17 of 21</a:t>
            </a:r>
            <a:endParaRPr b="0" i="0" sz="900" u="none" cap="none" strike="noStrike">
              <a:solidFill>
                <a:schemeClr val="dk1"/>
              </a:solidFill>
              <a:latin typeface="Calibri"/>
              <a:ea typeface="Calibri"/>
              <a:cs typeface="Calibri"/>
              <a:sym typeface="Calibri"/>
            </a:endParaRPr>
          </a:p>
        </p:txBody>
      </p:sp>
      <p:sp>
        <p:nvSpPr>
          <p:cNvPr id="303" name="Rectangle 302"/>
          <p:cNvSpPr/>
          <p:nvPr/>
        </p:nvSpPr>
        <p:spPr>
          <a:xfrm>
            <a:off x="548640" y="1280160"/>
            <a:ext cx="10972800" cy="4983480"/>
          </a:xfrm>
          <a:prstGeom prst="rect">
            <a:avLst/>
          </a:prstGeom>
          <a:solidFill>
            <a:srgbClr val="F6F8FC"/>
          </a:solidFill>
          <a:ln>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786384" y="1417320"/>
            <a:ext cx="6080760" cy="274320"/>
          </a:xfrm>
          <a:prstGeom prst="rect">
            <a:avLst/>
          </a:prstGeom>
          <a:noFill/>
        </p:spPr>
        <p:txBody>
          <a:bodyPr wrap="square" lIns="0" rIns="0" tIns="0" bIns="0" anchor="t">
            <a:spAutoFit/>
          </a:bodyPr>
          <a:lstStyle/>
          <a:p>
            <a:pPr algn="l"/>
            <a:r>
              <a:rPr sz="1400" b="1">
                <a:solidFill>
                  <a:srgbClr val="B45309"/>
                </a:solidFill>
                <a:latin typeface="Times New Roman"/>
              </a:rPr>
              <a:t>PRE / POST TEST FINDINGS</a:t>
            </a:r>
          </a:p>
        </p:txBody>
      </p:sp>
      <p:sp>
        <p:nvSpPr>
          <p:cNvPr id="305" name="Rounded Rectangle 304"/>
          <p:cNvSpPr/>
          <p:nvPr/>
        </p:nvSpPr>
        <p:spPr>
          <a:xfrm>
            <a:off x="786384" y="1810512"/>
            <a:ext cx="3246120" cy="1060704"/>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914400" y="1920240"/>
            <a:ext cx="2971800" cy="182880"/>
          </a:xfrm>
          <a:prstGeom prst="rect">
            <a:avLst/>
          </a:prstGeom>
          <a:noFill/>
        </p:spPr>
        <p:txBody>
          <a:bodyPr wrap="square" lIns="0" rIns="0" tIns="0" bIns="0" anchor="t">
            <a:spAutoFit/>
          </a:bodyPr>
          <a:lstStyle/>
          <a:p>
            <a:pPr algn="l"/>
            <a:r>
              <a:rPr sz="900" b="1">
                <a:solidFill>
                  <a:srgbClr val="6E7F9A"/>
                </a:solidFill>
                <a:latin typeface="Times New Roman"/>
              </a:rPr>
              <a:t>AVERAGE SCORE</a:t>
            </a:r>
          </a:p>
        </p:txBody>
      </p:sp>
      <p:sp>
        <p:nvSpPr>
          <p:cNvPr id="307" name="TextBox 306"/>
          <p:cNvSpPr txBox="1"/>
          <p:nvPr/>
        </p:nvSpPr>
        <p:spPr>
          <a:xfrm>
            <a:off x="914400" y="2221992"/>
            <a:ext cx="1234440" cy="310896"/>
          </a:xfrm>
          <a:prstGeom prst="rect">
            <a:avLst/>
          </a:prstGeom>
          <a:noFill/>
        </p:spPr>
        <p:txBody>
          <a:bodyPr wrap="square" lIns="0" rIns="0" tIns="0" bIns="0" anchor="t">
            <a:spAutoFit/>
          </a:bodyPr>
          <a:lstStyle/>
          <a:p>
            <a:pPr algn="l"/>
            <a:r>
              <a:rPr sz="1800" b="1">
                <a:solidFill>
                  <a:srgbClr val="1E2761"/>
                </a:solidFill>
                <a:latin typeface="Times New Roman"/>
              </a:rPr>
              <a:t>5.1 / 15</a:t>
            </a:r>
          </a:p>
        </p:txBody>
      </p:sp>
      <p:sp>
        <p:nvSpPr>
          <p:cNvPr id="308" name="TextBox 307"/>
          <p:cNvSpPr txBox="1"/>
          <p:nvPr/>
        </p:nvSpPr>
        <p:spPr>
          <a:xfrm>
            <a:off x="2221992" y="2240280"/>
            <a:ext cx="320040" cy="274320"/>
          </a:xfrm>
          <a:prstGeom prst="rect">
            <a:avLst/>
          </a:prstGeom>
          <a:noFill/>
        </p:spPr>
        <p:txBody>
          <a:bodyPr wrap="square" lIns="0" rIns="0" tIns="0" bIns="0" anchor="t">
            <a:spAutoFit/>
          </a:bodyPr>
          <a:lstStyle/>
          <a:p>
            <a:pPr algn="ctr"/>
            <a:r>
              <a:rPr sz="1500" b="1">
                <a:solidFill>
                  <a:srgbClr val="B45309"/>
                </a:solidFill>
                <a:latin typeface="Times New Roman"/>
              </a:rPr>
              <a:t>→</a:t>
            </a:r>
          </a:p>
        </p:txBody>
      </p:sp>
      <p:sp>
        <p:nvSpPr>
          <p:cNvPr id="309" name="TextBox 308"/>
          <p:cNvSpPr txBox="1"/>
          <p:nvPr/>
        </p:nvSpPr>
        <p:spPr>
          <a:xfrm>
            <a:off x="2596896" y="2221992"/>
            <a:ext cx="1234440" cy="310896"/>
          </a:xfrm>
          <a:prstGeom prst="rect">
            <a:avLst/>
          </a:prstGeom>
          <a:noFill/>
        </p:spPr>
        <p:txBody>
          <a:bodyPr wrap="square" lIns="0" rIns="0" tIns="0" bIns="0" anchor="t">
            <a:spAutoFit/>
          </a:bodyPr>
          <a:lstStyle/>
          <a:p>
            <a:pPr algn="l"/>
            <a:r>
              <a:rPr sz="1800" b="1">
                <a:solidFill>
                  <a:srgbClr val="B45309"/>
                </a:solidFill>
                <a:latin typeface="Times New Roman"/>
              </a:rPr>
              <a:t>12.9 / 15</a:t>
            </a:r>
          </a:p>
        </p:txBody>
      </p:sp>
      <p:sp>
        <p:nvSpPr>
          <p:cNvPr id="310" name="TextBox 309"/>
          <p:cNvSpPr txBox="1"/>
          <p:nvPr/>
        </p:nvSpPr>
        <p:spPr>
          <a:xfrm>
            <a:off x="914400" y="2578608"/>
            <a:ext cx="2834640" cy="164592"/>
          </a:xfrm>
          <a:prstGeom prst="rect">
            <a:avLst/>
          </a:prstGeom>
          <a:noFill/>
        </p:spPr>
        <p:txBody>
          <a:bodyPr wrap="square" lIns="0" rIns="0" tIns="0" bIns="0" anchor="t">
            <a:spAutoFit/>
          </a:bodyPr>
          <a:lstStyle/>
          <a:p>
            <a:pPr algn="l"/>
            <a:r>
              <a:rPr sz="900" b="1">
                <a:solidFill>
                  <a:srgbClr val="B45309"/>
                </a:solidFill>
                <a:latin typeface="Times New Roman"/>
              </a:rPr>
              <a:t>+7.8 marks</a:t>
            </a:r>
          </a:p>
        </p:txBody>
      </p:sp>
      <p:sp>
        <p:nvSpPr>
          <p:cNvPr id="311" name="Rounded Rectangle 310"/>
          <p:cNvSpPr/>
          <p:nvPr/>
        </p:nvSpPr>
        <p:spPr>
          <a:xfrm>
            <a:off x="4288536" y="1810512"/>
            <a:ext cx="3246120" cy="1060704"/>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4416552" y="1920240"/>
            <a:ext cx="2971800" cy="182880"/>
          </a:xfrm>
          <a:prstGeom prst="rect">
            <a:avLst/>
          </a:prstGeom>
          <a:noFill/>
        </p:spPr>
        <p:txBody>
          <a:bodyPr wrap="square" lIns="0" rIns="0" tIns="0" bIns="0" anchor="t">
            <a:spAutoFit/>
          </a:bodyPr>
          <a:lstStyle/>
          <a:p>
            <a:pPr algn="l"/>
            <a:r>
              <a:rPr sz="900" b="1">
                <a:solidFill>
                  <a:srgbClr val="6E7F9A"/>
                </a:solidFill>
                <a:latin typeface="Times New Roman"/>
              </a:rPr>
              <a:t>AVERAGE PERCENT</a:t>
            </a:r>
          </a:p>
        </p:txBody>
      </p:sp>
      <p:sp>
        <p:nvSpPr>
          <p:cNvPr id="313" name="TextBox 312"/>
          <p:cNvSpPr txBox="1"/>
          <p:nvPr/>
        </p:nvSpPr>
        <p:spPr>
          <a:xfrm>
            <a:off x="4416552" y="2221992"/>
            <a:ext cx="1234440" cy="310896"/>
          </a:xfrm>
          <a:prstGeom prst="rect">
            <a:avLst/>
          </a:prstGeom>
          <a:noFill/>
        </p:spPr>
        <p:txBody>
          <a:bodyPr wrap="square" lIns="0" rIns="0" tIns="0" bIns="0" anchor="t">
            <a:spAutoFit/>
          </a:bodyPr>
          <a:lstStyle/>
          <a:p>
            <a:pPr algn="l"/>
            <a:r>
              <a:rPr sz="1800" b="1">
                <a:solidFill>
                  <a:srgbClr val="1E2761"/>
                </a:solidFill>
                <a:latin typeface="Times New Roman"/>
              </a:rPr>
              <a:t>34%</a:t>
            </a:r>
          </a:p>
        </p:txBody>
      </p:sp>
      <p:sp>
        <p:nvSpPr>
          <p:cNvPr id="314" name="TextBox 313"/>
          <p:cNvSpPr txBox="1"/>
          <p:nvPr/>
        </p:nvSpPr>
        <p:spPr>
          <a:xfrm>
            <a:off x="5724144" y="2240280"/>
            <a:ext cx="320040" cy="274320"/>
          </a:xfrm>
          <a:prstGeom prst="rect">
            <a:avLst/>
          </a:prstGeom>
          <a:noFill/>
        </p:spPr>
        <p:txBody>
          <a:bodyPr wrap="square" lIns="0" rIns="0" tIns="0" bIns="0" anchor="t">
            <a:spAutoFit/>
          </a:bodyPr>
          <a:lstStyle/>
          <a:p>
            <a:pPr algn="ctr"/>
            <a:r>
              <a:rPr sz="1500" b="1">
                <a:solidFill>
                  <a:srgbClr val="B45309"/>
                </a:solidFill>
                <a:latin typeface="Times New Roman"/>
              </a:rPr>
              <a:t>→</a:t>
            </a:r>
          </a:p>
        </p:txBody>
      </p:sp>
      <p:sp>
        <p:nvSpPr>
          <p:cNvPr id="315" name="TextBox 314"/>
          <p:cNvSpPr txBox="1"/>
          <p:nvPr/>
        </p:nvSpPr>
        <p:spPr>
          <a:xfrm>
            <a:off x="6099048" y="2221992"/>
            <a:ext cx="1234440" cy="310896"/>
          </a:xfrm>
          <a:prstGeom prst="rect">
            <a:avLst/>
          </a:prstGeom>
          <a:noFill/>
        </p:spPr>
        <p:txBody>
          <a:bodyPr wrap="square" lIns="0" rIns="0" tIns="0" bIns="0" anchor="t">
            <a:spAutoFit/>
          </a:bodyPr>
          <a:lstStyle/>
          <a:p>
            <a:pPr algn="l"/>
            <a:r>
              <a:rPr sz="1800" b="1">
                <a:solidFill>
                  <a:srgbClr val="B45309"/>
                </a:solidFill>
                <a:latin typeface="Times New Roman"/>
              </a:rPr>
              <a:t>86%</a:t>
            </a:r>
          </a:p>
        </p:txBody>
      </p:sp>
      <p:sp>
        <p:nvSpPr>
          <p:cNvPr id="316" name="TextBox 315"/>
          <p:cNvSpPr txBox="1"/>
          <p:nvPr/>
        </p:nvSpPr>
        <p:spPr>
          <a:xfrm>
            <a:off x="4416552" y="2578608"/>
            <a:ext cx="2834640" cy="164592"/>
          </a:xfrm>
          <a:prstGeom prst="rect">
            <a:avLst/>
          </a:prstGeom>
          <a:noFill/>
        </p:spPr>
        <p:txBody>
          <a:bodyPr wrap="square" lIns="0" rIns="0" tIns="0" bIns="0" anchor="t">
            <a:spAutoFit/>
          </a:bodyPr>
          <a:lstStyle/>
          <a:p>
            <a:pPr algn="l"/>
            <a:r>
              <a:rPr sz="900" b="1">
                <a:solidFill>
                  <a:srgbClr val="B45309"/>
                </a:solidFill>
                <a:latin typeface="Times New Roman"/>
              </a:rPr>
              <a:t>+52 points</a:t>
            </a:r>
          </a:p>
        </p:txBody>
      </p:sp>
      <p:sp>
        <p:nvSpPr>
          <p:cNvPr id="317" name="Rounded Rectangle 316"/>
          <p:cNvSpPr/>
          <p:nvPr/>
        </p:nvSpPr>
        <p:spPr>
          <a:xfrm>
            <a:off x="7790688" y="1810512"/>
            <a:ext cx="3246120" cy="1060704"/>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7918704" y="1920240"/>
            <a:ext cx="2971800" cy="182880"/>
          </a:xfrm>
          <a:prstGeom prst="rect">
            <a:avLst/>
          </a:prstGeom>
          <a:noFill/>
        </p:spPr>
        <p:txBody>
          <a:bodyPr wrap="square" lIns="0" rIns="0" tIns="0" bIns="0" anchor="t">
            <a:spAutoFit/>
          </a:bodyPr>
          <a:lstStyle/>
          <a:p>
            <a:pPr algn="l"/>
            <a:r>
              <a:rPr sz="900" b="1">
                <a:solidFill>
                  <a:srgbClr val="6E7F9A"/>
                </a:solidFill>
                <a:latin typeface="Times New Roman"/>
              </a:rPr>
              <a:t>STUDENTS &gt; 80%</a:t>
            </a:r>
          </a:p>
        </p:txBody>
      </p:sp>
      <p:sp>
        <p:nvSpPr>
          <p:cNvPr id="319" name="TextBox 318"/>
          <p:cNvSpPr txBox="1"/>
          <p:nvPr/>
        </p:nvSpPr>
        <p:spPr>
          <a:xfrm>
            <a:off x="7918704" y="2221992"/>
            <a:ext cx="1234440" cy="310896"/>
          </a:xfrm>
          <a:prstGeom prst="rect">
            <a:avLst/>
          </a:prstGeom>
          <a:noFill/>
        </p:spPr>
        <p:txBody>
          <a:bodyPr wrap="square" lIns="0" rIns="0" tIns="0" bIns="0" anchor="t">
            <a:spAutoFit/>
          </a:bodyPr>
          <a:lstStyle/>
          <a:p>
            <a:pPr algn="l"/>
            <a:r>
              <a:rPr sz="1800" b="1">
                <a:solidFill>
                  <a:srgbClr val="1E2761"/>
                </a:solidFill>
                <a:latin typeface="Times New Roman"/>
              </a:rPr>
              <a:t>0 / 37</a:t>
            </a:r>
          </a:p>
        </p:txBody>
      </p:sp>
      <p:sp>
        <p:nvSpPr>
          <p:cNvPr id="320" name="TextBox 319"/>
          <p:cNvSpPr txBox="1"/>
          <p:nvPr/>
        </p:nvSpPr>
        <p:spPr>
          <a:xfrm>
            <a:off x="9226296" y="2240280"/>
            <a:ext cx="320040" cy="274320"/>
          </a:xfrm>
          <a:prstGeom prst="rect">
            <a:avLst/>
          </a:prstGeom>
          <a:noFill/>
        </p:spPr>
        <p:txBody>
          <a:bodyPr wrap="square" lIns="0" rIns="0" tIns="0" bIns="0" anchor="t">
            <a:spAutoFit/>
          </a:bodyPr>
          <a:lstStyle/>
          <a:p>
            <a:pPr algn="ctr"/>
            <a:r>
              <a:rPr sz="1500" b="1">
                <a:solidFill>
                  <a:srgbClr val="B45309"/>
                </a:solidFill>
                <a:latin typeface="Times New Roman"/>
              </a:rPr>
              <a:t>→</a:t>
            </a:r>
          </a:p>
        </p:txBody>
      </p:sp>
      <p:sp>
        <p:nvSpPr>
          <p:cNvPr id="321" name="TextBox 320"/>
          <p:cNvSpPr txBox="1"/>
          <p:nvPr/>
        </p:nvSpPr>
        <p:spPr>
          <a:xfrm>
            <a:off x="9601200" y="2221992"/>
            <a:ext cx="1234440" cy="310896"/>
          </a:xfrm>
          <a:prstGeom prst="rect">
            <a:avLst/>
          </a:prstGeom>
          <a:noFill/>
        </p:spPr>
        <p:txBody>
          <a:bodyPr wrap="square" lIns="0" rIns="0" tIns="0" bIns="0" anchor="t">
            <a:spAutoFit/>
          </a:bodyPr>
          <a:lstStyle/>
          <a:p>
            <a:pPr algn="l"/>
            <a:r>
              <a:rPr sz="1800" b="1">
                <a:solidFill>
                  <a:srgbClr val="B45309"/>
                </a:solidFill>
                <a:latin typeface="Times New Roman"/>
              </a:rPr>
              <a:t>29 / 37</a:t>
            </a:r>
          </a:p>
        </p:txBody>
      </p:sp>
      <p:sp>
        <p:nvSpPr>
          <p:cNvPr id="322" name="TextBox 321"/>
          <p:cNvSpPr txBox="1"/>
          <p:nvPr/>
        </p:nvSpPr>
        <p:spPr>
          <a:xfrm>
            <a:off x="7918704" y="2578608"/>
            <a:ext cx="2834640" cy="164592"/>
          </a:xfrm>
          <a:prstGeom prst="rect">
            <a:avLst/>
          </a:prstGeom>
          <a:noFill/>
        </p:spPr>
        <p:txBody>
          <a:bodyPr wrap="square" lIns="0" rIns="0" tIns="0" bIns="0" anchor="t">
            <a:spAutoFit/>
          </a:bodyPr>
          <a:lstStyle/>
          <a:p>
            <a:pPr algn="l"/>
            <a:r>
              <a:rPr sz="900" b="1">
                <a:solidFill>
                  <a:srgbClr val="B45309"/>
                </a:solidFill>
                <a:latin typeface="Times New Roman"/>
              </a:rPr>
              <a:t>78% after</a:t>
            </a:r>
          </a:p>
        </p:txBody>
      </p:sp>
      <p:sp>
        <p:nvSpPr>
          <p:cNvPr id="323" name="TextBox 322"/>
          <p:cNvSpPr txBox="1"/>
          <p:nvPr/>
        </p:nvSpPr>
        <p:spPr>
          <a:xfrm>
            <a:off x="786384" y="3090672"/>
            <a:ext cx="4572000" cy="256032"/>
          </a:xfrm>
          <a:prstGeom prst="rect">
            <a:avLst/>
          </a:prstGeom>
          <a:noFill/>
        </p:spPr>
        <p:txBody>
          <a:bodyPr wrap="square" lIns="0" rIns="0" tIns="0" bIns="0" anchor="t">
            <a:spAutoFit/>
          </a:bodyPr>
          <a:lstStyle/>
          <a:p>
            <a:pPr algn="l"/>
            <a:r>
              <a:rPr sz="1000" b="1">
                <a:solidFill>
                  <a:srgbClr val="B45309"/>
                </a:solidFill>
                <a:latin typeface="Times New Roman"/>
              </a:rPr>
              <a:t>SCORE DISTRIBUTION  ·  37 STUDENTS</a:t>
            </a:r>
          </a:p>
        </p:txBody>
      </p:sp>
      <p:sp>
        <p:nvSpPr>
          <p:cNvPr id="324" name="TextBox 323"/>
          <p:cNvSpPr txBox="1"/>
          <p:nvPr/>
        </p:nvSpPr>
        <p:spPr>
          <a:xfrm>
            <a:off x="786384" y="3310128"/>
            <a:ext cx="5047488" cy="201168"/>
          </a:xfrm>
          <a:prstGeom prst="rect">
            <a:avLst/>
          </a:prstGeom>
          <a:noFill/>
        </p:spPr>
        <p:txBody>
          <a:bodyPr wrap="square" lIns="0" rIns="0" tIns="0" bIns="0" anchor="t">
            <a:spAutoFit/>
          </a:bodyPr>
          <a:lstStyle/>
          <a:p>
            <a:pPr algn="l"/>
            <a:r>
              <a:rPr sz="1050" b="1">
                <a:solidFill>
                  <a:srgbClr val="1A1A2E"/>
                </a:solidFill>
                <a:latin typeface="Times New Roman"/>
              </a:rPr>
              <a:t>BEFORE  ·  PRE-TEST</a:t>
            </a:r>
          </a:p>
        </p:txBody>
      </p:sp>
      <p:sp>
        <p:nvSpPr>
          <p:cNvPr id="325" name="Rectangle 324"/>
          <p:cNvSpPr/>
          <p:nvPr/>
        </p:nvSpPr>
        <p:spPr>
          <a:xfrm>
            <a:off x="786384" y="3584448"/>
            <a:ext cx="2978017" cy="502920"/>
          </a:xfrm>
          <a:prstGeom prst="rect">
            <a:avLst/>
          </a:prstGeom>
          <a:solidFill>
            <a:srgbClr val="E24D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786384" y="3685032"/>
            <a:ext cx="2978017" cy="201168"/>
          </a:xfrm>
          <a:prstGeom prst="rect">
            <a:avLst/>
          </a:prstGeom>
          <a:noFill/>
        </p:spPr>
        <p:txBody>
          <a:bodyPr wrap="square" lIns="0" rIns="0" tIns="0" bIns="0" anchor="t">
            <a:spAutoFit/>
          </a:bodyPr>
          <a:lstStyle/>
          <a:p>
            <a:pPr algn="ctr"/>
            <a:r>
              <a:rPr sz="1000" b="1">
                <a:solidFill>
                  <a:srgbClr val="FFFFFF"/>
                </a:solidFill>
                <a:latin typeface="Times New Roman"/>
              </a:rPr>
              <a:t>59%</a:t>
            </a:r>
          </a:p>
        </p:txBody>
      </p:sp>
      <p:sp>
        <p:nvSpPr>
          <p:cNvPr id="327" name="Rectangle 326"/>
          <p:cNvSpPr/>
          <p:nvPr/>
        </p:nvSpPr>
        <p:spPr>
          <a:xfrm>
            <a:off x="3764401" y="3584448"/>
            <a:ext cx="2069470" cy="502920"/>
          </a:xfrm>
          <a:prstGeom prst="rect">
            <a:avLst/>
          </a:prstGeom>
          <a:solidFill>
            <a:srgbClr val="F5A62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3764401" y="3685032"/>
            <a:ext cx="2069470" cy="201168"/>
          </a:xfrm>
          <a:prstGeom prst="rect">
            <a:avLst/>
          </a:prstGeom>
          <a:noFill/>
        </p:spPr>
        <p:txBody>
          <a:bodyPr wrap="square" lIns="0" rIns="0" tIns="0" bIns="0" anchor="t">
            <a:spAutoFit/>
          </a:bodyPr>
          <a:lstStyle/>
          <a:p>
            <a:pPr algn="ctr"/>
            <a:r>
              <a:rPr sz="1000" b="1">
                <a:solidFill>
                  <a:srgbClr val="FFFFFF"/>
                </a:solidFill>
                <a:latin typeface="Times New Roman"/>
              </a:rPr>
              <a:t>41%</a:t>
            </a:r>
          </a:p>
        </p:txBody>
      </p:sp>
      <p:sp>
        <p:nvSpPr>
          <p:cNvPr id="329" name="Rectangle 328"/>
          <p:cNvSpPr/>
          <p:nvPr/>
        </p:nvSpPr>
        <p:spPr>
          <a:xfrm>
            <a:off x="786384" y="3584448"/>
            <a:ext cx="5047488" cy="502920"/>
          </a:xfrm>
          <a:prstGeom prst="rect">
            <a:avLst/>
          </a:prstGeom>
          <a:no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786384" y="4251960"/>
            <a:ext cx="5047488" cy="201168"/>
          </a:xfrm>
          <a:prstGeom prst="rect">
            <a:avLst/>
          </a:prstGeom>
          <a:noFill/>
        </p:spPr>
        <p:txBody>
          <a:bodyPr wrap="square" lIns="0" rIns="0" tIns="0" bIns="0" anchor="t">
            <a:spAutoFit/>
          </a:bodyPr>
          <a:lstStyle/>
          <a:p>
            <a:pPr algn="l"/>
            <a:r>
              <a:rPr sz="1050" b="1">
                <a:solidFill>
                  <a:srgbClr val="1A1A2E"/>
                </a:solidFill>
                <a:latin typeface="Times New Roman"/>
              </a:rPr>
              <a:t>AFTER  ·  POST-TEST</a:t>
            </a:r>
          </a:p>
        </p:txBody>
      </p:sp>
      <p:sp>
        <p:nvSpPr>
          <p:cNvPr id="331" name="Rectangle 330"/>
          <p:cNvSpPr/>
          <p:nvPr/>
        </p:nvSpPr>
        <p:spPr>
          <a:xfrm>
            <a:off x="786384" y="4526280"/>
            <a:ext cx="1110447" cy="502920"/>
          </a:xfrm>
          <a:prstGeom prst="rect">
            <a:avLst/>
          </a:prstGeom>
          <a:solidFill>
            <a:srgbClr val="5696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Box 331"/>
          <p:cNvSpPr txBox="1"/>
          <p:nvPr/>
        </p:nvSpPr>
        <p:spPr>
          <a:xfrm>
            <a:off x="786384" y="4626864"/>
            <a:ext cx="1110447" cy="201168"/>
          </a:xfrm>
          <a:prstGeom prst="rect">
            <a:avLst/>
          </a:prstGeom>
          <a:noFill/>
        </p:spPr>
        <p:txBody>
          <a:bodyPr wrap="square" lIns="0" rIns="0" tIns="0" bIns="0" anchor="t">
            <a:spAutoFit/>
          </a:bodyPr>
          <a:lstStyle/>
          <a:p>
            <a:pPr algn="ctr"/>
            <a:r>
              <a:rPr sz="1000" b="1">
                <a:solidFill>
                  <a:srgbClr val="FFFFFF"/>
                </a:solidFill>
                <a:latin typeface="Times New Roman"/>
              </a:rPr>
              <a:t>22%</a:t>
            </a:r>
          </a:p>
        </p:txBody>
      </p:sp>
      <p:sp>
        <p:nvSpPr>
          <p:cNvPr id="333" name="Rectangle 332"/>
          <p:cNvSpPr/>
          <p:nvPr/>
        </p:nvSpPr>
        <p:spPr>
          <a:xfrm>
            <a:off x="1896831" y="4526280"/>
            <a:ext cx="3937040" cy="502920"/>
          </a:xfrm>
          <a:prstGeom prst="rect">
            <a:avLst/>
          </a:prstGeom>
          <a:solidFill>
            <a:srgbClr val="2E9A5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896831" y="4626864"/>
            <a:ext cx="3937040" cy="201168"/>
          </a:xfrm>
          <a:prstGeom prst="rect">
            <a:avLst/>
          </a:prstGeom>
          <a:noFill/>
        </p:spPr>
        <p:txBody>
          <a:bodyPr wrap="square" lIns="0" rIns="0" tIns="0" bIns="0" anchor="t">
            <a:spAutoFit/>
          </a:bodyPr>
          <a:lstStyle/>
          <a:p>
            <a:pPr algn="ctr"/>
            <a:r>
              <a:rPr sz="1000" b="1">
                <a:solidFill>
                  <a:srgbClr val="FFFFFF"/>
                </a:solidFill>
                <a:latin typeface="Times New Roman"/>
              </a:rPr>
              <a:t>78%</a:t>
            </a:r>
          </a:p>
        </p:txBody>
      </p:sp>
      <p:sp>
        <p:nvSpPr>
          <p:cNvPr id="335" name="Rectangle 334"/>
          <p:cNvSpPr/>
          <p:nvPr/>
        </p:nvSpPr>
        <p:spPr>
          <a:xfrm>
            <a:off x="786384" y="4526280"/>
            <a:ext cx="5047488" cy="502920"/>
          </a:xfrm>
          <a:prstGeom prst="rect">
            <a:avLst/>
          </a:prstGeom>
          <a:no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6236208" y="3438144"/>
            <a:ext cx="137160" cy="137160"/>
          </a:xfrm>
          <a:prstGeom prst="rect">
            <a:avLst/>
          </a:prstGeom>
          <a:solidFill>
            <a:srgbClr val="E24D50"/>
          </a:solidFill>
          <a:ln>
            <a:solidFill>
              <a:srgbClr val="E24D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6437376" y="3419856"/>
            <a:ext cx="1920240" cy="164592"/>
          </a:xfrm>
          <a:prstGeom prst="rect">
            <a:avLst/>
          </a:prstGeom>
          <a:noFill/>
        </p:spPr>
        <p:txBody>
          <a:bodyPr wrap="square" lIns="0" rIns="0" tIns="0" bIns="0" anchor="t">
            <a:spAutoFit/>
          </a:bodyPr>
          <a:lstStyle/>
          <a:p>
            <a:pPr algn="l"/>
            <a:r>
              <a:rPr sz="900" b="0">
                <a:solidFill>
                  <a:srgbClr val="1A1A2E"/>
                </a:solidFill>
                <a:latin typeface="Times New Roman"/>
              </a:rPr>
              <a:t>&lt;40%</a:t>
            </a:r>
          </a:p>
        </p:txBody>
      </p:sp>
      <p:sp>
        <p:nvSpPr>
          <p:cNvPr id="338" name="Rectangle 337"/>
          <p:cNvSpPr/>
          <p:nvPr/>
        </p:nvSpPr>
        <p:spPr>
          <a:xfrm>
            <a:off x="8522208" y="3438144"/>
            <a:ext cx="137160" cy="137160"/>
          </a:xfrm>
          <a:prstGeom prst="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8723376" y="3419856"/>
            <a:ext cx="1920240" cy="164592"/>
          </a:xfrm>
          <a:prstGeom prst="rect">
            <a:avLst/>
          </a:prstGeom>
          <a:noFill/>
        </p:spPr>
        <p:txBody>
          <a:bodyPr wrap="square" lIns="0" rIns="0" tIns="0" bIns="0" anchor="t">
            <a:spAutoFit/>
          </a:bodyPr>
          <a:lstStyle/>
          <a:p>
            <a:pPr algn="l"/>
            <a:r>
              <a:rPr sz="900" b="0">
                <a:solidFill>
                  <a:srgbClr val="1A1A2E"/>
                </a:solidFill>
                <a:latin typeface="Times New Roman"/>
              </a:rPr>
              <a:t>40–79%</a:t>
            </a:r>
          </a:p>
        </p:txBody>
      </p:sp>
      <p:sp>
        <p:nvSpPr>
          <p:cNvPr id="340" name="Rectangle 339"/>
          <p:cNvSpPr/>
          <p:nvPr/>
        </p:nvSpPr>
        <p:spPr>
          <a:xfrm>
            <a:off x="6236208" y="3767328"/>
            <a:ext cx="137160" cy="137160"/>
          </a:xfrm>
          <a:prstGeom prst="rect">
            <a:avLst/>
          </a:prstGeom>
          <a:solidFill>
            <a:srgbClr val="5696C8"/>
          </a:solidFill>
          <a:ln>
            <a:solidFill>
              <a:srgbClr val="5696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6437376" y="3749040"/>
            <a:ext cx="1920240" cy="164592"/>
          </a:xfrm>
          <a:prstGeom prst="rect">
            <a:avLst/>
          </a:prstGeom>
          <a:noFill/>
        </p:spPr>
        <p:txBody>
          <a:bodyPr wrap="square" lIns="0" rIns="0" tIns="0" bIns="0" anchor="t">
            <a:spAutoFit/>
          </a:bodyPr>
          <a:lstStyle/>
          <a:p>
            <a:pPr algn="l"/>
            <a:r>
              <a:rPr sz="900" b="0">
                <a:solidFill>
                  <a:srgbClr val="1A1A2E"/>
                </a:solidFill>
                <a:latin typeface="Times New Roman"/>
              </a:rPr>
              <a:t>60–79%</a:t>
            </a:r>
          </a:p>
        </p:txBody>
      </p:sp>
      <p:sp>
        <p:nvSpPr>
          <p:cNvPr id="342" name="Rectangle 341"/>
          <p:cNvSpPr/>
          <p:nvPr/>
        </p:nvSpPr>
        <p:spPr>
          <a:xfrm>
            <a:off x="8522208" y="3767328"/>
            <a:ext cx="137160" cy="137160"/>
          </a:xfrm>
          <a:prstGeom prst="rect">
            <a:avLst/>
          </a:prstGeom>
          <a:solidFill>
            <a:srgbClr val="2E9A58"/>
          </a:solidFill>
          <a:ln>
            <a:solidFill>
              <a:srgbClr val="2E9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TextBox 342"/>
          <p:cNvSpPr txBox="1"/>
          <p:nvPr/>
        </p:nvSpPr>
        <p:spPr>
          <a:xfrm>
            <a:off x="8723376" y="3749040"/>
            <a:ext cx="1920240" cy="164592"/>
          </a:xfrm>
          <a:prstGeom prst="rect">
            <a:avLst/>
          </a:prstGeom>
          <a:noFill/>
        </p:spPr>
        <p:txBody>
          <a:bodyPr wrap="square" lIns="0" rIns="0" tIns="0" bIns="0" anchor="t">
            <a:spAutoFit/>
          </a:bodyPr>
          <a:lstStyle/>
          <a:p>
            <a:pPr algn="l"/>
            <a:r>
              <a:rPr sz="900" b="0">
                <a:solidFill>
                  <a:srgbClr val="1A1A2E"/>
                </a:solidFill>
                <a:latin typeface="Times New Roman"/>
              </a:rPr>
              <a:t>80–100%</a:t>
            </a:r>
          </a:p>
        </p:txBody>
      </p:sp>
      <p:sp>
        <p:nvSpPr>
          <p:cNvPr id="344" name="Rounded Rectangle 343"/>
          <p:cNvSpPr/>
          <p:nvPr/>
        </p:nvSpPr>
        <p:spPr>
          <a:xfrm>
            <a:off x="6126480" y="4206240"/>
            <a:ext cx="5120640" cy="1353312"/>
          </a:xfrm>
          <a:prstGeom prst="roundRect">
            <a:avLst/>
          </a:prstGeom>
          <a:solidFill>
            <a:srgbClr val="FFFFFF"/>
          </a:solidFill>
          <a:ln>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TextBox 344"/>
          <p:cNvSpPr txBox="1"/>
          <p:nvPr/>
        </p:nvSpPr>
        <p:spPr>
          <a:xfrm>
            <a:off x="6364224" y="4407408"/>
            <a:ext cx="4572000" cy="292608"/>
          </a:xfrm>
          <a:prstGeom prst="rect">
            <a:avLst/>
          </a:prstGeom>
          <a:noFill/>
        </p:spPr>
        <p:txBody>
          <a:bodyPr wrap="square" lIns="0" rIns="0" tIns="0" bIns="0" anchor="t">
            <a:spAutoFit/>
          </a:bodyPr>
          <a:lstStyle/>
          <a:p>
            <a:pPr algn="l"/>
            <a:r>
              <a:rPr sz="2000" b="1">
                <a:solidFill>
                  <a:srgbClr val="2E9A58"/>
                </a:solidFill>
                <a:latin typeface="Times New Roman"/>
              </a:rPr>
              <a:t>37 / 37 IMPROVED</a:t>
            </a:r>
          </a:p>
        </p:txBody>
      </p:sp>
      <p:sp>
        <p:nvSpPr>
          <p:cNvPr id="346" name="TextBox 345"/>
          <p:cNvSpPr txBox="1"/>
          <p:nvPr/>
        </p:nvSpPr>
        <p:spPr>
          <a:xfrm>
            <a:off x="6364224" y="4782312"/>
            <a:ext cx="4498848" cy="384048"/>
          </a:xfrm>
          <a:prstGeom prst="rect">
            <a:avLst/>
          </a:prstGeom>
          <a:noFill/>
        </p:spPr>
        <p:txBody>
          <a:bodyPr wrap="square" lIns="0" rIns="0" tIns="0" bIns="0" anchor="t">
            <a:spAutoFit/>
          </a:bodyPr>
          <a:lstStyle/>
          <a:p>
            <a:pPr algn="l"/>
            <a:r>
              <a:rPr sz="1019" b="0">
                <a:solidFill>
                  <a:srgbClr val="1A1A2E"/>
                </a:solidFill>
                <a:latin typeface="Times New Roman"/>
              </a:rPr>
              <a:t>Every student improved. Lowest post-test score: 11/15 (73%).</a:t>
            </a:r>
          </a:p>
        </p:txBody>
      </p:sp>
      <p:sp>
        <p:nvSpPr>
          <p:cNvPr id="347" name="TextBox 346"/>
          <p:cNvSpPr txBox="1"/>
          <p:nvPr/>
        </p:nvSpPr>
        <p:spPr>
          <a:xfrm>
            <a:off x="6364224" y="5202936"/>
            <a:ext cx="4498848" cy="219456"/>
          </a:xfrm>
          <a:prstGeom prst="rect">
            <a:avLst/>
          </a:prstGeom>
          <a:noFill/>
        </p:spPr>
        <p:txBody>
          <a:bodyPr wrap="square" lIns="0" rIns="0" tIns="0" bIns="0" anchor="t">
            <a:spAutoFit/>
          </a:bodyPr>
          <a:lstStyle/>
          <a:p>
            <a:pPr algn="l"/>
            <a:r>
              <a:rPr sz="950" b="1">
                <a:solidFill>
                  <a:srgbClr val="B45309"/>
                </a:solidFill>
                <a:latin typeface="Times New Roman"/>
              </a:rPr>
              <a:t>Knowledge gain: +152% relative to pre-test average</a:t>
            </a:r>
          </a:p>
        </p:txBody>
      </p:sp>
      <p:sp>
        <p:nvSpPr>
          <p:cNvPr id="348" name="TextBox 347"/>
          <p:cNvSpPr txBox="1"/>
          <p:nvPr/>
        </p:nvSpPr>
        <p:spPr>
          <a:xfrm>
            <a:off x="786384" y="5468112"/>
            <a:ext cx="5138928" cy="256032"/>
          </a:xfrm>
          <a:prstGeom prst="rect">
            <a:avLst/>
          </a:prstGeom>
          <a:noFill/>
        </p:spPr>
        <p:txBody>
          <a:bodyPr wrap="square" lIns="0" rIns="0" tIns="0" bIns="0" anchor="t">
            <a:spAutoFit/>
          </a:bodyPr>
          <a:lstStyle/>
          <a:p>
            <a:pPr algn="l"/>
            <a:r>
              <a:rPr sz="950" b="0">
                <a:solidFill>
                  <a:srgbClr val="6E7F9A"/>
                </a:solidFill>
                <a:latin typeface="Times New Roman"/>
              </a:rPr>
              <a:t>Before: 59% below 40%; after: 78% reached the 80–100% band.</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8"/>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8"/>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06</a:t>
            </a:r>
            <a:endParaRPr i="0" sz="1500" u="none" cap="none" strike="noStrike">
              <a:solidFill>
                <a:schemeClr val="dk1"/>
              </a:solidFill>
              <a:latin typeface="Times New Roman"/>
              <a:ea typeface="Times New Roman"/>
              <a:cs typeface="Times New Roman"/>
              <a:sym typeface="Times New Roman"/>
            </a:endParaRPr>
          </a:p>
        </p:txBody>
      </p:sp>
      <p:sp>
        <p:nvSpPr>
          <p:cNvPr id="310" name="Google Shape;310;p18"/>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Outcomes &amp; Community Impact</a:t>
            </a:r>
            <a:endParaRPr i="0" sz="2200" u="none" cap="none" strike="noStrike">
              <a:solidFill>
                <a:schemeClr val="dk1"/>
              </a:solidFill>
              <a:latin typeface="Times New Roman"/>
              <a:ea typeface="Times New Roman"/>
              <a:cs typeface="Times New Roman"/>
              <a:sym typeface="Times New Roman"/>
            </a:endParaRPr>
          </a:p>
        </p:txBody>
      </p:sp>
      <p:sp>
        <p:nvSpPr>
          <p:cNvPr id="311" name="Google Shape;311;p18"/>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850" u="none" cap="none" strike="noStrike">
                <a:solidFill>
                  <a:srgbClr val="B45309"/>
                </a:solidFill>
                <a:latin typeface="Times New Roman"/>
                <a:ea typeface="Times New Roman"/>
                <a:cs typeface="Times New Roman"/>
                <a:sym typeface="Times New Roman"/>
              </a:rPr>
              <a:t>REVIEW 2 · SLIDE 6 OF 9 · DECK SLIDE 18 OF 21</a:t>
            </a:r>
            <a:endParaRPr i="0" sz="850" u="none" cap="none" strike="noStrike">
              <a:solidFill>
                <a:schemeClr val="dk1"/>
              </a:solidFill>
              <a:latin typeface="Times New Roman"/>
              <a:ea typeface="Times New Roman"/>
              <a:cs typeface="Times New Roman"/>
              <a:sym typeface="Times New Roman"/>
            </a:endParaRPr>
          </a:p>
        </p:txBody>
      </p:sp>
      <p:sp>
        <p:nvSpPr>
          <p:cNvPr id="312" name="Google Shape;312;p18"/>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14" name="Google Shape;314;p18"/>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IMPACT</a:t>
            </a:r>
            <a:endParaRPr i="0" u="none" cap="none" strike="noStrike">
              <a:solidFill>
                <a:schemeClr val="dk1"/>
              </a:solidFill>
              <a:latin typeface="Times New Roman"/>
              <a:ea typeface="Times New Roman"/>
              <a:cs typeface="Times New Roman"/>
              <a:sym typeface="Times New Roman"/>
            </a:endParaRPr>
          </a:p>
        </p:txBody>
      </p:sp>
      <p:sp>
        <p:nvSpPr>
          <p:cNvPr id="316" name="Google Shape;316;p18"/>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Equipped 37 rural Class XII students with foundational financial literacy — savings, banking, digital payments, insurance, and financial planning.</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Educated students on UPI safety, OTP scam prevention, fake link identification, and safe digital payment practices — directly protecting them from financial fraud.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Created awareness of government schemes for students: PM Scholarship, education loans, zero-balance Jan Dhan accounts, and PM Suraksha Bima Yojana.</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Measured knowledge improvement: class average went from 34% to 86% — a +152% increase — with all 37 students showing individual improvement.</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Distributed actionable financial literacy handout so students can apply learning immediately and share with families.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Overall financial knowledge improved from 34% pre-test to 86% post-test. 78% of students scored 80–100% after the session.</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6.jpg" id="317" name="Google Shape;317;p18"/>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18" name="Google Shape;318;p18"/>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19" name="Google Shape;319;p18"/>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18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19"/>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07</a:t>
            </a:r>
            <a:endParaRPr i="0" sz="1500" u="none" cap="none" strike="noStrike">
              <a:solidFill>
                <a:schemeClr val="dk1"/>
              </a:solidFill>
              <a:latin typeface="Times New Roman"/>
              <a:ea typeface="Times New Roman"/>
              <a:cs typeface="Times New Roman"/>
              <a:sym typeface="Times New Roman"/>
            </a:endParaRPr>
          </a:p>
        </p:txBody>
      </p:sp>
      <p:sp>
        <p:nvSpPr>
          <p:cNvPr id="327" name="Google Shape;327;p19"/>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Challenges Faced &amp; How They Were Resolved</a:t>
            </a:r>
            <a:endParaRPr i="0" sz="2200" u="none" cap="none" strike="noStrike">
              <a:solidFill>
                <a:schemeClr val="dk1"/>
              </a:solidFill>
              <a:latin typeface="Times New Roman"/>
              <a:ea typeface="Times New Roman"/>
              <a:cs typeface="Times New Roman"/>
              <a:sym typeface="Times New Roman"/>
            </a:endParaRPr>
          </a:p>
        </p:txBody>
      </p:sp>
      <p:sp>
        <p:nvSpPr>
          <p:cNvPr id="328" name="Google Shape;328;p19"/>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7 OF 9 · DECK SLIDE 19 OF 21</a:t>
            </a:r>
            <a:endParaRPr i="0" sz="1000" u="none" cap="none" strike="noStrike">
              <a:solidFill>
                <a:schemeClr val="dk1"/>
              </a:solidFill>
              <a:latin typeface="Times New Roman"/>
              <a:ea typeface="Times New Roman"/>
              <a:cs typeface="Times New Roman"/>
              <a:sym typeface="Times New Roman"/>
            </a:endParaRPr>
          </a:p>
        </p:txBody>
      </p:sp>
      <p:sp>
        <p:nvSpPr>
          <p:cNvPr id="329" name="Google Shape;329;p19"/>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31" name="Google Shape;331;p19"/>
          <p:cNvSpPr/>
          <p:nvPr/>
        </p:nvSpPr>
        <p:spPr>
          <a:xfrm>
            <a:off x="548640" y="1280160"/>
            <a:ext cx="1106424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777240" y="1417320"/>
            <a:ext cx="10607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CHALLENGES &amp; RESOLUTION</a:t>
            </a:r>
            <a:endParaRPr i="0" u="none" cap="none" strike="noStrike">
              <a:solidFill>
                <a:schemeClr val="dk1"/>
              </a:solidFill>
              <a:latin typeface="Times New Roman"/>
              <a:ea typeface="Times New Roman"/>
              <a:cs typeface="Times New Roman"/>
              <a:sym typeface="Times New Roman"/>
            </a:endParaRPr>
          </a:p>
        </p:txBody>
      </p:sp>
      <p:sp>
        <p:nvSpPr>
          <p:cNvPr id="333" name="Google Shape;333;p19"/>
          <p:cNvSpPr/>
          <p:nvPr/>
        </p:nvSpPr>
        <p:spPr>
          <a:xfrm>
            <a:off x="777240" y="1755648"/>
            <a:ext cx="10607040" cy="4416552"/>
          </a:xfrm>
          <a:prstGeom prst="rect">
            <a:avLst/>
          </a:prstGeom>
          <a:noFill/>
          <a:ln>
            <a:noFill/>
          </a:ln>
        </p:spPr>
        <p:txBody>
          <a:bodyPr anchorCtr="0" anchor="t" bIns="45700" lIns="91425" spcFirstLastPara="1" rIns="91425" wrap="square" tIns="45700">
            <a:normAutofit/>
          </a:bodyPr>
          <a:lstStyle/>
          <a:p>
            <a:pPr indent="-358775"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Mixed financial backgrounds: 37 students had varying household financial contexts. Resolved by using universal examples (UPI frauds, PM Scholarship) relevant to all students regardless of family income.</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Language barrier: some students were more comfortable in Telugu. Resolved by bilingual delivery (English + Telugu) during modules and Q&amp;A segments.</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Attention across 4 modules: risk of disengagement in a long session. Resolved by using real news fraud cases as interactive examples and conducting a live UPI demonstration on a mobile phone.</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Pre-test anxiety: some students nervous about the quiz format. Resolved by framing it as a knowledge check (not an exam) and assuring them results would not be shared with the school.</a:t>
            </a:r>
            <a:endParaRPr i="0" u="none" cap="none" strike="noStrike">
              <a:solidFill>
                <a:schemeClr val="dk1"/>
              </a:solidFill>
              <a:latin typeface="Times New Roman"/>
              <a:ea typeface="Times New Roman"/>
              <a:cs typeface="Times New Roman"/>
              <a:sym typeface="Times New Roman"/>
            </a:endParaRPr>
          </a:p>
          <a:p>
            <a:pPr indent="-358775"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Score collection: manually verified all 37 pre and post answer papers, entered scores into Excel (PS090_PreTest_final.xlsx &amp; PS090_post_test_final.xlsx), and cross-checked all totals.</a:t>
            </a:r>
            <a:endParaRPr i="0" u="none" cap="none" strike="noStrike">
              <a:solidFill>
                <a:schemeClr val="dk1"/>
              </a:solidFill>
              <a:latin typeface="Times New Roman"/>
              <a:ea typeface="Times New Roman"/>
              <a:cs typeface="Times New Roman"/>
              <a:sym typeface="Times New Roman"/>
            </a:endParaRPr>
          </a:p>
        </p:txBody>
      </p:sp>
      <p:sp>
        <p:nvSpPr>
          <p:cNvPr id="334" name="Google Shape;334;p19"/>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35" name="Google Shape;335;p19"/>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19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0"/>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0"/>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08</a:t>
            </a:r>
            <a:endParaRPr i="0" sz="1500" u="none" cap="none" strike="noStrike">
              <a:solidFill>
                <a:schemeClr val="dk1"/>
              </a:solidFill>
              <a:latin typeface="Times New Roman"/>
              <a:ea typeface="Times New Roman"/>
              <a:cs typeface="Times New Roman"/>
              <a:sym typeface="Times New Roman"/>
            </a:endParaRPr>
          </a:p>
        </p:txBody>
      </p:sp>
      <p:sp>
        <p:nvSpPr>
          <p:cNvPr id="343" name="Google Shape;343;p20"/>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Times New Roman"/>
                <a:ea typeface="Times New Roman"/>
                <a:cs typeface="Times New Roman"/>
                <a:sym typeface="Times New Roman"/>
              </a:rPr>
              <a:t>Conclusions &amp; Recommendations</a:t>
            </a:r>
            <a:endParaRPr i="0" sz="2200" u="none" cap="none" strike="noStrike">
              <a:solidFill>
                <a:schemeClr val="dk1"/>
              </a:solidFill>
              <a:latin typeface="Times New Roman"/>
              <a:ea typeface="Times New Roman"/>
              <a:cs typeface="Times New Roman"/>
              <a:sym typeface="Times New Roman"/>
            </a:endParaRPr>
          </a:p>
        </p:txBody>
      </p:sp>
      <p:sp>
        <p:nvSpPr>
          <p:cNvPr id="344" name="Google Shape;344;p20"/>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8 OF 9 · DECK SLIDE 20 OF 21</a:t>
            </a:r>
            <a:endParaRPr i="0" sz="1000" u="none" cap="none" strike="noStrike">
              <a:solidFill>
                <a:schemeClr val="dk1"/>
              </a:solidFill>
              <a:latin typeface="Times New Roman"/>
              <a:ea typeface="Times New Roman"/>
              <a:cs typeface="Times New Roman"/>
              <a:sym typeface="Times New Roman"/>
            </a:endParaRPr>
          </a:p>
        </p:txBody>
      </p:sp>
      <p:sp>
        <p:nvSpPr>
          <p:cNvPr id="345" name="Google Shape;345;p20"/>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0"/>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47" name="Google Shape;347;p20"/>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0"/>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CONCLUSIONS</a:t>
            </a:r>
            <a:endParaRPr i="0" u="none" cap="none" strike="noStrike">
              <a:solidFill>
                <a:schemeClr val="dk1"/>
              </a:solidFill>
              <a:latin typeface="Times New Roman"/>
              <a:ea typeface="Times New Roman"/>
              <a:cs typeface="Times New Roman"/>
              <a:sym typeface="Times New Roman"/>
            </a:endParaRPr>
          </a:p>
        </p:txBody>
      </p:sp>
      <p:sp>
        <p:nvSpPr>
          <p:cNvPr id="349" name="Google Shape;349;p20"/>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61950" lvl="0" marL="342900" marR="0" rtl="0" algn="just">
              <a:lnSpc>
                <a:spcPct val="150000"/>
              </a:lnSpc>
              <a:spcBef>
                <a:spcPts val="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Achieved: all 4 financial literacy modules delivered to 37 rural Class XII students; class average improved from 34% to 86% (+152%); 100% student participation; every student improved.</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Limitations: single-session training limits long-term retention; no formal follow-up mechanism; varying economic backgrounds create unequal starting points.</a:t>
            </a:r>
            <a:endParaRPr i="0" u="none" cap="none" strike="noStrike">
              <a:solidFill>
                <a:schemeClr val="dk1"/>
              </a:solidFill>
              <a:latin typeface="Times New Roman"/>
              <a:ea typeface="Times New Roman"/>
              <a:cs typeface="Times New Roman"/>
              <a:sym typeface="Times New Roman"/>
            </a:endParaRPr>
          </a:p>
          <a:p>
            <a:pPr indent="-361950" lvl="0" marL="342900" marR="0" rtl="0" algn="just">
              <a:lnSpc>
                <a:spcPct val="150000"/>
              </a:lnSpc>
              <a:spcBef>
                <a:spcPts val="600"/>
              </a:spcBef>
              <a:spcAft>
                <a:spcPts val="0"/>
              </a:spcAft>
              <a:buClr>
                <a:srgbClr val="1A1A2E"/>
              </a:buClr>
              <a:buSzPts val="1400"/>
              <a:buFont typeface="Times New Roman"/>
              <a:buChar char="•"/>
            </a:pPr>
            <a:r>
              <a:rPr i="0" lang="en-US" u="none" cap="none" strike="noStrike">
                <a:solidFill>
                  <a:srgbClr val="1A1A2E"/>
                </a:solidFill>
                <a:latin typeface="Times New Roman"/>
                <a:ea typeface="Times New Roman"/>
                <a:cs typeface="Times New Roman"/>
                <a:sym typeface="Times New Roman"/>
              </a:rPr>
              <a:t>Recommendations: conduct quarterly follow-up quiz sessions; partner with school to include financial literacy in curriculum; produce Telugu-language version of the handout; extend programme to other rural junior colleges in Vizianagaram district.</a:t>
            </a:r>
            <a:endParaRPr i="0" u="none" cap="none" strike="noStrike">
              <a:solidFill>
                <a:schemeClr val="dk1"/>
              </a:solidFill>
              <a:latin typeface="Times New Roman"/>
              <a:ea typeface="Times New Roman"/>
              <a:cs typeface="Times New Roman"/>
              <a:sym typeface="Times New Roman"/>
            </a:endParaRPr>
          </a:p>
        </p:txBody>
      </p:sp>
      <p:pic>
        <p:nvPicPr>
          <p:cNvPr descr="/home/claude/batch7d/img_opt/r2_8.jpg" id="350" name="Google Shape;350;p20"/>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51" name="Google Shape;351;p20"/>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52" name="Google Shape;352;p20"/>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20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21"/>
          <p:cNvSpPr/>
          <p:nvPr/>
        </p:nvSpPr>
        <p:spPr>
          <a:xfrm>
            <a:off x="548640" y="365760"/>
            <a:ext cx="548640" cy="54864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1"/>
          <p:cNvSpPr/>
          <p:nvPr/>
        </p:nvSpPr>
        <p:spPr>
          <a:xfrm>
            <a:off x="548640" y="36576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Times New Roman"/>
                <a:ea typeface="Times New Roman"/>
                <a:cs typeface="Times New Roman"/>
                <a:sym typeface="Times New Roman"/>
              </a:rPr>
              <a:t>09</a:t>
            </a:r>
            <a:endParaRPr i="0" sz="1500" u="none" cap="none" strike="noStrike">
              <a:solidFill>
                <a:schemeClr val="dk1"/>
              </a:solidFill>
              <a:latin typeface="Times New Roman"/>
              <a:ea typeface="Times New Roman"/>
              <a:cs typeface="Times New Roman"/>
              <a:sym typeface="Times New Roman"/>
            </a:endParaRPr>
          </a:p>
        </p:txBody>
      </p:sp>
      <p:sp>
        <p:nvSpPr>
          <p:cNvPr id="360" name="Google Shape;360;p21"/>
          <p:cNvSpPr/>
          <p:nvPr/>
        </p:nvSpPr>
        <p:spPr>
          <a:xfrm>
            <a:off x="1234440" y="338328"/>
            <a:ext cx="78638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Thank You / Q&amp;A</a:t>
            </a:r>
            <a:endParaRPr b="0" i="0" sz="2200" u="none" cap="none" strike="noStrike">
              <a:solidFill>
                <a:schemeClr val="dk1"/>
              </a:solidFill>
              <a:latin typeface="Calibri"/>
              <a:ea typeface="Calibri"/>
              <a:cs typeface="Calibri"/>
              <a:sym typeface="Calibri"/>
            </a:endParaRPr>
          </a:p>
        </p:txBody>
      </p:sp>
      <p:sp>
        <p:nvSpPr>
          <p:cNvPr id="361" name="Google Shape;361;p21"/>
          <p:cNvSpPr/>
          <p:nvPr/>
        </p:nvSpPr>
        <p:spPr>
          <a:xfrm>
            <a:off x="1234440" y="841248"/>
            <a:ext cx="7863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850"/>
              <a:buFont typeface="Courier New"/>
              <a:buNone/>
            </a:pPr>
            <a:r>
              <a:rPr b="1" i="0" lang="en-US" sz="1000" u="none" cap="none" strike="noStrike">
                <a:solidFill>
                  <a:srgbClr val="B45309"/>
                </a:solidFill>
                <a:latin typeface="Times New Roman"/>
                <a:ea typeface="Times New Roman"/>
                <a:cs typeface="Times New Roman"/>
                <a:sym typeface="Times New Roman"/>
              </a:rPr>
              <a:t>REVIEW 2 · SLIDE 9 OF 9 · DECK SLIDE 21 OF 21</a:t>
            </a:r>
            <a:endParaRPr i="0" sz="1000" u="none" cap="none" strike="noStrike">
              <a:solidFill>
                <a:schemeClr val="dk1"/>
              </a:solidFill>
              <a:latin typeface="Times New Roman"/>
              <a:ea typeface="Times New Roman"/>
              <a:cs typeface="Times New Roman"/>
              <a:sym typeface="Times New Roman"/>
            </a:endParaRPr>
          </a:p>
        </p:txBody>
      </p:sp>
      <p:sp>
        <p:nvSpPr>
          <p:cNvPr id="362" name="Google Shape;362;p21"/>
          <p:cNvSpPr/>
          <p:nvPr/>
        </p:nvSpPr>
        <p:spPr>
          <a:xfrm>
            <a:off x="9281160" y="365760"/>
            <a:ext cx="2377440" cy="54864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1"/>
          <p:cNvSpPr/>
          <p:nvPr/>
        </p:nvSpPr>
        <p:spPr>
          <a:xfrm>
            <a:off x="9281160" y="365760"/>
            <a:ext cx="23774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ourier New"/>
              <a:buNone/>
            </a:pPr>
            <a:r>
              <a:rPr b="1" i="0" lang="en-US" sz="1000" u="none" cap="none" strike="noStrike">
                <a:solidFill>
                  <a:srgbClr val="FFFFFF"/>
                </a:solidFill>
                <a:latin typeface="Times New Roman"/>
                <a:ea typeface="Times New Roman"/>
                <a:cs typeface="Times New Roman"/>
                <a:sym typeface="Times New Roman"/>
              </a:rPr>
              <a:t>FINAL EVALUATION GATE</a:t>
            </a:r>
            <a:endParaRPr i="0" sz="1000" u="none" cap="none" strike="noStrike">
              <a:solidFill>
                <a:schemeClr val="dk1"/>
              </a:solidFill>
              <a:latin typeface="Times New Roman"/>
              <a:ea typeface="Times New Roman"/>
              <a:cs typeface="Times New Roman"/>
              <a:sym typeface="Times New Roman"/>
            </a:endParaRPr>
          </a:p>
        </p:txBody>
      </p:sp>
      <p:sp>
        <p:nvSpPr>
          <p:cNvPr id="364" name="Google Shape;364;p21"/>
          <p:cNvSpPr/>
          <p:nvPr/>
        </p:nvSpPr>
        <p:spPr>
          <a:xfrm>
            <a:off x="548640" y="1280160"/>
            <a:ext cx="6537960" cy="4983480"/>
          </a:xfrm>
          <a:prstGeom prst="rect">
            <a:avLst/>
          </a:prstGeom>
          <a:solidFill>
            <a:srgbClr val="F6F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1"/>
          <p:cNvSpPr/>
          <p:nvPr/>
        </p:nvSpPr>
        <p:spPr>
          <a:xfrm>
            <a:off x="777240" y="1417320"/>
            <a:ext cx="6080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00"/>
              <a:buFont typeface="Courier New"/>
              <a:buNone/>
            </a:pPr>
            <a:r>
              <a:rPr b="1" i="0" lang="en-US" u="none" cap="none" strike="noStrike">
                <a:solidFill>
                  <a:srgbClr val="B45309"/>
                </a:solidFill>
                <a:latin typeface="Times New Roman"/>
                <a:ea typeface="Times New Roman"/>
                <a:cs typeface="Times New Roman"/>
                <a:sym typeface="Times New Roman"/>
              </a:rPr>
              <a:t>CLOSING</a:t>
            </a:r>
            <a:endParaRPr i="0" u="none" cap="none" strike="noStrike">
              <a:solidFill>
                <a:schemeClr val="dk1"/>
              </a:solidFill>
              <a:latin typeface="Times New Roman"/>
              <a:ea typeface="Times New Roman"/>
              <a:cs typeface="Times New Roman"/>
              <a:sym typeface="Times New Roman"/>
            </a:endParaRPr>
          </a:p>
        </p:txBody>
      </p:sp>
      <p:sp>
        <p:nvSpPr>
          <p:cNvPr id="366" name="Google Shape;366;p21"/>
          <p:cNvSpPr/>
          <p:nvPr/>
        </p:nvSpPr>
        <p:spPr>
          <a:xfrm>
            <a:off x="777240" y="1755648"/>
            <a:ext cx="6080760" cy="441655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50000"/>
              </a:lnSpc>
              <a:spcBef>
                <a:spcPts val="0"/>
              </a:spcBef>
              <a:spcAft>
                <a:spcPts val="0"/>
              </a:spcAft>
              <a:buClr>
                <a:srgbClr val="1A1A2E"/>
              </a:buClr>
              <a:buSzPts val="1400"/>
              <a:buFont typeface="Times New Roman"/>
              <a:buChar char="•"/>
            </a:pPr>
            <a:r>
              <a:rPr lang="en-US">
                <a:solidFill>
                  <a:srgbClr val="1A1A2E"/>
                </a:solidFill>
                <a:latin typeface="Times New Roman"/>
                <a:ea typeface="Times New Roman"/>
                <a:cs typeface="Times New Roman"/>
                <a:sym typeface="Times New Roman"/>
              </a:rPr>
              <a:t>We sincerely express our gratitude to the Project In-Charges (Dr. P. Rama Santosh Naidu &amp; Mr. R. Ravi Kumar), Head of the Department (Dr. Aruna Srinivas), Principal, Management, Project Review Panel (Dr. K. Sobha Rani, Mrs. M. Priyanka, Mrs. K. Hymavathi), and our Community Partner (Govt. Junior College, Vizianagaram Town) for their valuable guidance, support, and encouragement throughout this project.</a:t>
            </a:r>
            <a:endParaRPr i="0" sz="1400" u="none" cap="none" strike="noStrike">
              <a:solidFill>
                <a:schemeClr val="dk1"/>
              </a:solidFill>
              <a:latin typeface="Times New Roman"/>
              <a:ea typeface="Times New Roman"/>
              <a:cs typeface="Times New Roman"/>
              <a:sym typeface="Times New Roman"/>
            </a:endParaRPr>
          </a:p>
        </p:txBody>
      </p:sp>
      <p:pic>
        <p:nvPicPr>
          <p:cNvPr descr="/home/claude/batch7d/img_opt/r2_10.jpg" id="367" name="Google Shape;367;p21"/>
          <p:cNvPicPr preferRelativeResize="0"/>
          <p:nvPr/>
        </p:nvPicPr>
        <p:blipFill rotWithShape="1">
          <a:blip r:embed="rId3">
            <a:alphaModFix/>
          </a:blip>
          <a:srcRect b="0" l="0" r="0" t="0"/>
          <a:stretch/>
        </p:blipFill>
        <p:spPr>
          <a:xfrm>
            <a:off x="7315200" y="1280160"/>
            <a:ext cx="4343400" cy="4983480"/>
          </a:xfrm>
          <a:prstGeom prst="rect">
            <a:avLst/>
          </a:prstGeom>
          <a:noFill/>
          <a:ln>
            <a:noFill/>
          </a:ln>
        </p:spPr>
      </p:pic>
      <p:sp>
        <p:nvSpPr>
          <p:cNvPr id="368" name="Google Shape;368;p21"/>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Review 2 — Final Evaluation · Week 8–16 of Sem V (as scheduled by Admin)</a:t>
            </a:r>
            <a:endParaRPr b="0" i="0" sz="900" u="none" cap="none" strike="noStrike">
              <a:solidFill>
                <a:schemeClr val="dk1"/>
              </a:solidFill>
              <a:latin typeface="Calibri"/>
              <a:ea typeface="Calibri"/>
              <a:cs typeface="Calibri"/>
              <a:sym typeface="Calibri"/>
            </a:endParaRPr>
          </a:p>
        </p:txBody>
      </p:sp>
      <p:sp>
        <p:nvSpPr>
          <p:cNvPr id="369" name="Google Shape;369;p21"/>
          <p:cNvSpPr/>
          <p:nvPr/>
        </p:nvSpPr>
        <p:spPr>
          <a:xfrm>
            <a:off x="11000232" y="6446520"/>
            <a:ext cx="9144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896AB"/>
              </a:buClr>
              <a:buSzPts val="900"/>
              <a:buFont typeface="Calibri"/>
              <a:buNone/>
            </a:pPr>
            <a:r>
              <a:rPr b="0" i="0" lang="en-US" sz="900" u="none" cap="none" strike="noStrike">
                <a:solidFill>
                  <a:srgbClr val="8896AB"/>
                </a:solidFill>
                <a:latin typeface="Calibri"/>
                <a:ea typeface="Calibri"/>
                <a:cs typeface="Calibri"/>
                <a:sym typeface="Calibri"/>
              </a:rPr>
              <a:t>Slide 21 of 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2026-09-28T17:00:33Z</dcterms:created>
  <dc:creator>PptxGenJS</dc:creator>
</cp:coreProperties>
</file>